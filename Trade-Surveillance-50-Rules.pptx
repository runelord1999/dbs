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Rules that stop working if this feed stops</a:t>
            </a:r>
          </a:p>
        </c:rich>
      </c:tx>
      <c:layout/>
      <c:overlay val="0"/>
    </c:title>
    <c:autoTitleDeleted val="0"/>
    <c:plotArea>
      <c:layout/>
      <c:barChart>
        <c:barDir val="bar"/>
        <c:grouping val="clustered"/>
        <c:varyColors val="0"/>
        <c:ser>
          <c:idx val="0"/>
          <c:order val="0"/>
          <c:tx>
            <c:strRef>
              <c:f>Sheet1!$B$1</c:f>
              <c:strCache>
                <c:ptCount val="1"/>
                <c:pt idx="0">
                  <c:v>Rules dependent</c:v>
                </c:pt>
              </c:strCache>
            </c:strRef>
          </c:tx>
          <c:spPr>
            <a:solidFill>
              <a:srgbClr val="335C81"/>
            </a:solidFill>
            <a:effectLst/>
          </c:spPr>
          <c:invertIfNegative val="0"/>
          <c:dLbls>
            <c:numFmt formatCode="#,##0" sourceLinked="0"/>
            <c:txPr>
              <a:bodyPr/>
              <a:lstStyle/>
              <a:p>
                <a:pPr>
                  <a:defRPr b="0" i="0" strike="noStrike" sz="1000" u="none">
                    <a:solidFill>
                      <a:srgbClr val="1B2430"/>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Trade capture · HR feed</c:v>
                  </c:pt>
                  <c:pt idx="1">
                    <c:v>Trade capture</c:v>
                  </c:pt>
                  <c:pt idx="2">
                    <c:v>Derived / surveillance warehouse</c:v>
                  </c:pt>
                  <c:pt idx="3">
                    <c:v>Trade capture · reference data</c:v>
                  </c:pt>
                  <c:pt idx="4">
                    <c:v>Trade capture / venue</c:v>
                  </c:pt>
                  <c:pt idx="5">
                    <c:v>Product control</c:v>
                  </c:pt>
                  <c:pt idx="6">
                    <c:v>Market data / tick store</c:v>
                  </c:pt>
                  <c:pt idx="7">
                    <c:v>Revenue attribution · product control</c:v>
                  </c:pt>
                  <c:pt idx="8">
                    <c:v>Reference data</c:v>
                  </c:pt>
                </c:lvl>
              </c:multiLvlStrCache>
            </c:multiLvlStrRef>
          </c:cat>
          <c:val>
            <c:numRef>
              <c:f>Sheet1!$B$2:$B$10</c:f>
              <c:numCache>
                <c:formatCode>General</c:formatCode>
                <c:ptCount val="9"/>
                <c:pt idx="0">
                  <c:v>58</c:v>
                </c:pt>
                <c:pt idx="1">
                  <c:v>56</c:v>
                </c:pt>
                <c:pt idx="2">
                  <c:v>28</c:v>
                </c:pt>
                <c:pt idx="3">
                  <c:v>24</c:v>
                </c:pt>
                <c:pt idx="4">
                  <c:v>18</c:v>
                </c:pt>
                <c:pt idx="5">
                  <c:v>15</c:v>
                </c:pt>
                <c:pt idx="6">
                  <c:v>13</c:v>
                </c:pt>
                <c:pt idx="7">
                  <c:v>8</c:v>
                </c:pt>
                <c:pt idx="8">
                  <c:v>8</c:v>
                </c:pt>
              </c:numCache>
            </c:numRef>
          </c:val>
        </c:ser>
        <c:dLbls>
          <c:numFmt formatCode="#,##0" sourceLinked="0"/>
          <c:txPr>
            <a:bodyPr/>
            <a:lstStyle/>
            <a:p>
              <a:pPr>
                <a:defRPr b="0" i="0" strike="noStrike" sz="1000" u="none">
                  <a:solidFill>
                    <a:srgbClr val="1B243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60"/>
        </c:scaling>
        <c:delete val="0"/>
        <c:axPos val="b"/>
        <c:majorGridlines>
          <c:spPr>
            <a:ln w="12700" cap="flat">
              <a:solidFill>
                <a:srgbClr val="E8EC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4A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the session: two audiences, one rule set. Traders need to know what will flag them and why. Management needs to know what is covered, what it costs to run, and where the gaps are. Everything in this deck is specified in full in the accompanying rule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pushback here from desk heads: per-trader detection produces more alerts against named individuals. That is the point. The alternative is a control that is mathematically unable to fire on the two populations we care most about — the most junior and the most senior people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categories is a deliberate structure, not a filing convenience: each one maps to a different owner. Pricing and market conduct sit with the front office supervisor. Booking integrity and settlement sit with operations. Valuation sits with product control. Read the deck as nine conversations,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pass rate question always comes up. Half explained is healthy. If we drove it to ninety percent explained we would be running a rule set tuned to produce comfortable numbers rather than to find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 6 rules. Six tests on the distance between the price printed and the price the market was showing at that second. Upheld across these rules in the last twelve months: 242 of 495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conduct — 7 rules. Seven tests on trading that moves, or attempts to move, a price or a published benchmark. Upheld across these rules in the last twelve months: 254 of 371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 integrity — 8 rules. Eight tests on whether the record in the system is a faithful description of what happened. Upheld across these rules in the last twelve months: 297 of 1047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&amp; controls — 9 rules. Nine tests, each against an authorisation granted to one named individual. Upheld across these rules in the last twelve months: 247 of 684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Valuation — 7 rules. Seven tests on whether reported profit is earned profit. Upheld across these rules in the last twelve months: 236 of 385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conduct — 3 rules. Three tests on whose interest came first when the two diverged. Upheld across these rules in the last twelve months: 100 of 173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Settlement — 4 rules. Four tests on where the cash and the securities actually went. Upheld across these rules in the last twelve months: 109 of 203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Financing — 3 rules. Three tests on funding and balance-sheet presentation. Upheld across these rules in the last twelve months: 78 of 99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misuse — 3 rules. Three tests on trading ahead of information the desk was not entitled to use. Upheld across these rules in the last twelve months: 88 of 103 alerts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drawer here if the dashboard is available. The point to land: the reviewer is never asked to take the engine's word for anything — the market chart and the deal blotter are in the finding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resourcing slide. The rule set is written; what it needs is feeds. The two boxes on the right are the ask — a timestamp we can trust to the second, and an owner for four reference data sets that currently have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out loud rather than skipping it. The credibility of everything else in the deck rests on being straight about what the rule set does not do. It is also the honest answer to 'why do we still need supervision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matters on this slide. The floor's instinct is that surveillance is something done to them. The honest framing: the rule set is published in full, every threshold is visible, and the fastest way to never hear from us is a clean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first two asks. They are the difference between a rule catalogue and a working control environment. The third is expectation management — if the committee is not prepared for the volume, the pressure to retune will arrive within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principle, not the count. Fifty-eight is an implementation detail; the principle is that the reference for every test is the individual, and that the engine's job ends at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4213D"/>
          </a:solidFill>
          <a:ln/>
        </p:spPr>
      </p:sp>
      <p:sp>
        <p:nvSpPr>
          <p:cNvPr id="3" name="Text 1"/>
          <p:cNvSpPr/>
          <p:nvPr/>
        </p:nvSpPr>
        <p:spPr>
          <a:xfrm>
            <a:off x="457200"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TS-01</a:t>
            </a:r>
            <a:endParaRPr lang="en-US" sz="1000" dirty="0"/>
          </a:p>
        </p:txBody>
      </p:sp>
      <p:sp>
        <p:nvSpPr>
          <p:cNvPr id="4" name="Text 2"/>
          <p:cNvSpPr/>
          <p:nvPr/>
        </p:nvSpPr>
        <p:spPr>
          <a:xfrm>
            <a:off x="1170432" y="4892040"/>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TS-02</a:t>
            </a:r>
            <a:endParaRPr lang="en-US" sz="1000" dirty="0"/>
          </a:p>
        </p:txBody>
      </p:sp>
      <p:sp>
        <p:nvSpPr>
          <p:cNvPr id="5" name="Text 3"/>
          <p:cNvSpPr/>
          <p:nvPr/>
        </p:nvSpPr>
        <p:spPr>
          <a:xfrm>
            <a:off x="1883664" y="4892040"/>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TS-03</a:t>
            </a:r>
            <a:endParaRPr lang="en-US" sz="1000" dirty="0"/>
          </a:p>
        </p:txBody>
      </p:sp>
      <p:sp>
        <p:nvSpPr>
          <p:cNvPr id="6" name="Text 4"/>
          <p:cNvSpPr/>
          <p:nvPr/>
        </p:nvSpPr>
        <p:spPr>
          <a:xfrm>
            <a:off x="2596896"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TS-04</a:t>
            </a:r>
            <a:endParaRPr lang="en-US" sz="1000" dirty="0"/>
          </a:p>
        </p:txBody>
      </p:sp>
      <p:sp>
        <p:nvSpPr>
          <p:cNvPr id="7" name="Text 5"/>
          <p:cNvSpPr/>
          <p:nvPr/>
        </p:nvSpPr>
        <p:spPr>
          <a:xfrm>
            <a:off x="3310128"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TS-05</a:t>
            </a:r>
            <a:endParaRPr lang="en-US" sz="1000" dirty="0"/>
          </a:p>
        </p:txBody>
      </p:sp>
      <p:sp>
        <p:nvSpPr>
          <p:cNvPr id="8" name="Text 6"/>
          <p:cNvSpPr/>
          <p:nvPr/>
        </p:nvSpPr>
        <p:spPr>
          <a:xfrm>
            <a:off x="4023360"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TS-06</a:t>
            </a:r>
            <a:endParaRPr lang="en-US" sz="1000" dirty="0"/>
          </a:p>
        </p:txBody>
      </p:sp>
      <p:sp>
        <p:nvSpPr>
          <p:cNvPr id="9" name="Text 7"/>
          <p:cNvSpPr/>
          <p:nvPr/>
        </p:nvSpPr>
        <p:spPr>
          <a:xfrm>
            <a:off x="4736592" y="4892040"/>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TS-07</a:t>
            </a:r>
            <a:endParaRPr lang="en-US" sz="1000" dirty="0"/>
          </a:p>
        </p:txBody>
      </p:sp>
      <p:sp>
        <p:nvSpPr>
          <p:cNvPr id="10" name="Text 8"/>
          <p:cNvSpPr/>
          <p:nvPr/>
        </p:nvSpPr>
        <p:spPr>
          <a:xfrm>
            <a:off x="5449824" y="4892040"/>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TS-08</a:t>
            </a:r>
            <a:endParaRPr lang="en-US" sz="1000" dirty="0"/>
          </a:p>
        </p:txBody>
      </p:sp>
      <p:sp>
        <p:nvSpPr>
          <p:cNvPr id="11" name="Text 9"/>
          <p:cNvSpPr/>
          <p:nvPr/>
        </p:nvSpPr>
        <p:spPr>
          <a:xfrm>
            <a:off x="6163056" y="4892040"/>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TS-09</a:t>
            </a:r>
            <a:endParaRPr lang="en-US" sz="1000" dirty="0"/>
          </a:p>
        </p:txBody>
      </p:sp>
      <p:sp>
        <p:nvSpPr>
          <p:cNvPr id="12" name="Text 10"/>
          <p:cNvSpPr/>
          <p:nvPr/>
        </p:nvSpPr>
        <p:spPr>
          <a:xfrm>
            <a:off x="6876288" y="4892040"/>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TS-10</a:t>
            </a:r>
            <a:endParaRPr lang="en-US" sz="1000" dirty="0"/>
          </a:p>
        </p:txBody>
      </p:sp>
      <p:sp>
        <p:nvSpPr>
          <p:cNvPr id="13" name="Text 11"/>
          <p:cNvSpPr/>
          <p:nvPr/>
        </p:nvSpPr>
        <p:spPr>
          <a:xfrm>
            <a:off x="7589520" y="4892040"/>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TS-11</a:t>
            </a:r>
            <a:endParaRPr lang="en-US" sz="1000" dirty="0"/>
          </a:p>
        </p:txBody>
      </p:sp>
      <p:sp>
        <p:nvSpPr>
          <p:cNvPr id="14" name="Text 12"/>
          <p:cNvSpPr/>
          <p:nvPr/>
        </p:nvSpPr>
        <p:spPr>
          <a:xfrm>
            <a:off x="8302752"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TS-12</a:t>
            </a:r>
            <a:endParaRPr lang="en-US" sz="1000" dirty="0"/>
          </a:p>
        </p:txBody>
      </p:sp>
      <p:sp>
        <p:nvSpPr>
          <p:cNvPr id="15" name="Text 13"/>
          <p:cNvSpPr/>
          <p:nvPr/>
        </p:nvSpPr>
        <p:spPr>
          <a:xfrm>
            <a:off x="9015984" y="4892040"/>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TS-13</a:t>
            </a:r>
            <a:endParaRPr lang="en-US" sz="1000" dirty="0"/>
          </a:p>
        </p:txBody>
      </p:sp>
      <p:sp>
        <p:nvSpPr>
          <p:cNvPr id="16" name="Text 14"/>
          <p:cNvSpPr/>
          <p:nvPr/>
        </p:nvSpPr>
        <p:spPr>
          <a:xfrm>
            <a:off x="457200" y="5202936"/>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TS-14</a:t>
            </a:r>
            <a:endParaRPr lang="en-US" sz="1000" dirty="0"/>
          </a:p>
        </p:txBody>
      </p:sp>
      <p:sp>
        <p:nvSpPr>
          <p:cNvPr id="17" name="Text 15"/>
          <p:cNvSpPr/>
          <p:nvPr/>
        </p:nvSpPr>
        <p:spPr>
          <a:xfrm>
            <a:off x="1170432"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TS-15</a:t>
            </a:r>
            <a:endParaRPr lang="en-US" sz="1000" dirty="0"/>
          </a:p>
        </p:txBody>
      </p:sp>
      <p:sp>
        <p:nvSpPr>
          <p:cNvPr id="18" name="Text 16"/>
          <p:cNvSpPr/>
          <p:nvPr/>
        </p:nvSpPr>
        <p:spPr>
          <a:xfrm>
            <a:off x="1883664"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TS-16</a:t>
            </a:r>
            <a:endParaRPr lang="en-US" sz="1000" dirty="0"/>
          </a:p>
        </p:txBody>
      </p:sp>
      <p:sp>
        <p:nvSpPr>
          <p:cNvPr id="19" name="Text 17"/>
          <p:cNvSpPr/>
          <p:nvPr/>
        </p:nvSpPr>
        <p:spPr>
          <a:xfrm>
            <a:off x="2596896" y="5202936"/>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TS-17</a:t>
            </a:r>
            <a:endParaRPr lang="en-US" sz="1000" dirty="0"/>
          </a:p>
        </p:txBody>
      </p:sp>
      <p:sp>
        <p:nvSpPr>
          <p:cNvPr id="20" name="Text 18"/>
          <p:cNvSpPr/>
          <p:nvPr/>
        </p:nvSpPr>
        <p:spPr>
          <a:xfrm>
            <a:off x="3310128"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TS-18</a:t>
            </a:r>
            <a:endParaRPr lang="en-US" sz="1000" dirty="0"/>
          </a:p>
        </p:txBody>
      </p:sp>
      <p:sp>
        <p:nvSpPr>
          <p:cNvPr id="21" name="Text 19"/>
          <p:cNvSpPr/>
          <p:nvPr/>
        </p:nvSpPr>
        <p:spPr>
          <a:xfrm>
            <a:off x="4023360" y="5202936"/>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TS-19</a:t>
            </a:r>
            <a:endParaRPr lang="en-US" sz="1000" dirty="0"/>
          </a:p>
        </p:txBody>
      </p:sp>
      <p:sp>
        <p:nvSpPr>
          <p:cNvPr id="22" name="Text 20"/>
          <p:cNvSpPr/>
          <p:nvPr/>
        </p:nvSpPr>
        <p:spPr>
          <a:xfrm>
            <a:off x="4736592" y="5202936"/>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TS-20</a:t>
            </a:r>
            <a:endParaRPr lang="en-US" sz="1000" dirty="0"/>
          </a:p>
        </p:txBody>
      </p:sp>
      <p:sp>
        <p:nvSpPr>
          <p:cNvPr id="23" name="Text 21"/>
          <p:cNvSpPr/>
          <p:nvPr/>
        </p:nvSpPr>
        <p:spPr>
          <a:xfrm>
            <a:off x="5449824"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TS-21</a:t>
            </a:r>
            <a:endParaRPr lang="en-US" sz="1000" dirty="0"/>
          </a:p>
        </p:txBody>
      </p:sp>
      <p:sp>
        <p:nvSpPr>
          <p:cNvPr id="24" name="Text 22"/>
          <p:cNvSpPr/>
          <p:nvPr/>
        </p:nvSpPr>
        <p:spPr>
          <a:xfrm>
            <a:off x="6163056"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TS-22</a:t>
            </a:r>
            <a:endParaRPr lang="en-US" sz="1000" dirty="0"/>
          </a:p>
        </p:txBody>
      </p:sp>
      <p:sp>
        <p:nvSpPr>
          <p:cNvPr id="25" name="Text 23"/>
          <p:cNvSpPr/>
          <p:nvPr/>
        </p:nvSpPr>
        <p:spPr>
          <a:xfrm>
            <a:off x="6876288"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TS-23</a:t>
            </a:r>
            <a:endParaRPr lang="en-US" sz="1000" dirty="0"/>
          </a:p>
        </p:txBody>
      </p:sp>
      <p:sp>
        <p:nvSpPr>
          <p:cNvPr id="26" name="Text 24"/>
          <p:cNvSpPr/>
          <p:nvPr/>
        </p:nvSpPr>
        <p:spPr>
          <a:xfrm>
            <a:off x="7589520" y="5202936"/>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TS-24</a:t>
            </a:r>
            <a:endParaRPr lang="en-US" sz="1000" dirty="0"/>
          </a:p>
        </p:txBody>
      </p:sp>
      <p:sp>
        <p:nvSpPr>
          <p:cNvPr id="27" name="Text 25"/>
          <p:cNvSpPr/>
          <p:nvPr/>
        </p:nvSpPr>
        <p:spPr>
          <a:xfrm>
            <a:off x="8302752" y="5202936"/>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TS-25</a:t>
            </a:r>
            <a:endParaRPr lang="en-US" sz="1000" dirty="0"/>
          </a:p>
        </p:txBody>
      </p:sp>
      <p:sp>
        <p:nvSpPr>
          <p:cNvPr id="28" name="Text 26"/>
          <p:cNvSpPr/>
          <p:nvPr/>
        </p:nvSpPr>
        <p:spPr>
          <a:xfrm>
            <a:off x="9015984" y="5202936"/>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TS-26</a:t>
            </a:r>
            <a:endParaRPr lang="en-US" sz="1000" dirty="0"/>
          </a:p>
        </p:txBody>
      </p:sp>
      <p:sp>
        <p:nvSpPr>
          <p:cNvPr id="29" name="Text 27"/>
          <p:cNvSpPr/>
          <p:nvPr/>
        </p:nvSpPr>
        <p:spPr>
          <a:xfrm>
            <a:off x="457200"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TS-27</a:t>
            </a:r>
            <a:endParaRPr lang="en-US" sz="1000" dirty="0"/>
          </a:p>
        </p:txBody>
      </p:sp>
      <p:sp>
        <p:nvSpPr>
          <p:cNvPr id="30" name="Text 28"/>
          <p:cNvSpPr/>
          <p:nvPr/>
        </p:nvSpPr>
        <p:spPr>
          <a:xfrm>
            <a:off x="1170432" y="5513832"/>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TS-28</a:t>
            </a:r>
            <a:endParaRPr lang="en-US" sz="1000" dirty="0"/>
          </a:p>
        </p:txBody>
      </p:sp>
      <p:sp>
        <p:nvSpPr>
          <p:cNvPr id="31" name="Text 29"/>
          <p:cNvSpPr/>
          <p:nvPr/>
        </p:nvSpPr>
        <p:spPr>
          <a:xfrm>
            <a:off x="1883664"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TS-29</a:t>
            </a:r>
            <a:endParaRPr lang="en-US" sz="1000" dirty="0"/>
          </a:p>
        </p:txBody>
      </p:sp>
      <p:sp>
        <p:nvSpPr>
          <p:cNvPr id="32" name="Text 30"/>
          <p:cNvSpPr/>
          <p:nvPr/>
        </p:nvSpPr>
        <p:spPr>
          <a:xfrm>
            <a:off x="2596896" y="5513832"/>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TS-30</a:t>
            </a:r>
            <a:endParaRPr lang="en-US" sz="1000" dirty="0"/>
          </a:p>
        </p:txBody>
      </p:sp>
      <p:sp>
        <p:nvSpPr>
          <p:cNvPr id="33" name="Text 31"/>
          <p:cNvSpPr/>
          <p:nvPr/>
        </p:nvSpPr>
        <p:spPr>
          <a:xfrm>
            <a:off x="3310128" y="5513832"/>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TS-31</a:t>
            </a:r>
            <a:endParaRPr lang="en-US" sz="1000" dirty="0"/>
          </a:p>
        </p:txBody>
      </p:sp>
      <p:sp>
        <p:nvSpPr>
          <p:cNvPr id="34" name="Text 32"/>
          <p:cNvSpPr/>
          <p:nvPr/>
        </p:nvSpPr>
        <p:spPr>
          <a:xfrm>
            <a:off x="4023360"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TS-32</a:t>
            </a:r>
            <a:endParaRPr lang="en-US" sz="1000" dirty="0"/>
          </a:p>
        </p:txBody>
      </p:sp>
      <p:sp>
        <p:nvSpPr>
          <p:cNvPr id="35" name="Text 33"/>
          <p:cNvSpPr/>
          <p:nvPr/>
        </p:nvSpPr>
        <p:spPr>
          <a:xfrm>
            <a:off x="4736592"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TS-33</a:t>
            </a:r>
            <a:endParaRPr lang="en-US" sz="1000" dirty="0"/>
          </a:p>
        </p:txBody>
      </p:sp>
      <p:sp>
        <p:nvSpPr>
          <p:cNvPr id="36" name="Text 34"/>
          <p:cNvSpPr/>
          <p:nvPr/>
        </p:nvSpPr>
        <p:spPr>
          <a:xfrm>
            <a:off x="5449824"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TS-34</a:t>
            </a:r>
            <a:endParaRPr lang="en-US" sz="1000" dirty="0"/>
          </a:p>
        </p:txBody>
      </p:sp>
      <p:sp>
        <p:nvSpPr>
          <p:cNvPr id="37" name="Text 35"/>
          <p:cNvSpPr/>
          <p:nvPr/>
        </p:nvSpPr>
        <p:spPr>
          <a:xfrm>
            <a:off x="6163056" y="5513832"/>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TS-35</a:t>
            </a:r>
            <a:endParaRPr lang="en-US" sz="1000" dirty="0"/>
          </a:p>
        </p:txBody>
      </p:sp>
      <p:sp>
        <p:nvSpPr>
          <p:cNvPr id="38" name="Text 36"/>
          <p:cNvSpPr/>
          <p:nvPr/>
        </p:nvSpPr>
        <p:spPr>
          <a:xfrm>
            <a:off x="6876288" y="5513832"/>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TS-36</a:t>
            </a:r>
            <a:endParaRPr lang="en-US" sz="1000" dirty="0"/>
          </a:p>
        </p:txBody>
      </p:sp>
      <p:sp>
        <p:nvSpPr>
          <p:cNvPr id="39" name="Text 37"/>
          <p:cNvSpPr/>
          <p:nvPr/>
        </p:nvSpPr>
        <p:spPr>
          <a:xfrm>
            <a:off x="7589520"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TS-37</a:t>
            </a:r>
            <a:endParaRPr lang="en-US" sz="1000" dirty="0"/>
          </a:p>
        </p:txBody>
      </p:sp>
      <p:sp>
        <p:nvSpPr>
          <p:cNvPr id="40" name="Text 38"/>
          <p:cNvSpPr/>
          <p:nvPr/>
        </p:nvSpPr>
        <p:spPr>
          <a:xfrm>
            <a:off x="8302752" y="5513832"/>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TS-38</a:t>
            </a:r>
            <a:endParaRPr lang="en-US" sz="1000" dirty="0"/>
          </a:p>
        </p:txBody>
      </p:sp>
      <p:sp>
        <p:nvSpPr>
          <p:cNvPr id="41" name="Text 39"/>
          <p:cNvSpPr/>
          <p:nvPr/>
        </p:nvSpPr>
        <p:spPr>
          <a:xfrm>
            <a:off x="9015984" y="5513832"/>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TS-39</a:t>
            </a:r>
            <a:endParaRPr lang="en-US" sz="1000" dirty="0"/>
          </a:p>
        </p:txBody>
      </p:sp>
      <p:sp>
        <p:nvSpPr>
          <p:cNvPr id="42" name="Text 40"/>
          <p:cNvSpPr/>
          <p:nvPr/>
        </p:nvSpPr>
        <p:spPr>
          <a:xfrm>
            <a:off x="457200" y="5824728"/>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TS-40</a:t>
            </a:r>
            <a:endParaRPr lang="en-US" sz="1000" dirty="0"/>
          </a:p>
        </p:txBody>
      </p:sp>
      <p:sp>
        <p:nvSpPr>
          <p:cNvPr id="43" name="Text 41"/>
          <p:cNvSpPr/>
          <p:nvPr/>
        </p:nvSpPr>
        <p:spPr>
          <a:xfrm>
            <a:off x="1170432"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TS-41</a:t>
            </a:r>
            <a:endParaRPr lang="en-US" sz="1000" dirty="0"/>
          </a:p>
        </p:txBody>
      </p:sp>
      <p:sp>
        <p:nvSpPr>
          <p:cNvPr id="44" name="Text 42"/>
          <p:cNvSpPr/>
          <p:nvPr/>
        </p:nvSpPr>
        <p:spPr>
          <a:xfrm>
            <a:off x="1883664" y="5824728"/>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TS-42</a:t>
            </a:r>
            <a:endParaRPr lang="en-US" sz="1000" dirty="0"/>
          </a:p>
        </p:txBody>
      </p:sp>
      <p:sp>
        <p:nvSpPr>
          <p:cNvPr id="45" name="Text 43"/>
          <p:cNvSpPr/>
          <p:nvPr/>
        </p:nvSpPr>
        <p:spPr>
          <a:xfrm>
            <a:off x="2596896"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TS-43</a:t>
            </a:r>
            <a:endParaRPr lang="en-US" sz="1000" dirty="0"/>
          </a:p>
        </p:txBody>
      </p:sp>
      <p:sp>
        <p:nvSpPr>
          <p:cNvPr id="46" name="Text 44"/>
          <p:cNvSpPr/>
          <p:nvPr/>
        </p:nvSpPr>
        <p:spPr>
          <a:xfrm>
            <a:off x="3310128" y="5824728"/>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TS-44</a:t>
            </a:r>
            <a:endParaRPr lang="en-US" sz="1000" dirty="0"/>
          </a:p>
        </p:txBody>
      </p:sp>
      <p:sp>
        <p:nvSpPr>
          <p:cNvPr id="47" name="Text 45"/>
          <p:cNvSpPr/>
          <p:nvPr/>
        </p:nvSpPr>
        <p:spPr>
          <a:xfrm>
            <a:off x="4023360"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TS-45</a:t>
            </a:r>
            <a:endParaRPr lang="en-US" sz="1000" dirty="0"/>
          </a:p>
        </p:txBody>
      </p:sp>
      <p:sp>
        <p:nvSpPr>
          <p:cNvPr id="48" name="Text 46"/>
          <p:cNvSpPr/>
          <p:nvPr/>
        </p:nvSpPr>
        <p:spPr>
          <a:xfrm>
            <a:off x="4736592" y="5824728"/>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TS-46</a:t>
            </a:r>
            <a:endParaRPr lang="en-US" sz="1000" dirty="0"/>
          </a:p>
        </p:txBody>
      </p:sp>
      <p:sp>
        <p:nvSpPr>
          <p:cNvPr id="49" name="Text 47"/>
          <p:cNvSpPr/>
          <p:nvPr/>
        </p:nvSpPr>
        <p:spPr>
          <a:xfrm>
            <a:off x="5449824"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TS-47</a:t>
            </a:r>
            <a:endParaRPr lang="en-US" sz="1000" dirty="0"/>
          </a:p>
        </p:txBody>
      </p:sp>
      <p:sp>
        <p:nvSpPr>
          <p:cNvPr id="50" name="Text 48"/>
          <p:cNvSpPr/>
          <p:nvPr/>
        </p:nvSpPr>
        <p:spPr>
          <a:xfrm>
            <a:off x="6163056" y="5824728"/>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TS-48</a:t>
            </a:r>
            <a:endParaRPr lang="en-US" sz="1000" dirty="0"/>
          </a:p>
        </p:txBody>
      </p:sp>
      <p:sp>
        <p:nvSpPr>
          <p:cNvPr id="51" name="Text 49"/>
          <p:cNvSpPr/>
          <p:nvPr/>
        </p:nvSpPr>
        <p:spPr>
          <a:xfrm>
            <a:off x="6876288" y="5824728"/>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TS-49</a:t>
            </a:r>
            <a:endParaRPr lang="en-US" sz="1000" dirty="0"/>
          </a:p>
        </p:txBody>
      </p:sp>
      <p:sp>
        <p:nvSpPr>
          <p:cNvPr id="52" name="Text 50"/>
          <p:cNvSpPr/>
          <p:nvPr/>
        </p:nvSpPr>
        <p:spPr>
          <a:xfrm>
            <a:off x="7589520" y="5824728"/>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TS-50</a:t>
            </a:r>
            <a:endParaRPr lang="en-US" sz="1000" dirty="0"/>
          </a:p>
        </p:txBody>
      </p:sp>
      <p:sp>
        <p:nvSpPr>
          <p:cNvPr id="64" name="Shape 64"/>
          <p:cNvSpPr/>
          <p:nvPr/>
        </p:nvSpPr>
        <p:spPr>
          <a:xfrm>
            <a:off x="8302752" y="5824728"/>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TS-51</a:t>
            </a:r>
            <a:endParaRPr lang="en-US" sz="1000" dirty="0"/>
          </a:p>
        </p:txBody>
      </p:sp>
      <p:sp>
        <p:nvSpPr>
          <p:cNvPr id="65" name="Shape 65"/>
          <p:cNvSpPr/>
          <p:nvPr/>
        </p:nvSpPr>
        <p:spPr>
          <a:xfrm>
            <a:off x="9015984" y="5824728"/>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TS-52</a:t>
            </a:r>
            <a:endParaRPr lang="en-US" sz="1000" dirty="0"/>
          </a:p>
        </p:txBody>
      </p:sp>
      <p:sp>
        <p:nvSpPr>
          <p:cNvPr id="66" name="Shape 66"/>
          <p:cNvSpPr/>
          <p:nvPr/>
        </p:nvSpPr>
        <p:spPr>
          <a:xfrm>
            <a:off x="457200" y="6135624"/>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TS-53</a:t>
            </a:r>
            <a:endParaRPr lang="en-US" sz="1000" dirty="0"/>
          </a:p>
        </p:txBody>
      </p:sp>
      <p:sp>
        <p:nvSpPr>
          <p:cNvPr id="67" name="Shape 67"/>
          <p:cNvSpPr/>
          <p:nvPr/>
        </p:nvSpPr>
        <p:spPr>
          <a:xfrm>
            <a:off x="1170432" y="6135624"/>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TS-54</a:t>
            </a:r>
            <a:endParaRPr lang="en-US" sz="1000" dirty="0"/>
          </a:p>
        </p:txBody>
      </p:sp>
      <p:sp>
        <p:nvSpPr>
          <p:cNvPr id="68" name="Shape 68"/>
          <p:cNvSpPr/>
          <p:nvPr/>
        </p:nvSpPr>
        <p:spPr>
          <a:xfrm>
            <a:off x="1883664" y="6135624"/>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TS-55</a:t>
            </a:r>
            <a:endParaRPr lang="en-US" sz="1000" dirty="0"/>
          </a:p>
        </p:txBody>
      </p:sp>
      <p:sp>
        <p:nvSpPr>
          <p:cNvPr id="69" name="Shape 69"/>
          <p:cNvSpPr/>
          <p:nvPr/>
        </p:nvSpPr>
        <p:spPr>
          <a:xfrm>
            <a:off x="2596896" y="6135624"/>
            <a:ext cx="658368" cy="256032"/>
          </a:xfrm>
          <a:prstGeom prst="rect">
            <a:avLst/>
          </a:prstGeom>
          <a:noFill/>
          <a:ln/>
        </p:spPr>
        <p:txBody>
          <a:bodyPr wrap="square" lIns="0" tIns="0" rIns="0" bIns="0" rtlCol="0" anchor="ctr"/>
          <a:lstStyle/>
          <a:p>
            <a:pPr algn="ctr" indent="0" marL="0">
              <a:buNone/>
            </a:pPr>
            <a:r>
              <a:rPr lang="en-US" sz="1000" dirty="0">
                <a:solidFill>
                  <a:srgbClr val="335C81">
                    <a:alpha val="38000"/>
                  </a:srgbClr>
                </a:solidFill>
                <a:latin typeface="Courier New" pitchFamily="34" charset="0"/>
                <a:ea typeface="Courier New" pitchFamily="34" charset="-122"/>
                <a:cs typeface="Courier New" pitchFamily="34" charset="-120"/>
              </a:rPr>
              <a:t>TS-56</a:t>
            </a:r>
            <a:endParaRPr lang="en-US" sz="1000" dirty="0"/>
          </a:p>
        </p:txBody>
      </p:sp>
      <p:sp>
        <p:nvSpPr>
          <p:cNvPr id="70" name="Shape 70"/>
          <p:cNvSpPr/>
          <p:nvPr/>
        </p:nvSpPr>
        <p:spPr>
          <a:xfrm>
            <a:off x="3310128" y="6135624"/>
            <a:ext cx="658368" cy="256032"/>
          </a:xfrm>
          <a:prstGeom prst="rect">
            <a:avLst/>
          </a:prstGeom>
          <a:noFill/>
          <a:ln/>
        </p:spPr>
        <p:txBody>
          <a:bodyPr wrap="square" lIns="0" tIns="0" rIns="0" bIns="0" rtlCol="0" anchor="ctr"/>
          <a:lstStyle/>
          <a:p>
            <a:pPr algn="ctr" indent="0" marL="0">
              <a:buNone/>
            </a:pPr>
            <a:r>
              <a:rPr lang="en-US" sz="1000" dirty="0">
                <a:solidFill>
                  <a:srgbClr val="E09F3E">
                    <a:alpha val="38000"/>
                  </a:srgbClr>
                </a:solidFill>
                <a:latin typeface="Courier New" pitchFamily="34" charset="0"/>
                <a:ea typeface="Courier New" pitchFamily="34" charset="-122"/>
                <a:cs typeface="Courier New" pitchFamily="34" charset="-120"/>
              </a:rPr>
              <a:t>TS-57</a:t>
            </a:r>
            <a:endParaRPr lang="en-US" sz="1000" dirty="0"/>
          </a:p>
        </p:txBody>
      </p:sp>
      <p:sp>
        <p:nvSpPr>
          <p:cNvPr id="71" name="Shape 71"/>
          <p:cNvSpPr/>
          <p:nvPr/>
        </p:nvSpPr>
        <p:spPr>
          <a:xfrm>
            <a:off x="4023360" y="6135624"/>
            <a:ext cx="658368" cy="256032"/>
          </a:xfrm>
          <a:prstGeom prst="rect">
            <a:avLst/>
          </a:prstGeom>
          <a:noFill/>
          <a:ln/>
        </p:spPr>
        <p:txBody>
          <a:bodyPr wrap="square" lIns="0" tIns="0" rIns="0" bIns="0" rtlCol="0" anchor="ctr"/>
          <a:lstStyle/>
          <a:p>
            <a:pPr algn="ctr" indent="0" marL="0">
              <a:buNone/>
            </a:pPr>
            <a:r>
              <a:rPr lang="en-US" sz="1000" dirty="0">
                <a:solidFill>
                  <a:srgbClr val="C1121F">
                    <a:alpha val="38000"/>
                  </a:srgbClr>
                </a:solidFill>
                <a:latin typeface="Courier New" pitchFamily="34" charset="0"/>
                <a:ea typeface="Courier New" pitchFamily="34" charset="-122"/>
                <a:cs typeface="Courier New" pitchFamily="34" charset="-120"/>
              </a:rPr>
              <a:t>TS-58</a:t>
            </a:r>
            <a:endParaRPr lang="en-US" sz="1000" dirty="0"/>
          </a:p>
        </p:txBody>
      </p:sp>
      <p:sp>
        <p:nvSpPr>
          <p:cNvPr id="53" name="Text 51"/>
          <p:cNvSpPr/>
          <p:nvPr/>
        </p:nvSpPr>
        <p:spPr>
          <a:xfrm>
            <a:off x="566928" y="1234440"/>
            <a:ext cx="11027664" cy="310896"/>
          </a:xfrm>
          <a:prstGeom prst="rect">
            <a:avLst/>
          </a:prstGeom>
          <a:noFill/>
          <a:ln/>
        </p:spPr>
        <p:txBody>
          <a:bodyPr wrap="square" lIns="0" tIns="0" rIns="0" bIns="0" rtlCol="0" anchor="ctr"/>
          <a:lstStyle/>
          <a:p>
            <a:pPr indent="0" marL="0">
              <a:buNone/>
            </a:pPr>
            <a:r>
              <a:rPr lang="en-US" sz="1300" b="1" spc="340" kern="0" dirty="0">
                <a:solidFill>
                  <a:srgbClr val="E09F3E"/>
                </a:solidFill>
                <a:latin typeface="Calibri" pitchFamily="34" charset="0"/>
                <a:ea typeface="Calibri" pitchFamily="34" charset="-122"/>
                <a:cs typeface="Calibri" pitchFamily="34" charset="-120"/>
              </a:rPr>
              <a:t>TRADE SURVEILLANCE</a:t>
            </a:r>
            <a:endParaRPr lang="en-US" sz="1300" dirty="0"/>
          </a:p>
        </p:txBody>
      </p:sp>
      <p:sp>
        <p:nvSpPr>
          <p:cNvPr id="54" name="Text 52"/>
          <p:cNvSpPr/>
          <p:nvPr/>
        </p:nvSpPr>
        <p:spPr>
          <a:xfrm>
            <a:off x="566928" y="1691640"/>
            <a:ext cx="11027664"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The Fifty-Eight Detection Typologies</a:t>
            </a:r>
            <a:endParaRPr lang="en-US" sz="5200" dirty="0"/>
          </a:p>
        </p:txBody>
      </p:sp>
      <p:sp>
        <p:nvSpPr>
          <p:cNvPr id="55" name="Text 53"/>
          <p:cNvSpPr/>
          <p:nvPr/>
        </p:nvSpPr>
        <p:spPr>
          <a:xfrm>
            <a:off x="566928" y="2670048"/>
            <a:ext cx="9692640" cy="457200"/>
          </a:xfrm>
          <a:prstGeom prst="rect">
            <a:avLst/>
          </a:prstGeom>
          <a:noFill/>
          <a:ln/>
        </p:spPr>
        <p:txBody>
          <a:bodyPr wrap="square" lIns="0" tIns="0" rIns="0" bIns="0" rtlCol="0" anchor="ctr"/>
          <a:lstStyle/>
          <a:p>
            <a:pPr indent="0" marL="0">
              <a:buNone/>
            </a:pPr>
            <a:r>
              <a:rPr lang="en-US" sz="1700" dirty="0">
                <a:solidFill>
                  <a:srgbClr val="C7D0E0"/>
                </a:solidFill>
                <a:latin typeface="Calibri" pitchFamily="34" charset="0"/>
                <a:ea typeface="Calibri" pitchFamily="34" charset="-122"/>
                <a:cs typeface="Calibri" pitchFamily="34" charset="-120"/>
              </a:rPr>
              <a:t>What each rule looks for, how it decides, and the data it cannot run without</a:t>
            </a:r>
            <a:endParaRPr lang="en-US" sz="1700" dirty="0"/>
          </a:p>
        </p:txBody>
      </p:sp>
      <p:sp>
        <p:nvSpPr>
          <p:cNvPr id="56" name="Text 54"/>
          <p:cNvSpPr/>
          <p:nvPr/>
        </p:nvSpPr>
        <p:spPr>
          <a:xfrm>
            <a:off x="566928" y="3401568"/>
            <a:ext cx="2651760" cy="566928"/>
          </a:xfrm>
          <a:prstGeom prst="rect">
            <a:avLst/>
          </a:prstGeom>
          <a:noFill/>
          <a:ln/>
        </p:spPr>
        <p:txBody>
          <a:bodyPr wrap="square" lIns="0" tIns="0" rIns="0" bIns="0" rtlCol="0" anchor="ctr"/>
          <a:lstStyle/>
          <a:p>
            <a:pPr indent="0" marL="0">
              <a:buNone/>
            </a:pPr>
            <a:r>
              <a:rPr lang="en-US" sz="4000" b="1" dirty="0">
                <a:solidFill>
                  <a:srgbClr val="E09F3E"/>
                </a:solidFill>
                <a:latin typeface="Cambria" pitchFamily="34" charset="0"/>
                <a:ea typeface="Cambria" pitchFamily="34" charset="-122"/>
                <a:cs typeface="Cambria" pitchFamily="34" charset="-120"/>
              </a:rPr>
              <a:t>58</a:t>
            </a:r>
            <a:endParaRPr lang="en-US" sz="4000" dirty="0"/>
          </a:p>
        </p:txBody>
      </p:sp>
      <p:sp>
        <p:nvSpPr>
          <p:cNvPr id="57" name="Text 55"/>
          <p:cNvSpPr/>
          <p:nvPr/>
        </p:nvSpPr>
        <p:spPr>
          <a:xfrm>
            <a:off x="566928" y="3968496"/>
            <a:ext cx="2651760" cy="274320"/>
          </a:xfrm>
          <a:prstGeom prst="rect">
            <a:avLst/>
          </a:prstGeom>
          <a:noFill/>
          <a:ln/>
        </p:spPr>
        <p:txBody>
          <a:bodyPr wrap="square" lIns="0" tIns="0" rIns="0" bIns="0" rtlCol="0" anchor="ctr"/>
          <a:lstStyle/>
          <a:p>
            <a:pPr indent="0" marL="0">
              <a:buNone/>
            </a:pPr>
            <a:r>
              <a:rPr lang="en-US" sz="1050" spc="160" kern="0" dirty="0">
                <a:solidFill>
                  <a:srgbClr val="9BA8C0"/>
                </a:solidFill>
                <a:latin typeface="Calibri" pitchFamily="34" charset="0"/>
                <a:ea typeface="Calibri" pitchFamily="34" charset="-122"/>
                <a:cs typeface="Calibri" pitchFamily="34" charset="-120"/>
              </a:rPr>
              <a:t>TYPOLOGIES</a:t>
            </a:r>
            <a:endParaRPr lang="en-US" sz="1050" dirty="0"/>
          </a:p>
        </p:txBody>
      </p:sp>
      <p:sp>
        <p:nvSpPr>
          <p:cNvPr id="58" name="Text 56"/>
          <p:cNvSpPr/>
          <p:nvPr/>
        </p:nvSpPr>
        <p:spPr>
          <a:xfrm>
            <a:off x="3355848" y="3401568"/>
            <a:ext cx="2651760" cy="566928"/>
          </a:xfrm>
          <a:prstGeom prst="rect">
            <a:avLst/>
          </a:prstGeom>
          <a:noFill/>
          <a:ln/>
        </p:spPr>
        <p:txBody>
          <a:bodyPr wrap="square" lIns="0" tIns="0" rIns="0" bIns="0" rtlCol="0" anchor="ctr"/>
          <a:lstStyle/>
          <a:p>
            <a:pPr indent="0" marL="0">
              <a:buNone/>
            </a:pPr>
            <a:r>
              <a:rPr lang="en-US" sz="4000" b="1" dirty="0">
                <a:solidFill>
                  <a:srgbClr val="E09F3E"/>
                </a:solidFill>
                <a:latin typeface="Cambria" pitchFamily="34" charset="0"/>
                <a:ea typeface="Cambria" pitchFamily="34" charset="-122"/>
                <a:cs typeface="Cambria" pitchFamily="34" charset="-120"/>
              </a:rPr>
              <a:t>62</a:t>
            </a:r>
            <a:endParaRPr lang="en-US" sz="4000" dirty="0"/>
          </a:p>
        </p:txBody>
      </p:sp>
      <p:sp>
        <p:nvSpPr>
          <p:cNvPr id="59" name="Text 57"/>
          <p:cNvSpPr/>
          <p:nvPr/>
        </p:nvSpPr>
        <p:spPr>
          <a:xfrm>
            <a:off x="3355848" y="3968496"/>
            <a:ext cx="2651760" cy="274320"/>
          </a:xfrm>
          <a:prstGeom prst="rect">
            <a:avLst/>
          </a:prstGeom>
          <a:noFill/>
          <a:ln/>
        </p:spPr>
        <p:txBody>
          <a:bodyPr wrap="square" lIns="0" tIns="0" rIns="0" bIns="0" rtlCol="0" anchor="ctr"/>
          <a:lstStyle/>
          <a:p>
            <a:pPr indent="0" marL="0">
              <a:buNone/>
            </a:pPr>
            <a:r>
              <a:rPr lang="en-US" sz="1050" spc="160" kern="0" dirty="0">
                <a:solidFill>
                  <a:srgbClr val="9BA8C0"/>
                </a:solidFill>
                <a:latin typeface="Calibri" pitchFamily="34" charset="0"/>
                <a:ea typeface="Calibri" pitchFamily="34" charset="-122"/>
                <a:cs typeface="Calibri" pitchFamily="34" charset="-120"/>
              </a:rPr>
              <a:t>DATA ELEMENTS</a:t>
            </a:r>
            <a:endParaRPr lang="en-US" sz="1050" dirty="0"/>
          </a:p>
        </p:txBody>
      </p:sp>
      <p:sp>
        <p:nvSpPr>
          <p:cNvPr id="60" name="Text 58"/>
          <p:cNvSpPr/>
          <p:nvPr/>
        </p:nvSpPr>
        <p:spPr>
          <a:xfrm>
            <a:off x="6144768" y="3401568"/>
            <a:ext cx="2651760" cy="566928"/>
          </a:xfrm>
          <a:prstGeom prst="rect">
            <a:avLst/>
          </a:prstGeom>
          <a:noFill/>
          <a:ln/>
        </p:spPr>
        <p:txBody>
          <a:bodyPr wrap="square" lIns="0" tIns="0" rIns="0" bIns="0" rtlCol="0" anchor="ctr"/>
          <a:lstStyle/>
          <a:p>
            <a:pPr indent="0" marL="0">
              <a:buNone/>
            </a:pPr>
            <a:r>
              <a:rPr lang="en-US" sz="4000" b="1" dirty="0">
                <a:solidFill>
                  <a:srgbClr val="E09F3E"/>
                </a:solidFill>
                <a:latin typeface="Cambria" pitchFamily="34" charset="0"/>
                <a:ea typeface="Cambria" pitchFamily="34" charset="-122"/>
                <a:cs typeface="Cambria" pitchFamily="34" charset="-120"/>
              </a:rPr>
              <a:t>32</a:t>
            </a:r>
            <a:endParaRPr lang="en-US" sz="4000" dirty="0"/>
          </a:p>
        </p:txBody>
      </p:sp>
      <p:sp>
        <p:nvSpPr>
          <p:cNvPr id="61" name="Text 59"/>
          <p:cNvSpPr/>
          <p:nvPr/>
        </p:nvSpPr>
        <p:spPr>
          <a:xfrm>
            <a:off x="6144768" y="3968496"/>
            <a:ext cx="2651760" cy="274320"/>
          </a:xfrm>
          <a:prstGeom prst="rect">
            <a:avLst/>
          </a:prstGeom>
          <a:noFill/>
          <a:ln/>
        </p:spPr>
        <p:txBody>
          <a:bodyPr wrap="square" lIns="0" tIns="0" rIns="0" bIns="0" rtlCol="0" anchor="ctr"/>
          <a:lstStyle/>
          <a:p>
            <a:pPr indent="0" marL="0">
              <a:buNone/>
            </a:pPr>
            <a:r>
              <a:rPr lang="en-US" sz="1050" spc="160" kern="0" dirty="0">
                <a:solidFill>
                  <a:srgbClr val="9BA8C0"/>
                </a:solidFill>
                <a:latin typeface="Calibri" pitchFamily="34" charset="0"/>
                <a:ea typeface="Calibri" pitchFamily="34" charset="-122"/>
                <a:cs typeface="Calibri" pitchFamily="34" charset="-120"/>
              </a:rPr>
              <a:t>SOURCE SYSTEMS</a:t>
            </a:r>
            <a:endParaRPr lang="en-US" sz="1050" dirty="0"/>
          </a:p>
        </p:txBody>
      </p:sp>
      <p:sp>
        <p:nvSpPr>
          <p:cNvPr id="62" name="Text 60"/>
          <p:cNvSpPr/>
          <p:nvPr/>
        </p:nvSpPr>
        <p:spPr>
          <a:xfrm>
            <a:off x="8933688" y="3401568"/>
            <a:ext cx="2651760" cy="566928"/>
          </a:xfrm>
          <a:prstGeom prst="rect">
            <a:avLst/>
          </a:prstGeom>
          <a:noFill/>
          <a:ln/>
        </p:spPr>
        <p:txBody>
          <a:bodyPr wrap="square" lIns="0" tIns="0" rIns="0" bIns="0" rtlCol="0" anchor="ctr"/>
          <a:lstStyle/>
          <a:p>
            <a:pPr indent="0" marL="0">
              <a:buNone/>
            </a:pPr>
            <a:r>
              <a:rPr lang="en-US" sz="4000" b="1" dirty="0">
                <a:solidFill>
                  <a:srgbClr val="E09F3E"/>
                </a:solidFill>
                <a:latin typeface="Cambria" pitchFamily="34" charset="0"/>
                <a:ea typeface="Cambria" pitchFamily="34" charset="-122"/>
                <a:cs typeface="Cambria" pitchFamily="34" charset="-120"/>
              </a:rPr>
              <a:t>68</a:t>
            </a:r>
            <a:endParaRPr lang="en-US" sz="4000" dirty="0"/>
          </a:p>
        </p:txBody>
      </p:sp>
      <p:sp>
        <p:nvSpPr>
          <p:cNvPr id="63" name="Text 61"/>
          <p:cNvSpPr/>
          <p:nvPr/>
        </p:nvSpPr>
        <p:spPr>
          <a:xfrm>
            <a:off x="8933688" y="3968496"/>
            <a:ext cx="2651760" cy="274320"/>
          </a:xfrm>
          <a:prstGeom prst="rect">
            <a:avLst/>
          </a:prstGeom>
          <a:noFill/>
          <a:ln/>
        </p:spPr>
        <p:txBody>
          <a:bodyPr wrap="square" lIns="0" tIns="0" rIns="0" bIns="0" rtlCol="0" anchor="ctr"/>
          <a:lstStyle/>
          <a:p>
            <a:pPr indent="0" marL="0">
              <a:buNone/>
            </a:pPr>
            <a:r>
              <a:rPr lang="en-US" sz="1050" spc="160" kern="0" dirty="0">
                <a:solidFill>
                  <a:srgbClr val="9BA8C0"/>
                </a:solidFill>
                <a:latin typeface="Calibri" pitchFamily="34" charset="0"/>
                <a:ea typeface="Calibri" pitchFamily="34" charset="-122"/>
                <a:cs typeface="Calibri" pitchFamily="34" charset="-120"/>
              </a:rPr>
              <a:t>TRADERS IN SCOPE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THE CHANGE THAT MATTERS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Detection runs per trader — not per desk</a:t>
            </a:r>
            <a:endParaRPr lang="en-US" sz="3000" dirty="0"/>
          </a:p>
        </p:txBody>
      </p:sp>
      <p:sp>
        <p:nvSpPr>
          <p:cNvPr id="4" name="Text 2"/>
          <p:cNvSpPr/>
          <p:nvPr/>
        </p:nvSpPr>
        <p:spPr>
          <a:xfrm>
            <a:off x="566928" y="1316736"/>
            <a:ext cx="10881360" cy="365760"/>
          </a:xfrm>
          <a:prstGeom prst="rect">
            <a:avLst/>
          </a:prstGeom>
          <a:noFill/>
          <a:ln/>
        </p:spPr>
        <p:txBody>
          <a:bodyPr wrap="square" lIns="0" tIns="0" rIns="0" bIns="0" rtlCol="0" anchor="ctr"/>
          <a:lstStyle/>
          <a:p>
            <a:pPr indent="0" marL="0">
              <a:buNone/>
            </a:pPr>
            <a:r>
              <a:rPr lang="en-US" sz="1450" dirty="0">
                <a:solidFill>
                  <a:srgbClr val="4A5568"/>
                </a:solidFill>
                <a:latin typeface="Calibri" pitchFamily="34" charset="0"/>
                <a:ea typeface="Calibri" pitchFamily="34" charset="-122"/>
                <a:cs typeface="Calibri" pitchFamily="34" charset="-120"/>
              </a:rPr>
              <a:t>This is the single design decision behind all fifty-eight rules, and the one worth arguing about before any individual threshold.</a:t>
            </a:r>
            <a:endParaRPr lang="en-US" sz="1450" dirty="0"/>
          </a:p>
        </p:txBody>
      </p:sp>
      <p:sp>
        <p:nvSpPr>
          <p:cNvPr id="5" name="Shape 3"/>
          <p:cNvSpPr/>
          <p:nvPr/>
        </p:nvSpPr>
        <p:spPr>
          <a:xfrm>
            <a:off x="566928" y="1874520"/>
            <a:ext cx="5230368" cy="2880360"/>
          </a:xfrm>
          <a:prstGeom prst="roundRect">
            <a:avLst>
              <a:gd name="adj" fmla="val 2540"/>
            </a:avLst>
          </a:prstGeom>
          <a:solidFill>
            <a:srgbClr val="FBECEC"/>
          </a:solidFill>
          <a:ln w="12700">
            <a:solidFill>
              <a:srgbClr val="FBECEC"/>
            </a:solidFill>
            <a:prstDash val="solid"/>
          </a:ln>
        </p:spPr>
      </p:sp>
      <p:sp>
        <p:nvSpPr>
          <p:cNvPr id="6" name="Text 4"/>
          <p:cNvSpPr/>
          <p:nvPr/>
        </p:nvSpPr>
        <p:spPr>
          <a:xfrm>
            <a:off x="877824" y="2112264"/>
            <a:ext cx="4608576" cy="329184"/>
          </a:xfrm>
          <a:prstGeom prst="rect">
            <a:avLst/>
          </a:prstGeom>
          <a:noFill/>
          <a:ln/>
        </p:spPr>
        <p:txBody>
          <a:bodyPr wrap="square" lIns="0" tIns="0" rIns="0" bIns="0" rtlCol="0" anchor="ctr"/>
          <a:lstStyle/>
          <a:p>
            <a:pPr indent="0" marL="0">
              <a:buNone/>
            </a:pPr>
            <a:r>
              <a:rPr lang="en-US" sz="1900" b="1" dirty="0">
                <a:solidFill>
                  <a:srgbClr val="C1121F"/>
                </a:solidFill>
                <a:latin typeface="Cambria" pitchFamily="34" charset="0"/>
                <a:ea typeface="Cambria" pitchFamily="34" charset="-122"/>
                <a:cs typeface="Cambria" pitchFamily="34" charset="-120"/>
              </a:rPr>
              <a:t>A desk-level threshold</a:t>
            </a:r>
            <a:endParaRPr lang="en-US" sz="1900" dirty="0"/>
          </a:p>
        </p:txBody>
      </p:sp>
      <p:sp>
        <p:nvSpPr>
          <p:cNvPr id="7" name="Text 5"/>
          <p:cNvSpPr/>
          <p:nvPr/>
        </p:nvSpPr>
        <p:spPr>
          <a:xfrm>
            <a:off x="877824" y="2587752"/>
            <a:ext cx="4608576" cy="192024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A junior can never reach it.</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A desk head can never breach it.</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One person's entire year is a rounding error on another's month.</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A whole desk drifting together looks like normality.</a:t>
            </a:r>
            <a:endParaRPr lang="en-US" sz="1350" dirty="0"/>
          </a:p>
        </p:txBody>
      </p:sp>
      <p:sp>
        <p:nvSpPr>
          <p:cNvPr id="8" name="Shape 6"/>
          <p:cNvSpPr/>
          <p:nvPr/>
        </p:nvSpPr>
        <p:spPr>
          <a:xfrm>
            <a:off x="6254496" y="1874520"/>
            <a:ext cx="5230368" cy="2880360"/>
          </a:xfrm>
          <a:prstGeom prst="roundRect">
            <a:avLst>
              <a:gd name="adj" fmla="val 2540"/>
            </a:avLst>
          </a:prstGeom>
          <a:solidFill>
            <a:srgbClr val="EAF2EC"/>
          </a:solidFill>
          <a:ln w="12700">
            <a:solidFill>
              <a:srgbClr val="EAF2EC"/>
            </a:solidFill>
            <a:prstDash val="solid"/>
          </a:ln>
        </p:spPr>
      </p:sp>
      <p:sp>
        <p:nvSpPr>
          <p:cNvPr id="9" name="Text 7"/>
          <p:cNvSpPr/>
          <p:nvPr/>
        </p:nvSpPr>
        <p:spPr>
          <a:xfrm>
            <a:off x="6565392" y="2112264"/>
            <a:ext cx="4608576" cy="329184"/>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The trader's own reference</a:t>
            </a:r>
            <a:endParaRPr lang="en-US" sz="1900" dirty="0"/>
          </a:p>
        </p:txBody>
      </p:sp>
      <p:sp>
        <p:nvSpPr>
          <p:cNvPr id="10" name="Text 8"/>
          <p:cNvSpPr/>
          <p:nvPr/>
        </p:nvSpPr>
        <p:spPr>
          <a:xfrm>
            <a:off x="6565392" y="2587752"/>
            <a:ext cx="4608576" cy="192024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Their own authorisations — ticket, position, tenor, product, counterparty.</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Their own trailing behaviour — twelve months of their own book.</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Their peer cohort — same grade, same books, median of the group.</a:t>
            </a:r>
            <a:endParaRPr lang="en-US" sz="1350" dirty="0"/>
          </a:p>
          <a:p>
            <a:pPr marL="342900" indent="-342900">
              <a:spcAft>
                <a:spcPts val="900"/>
              </a:spcAft>
              <a:buSzPct val="100000"/>
              <a:buChar char="•"/>
            </a:pPr>
            <a:r>
              <a:rPr lang="en-US" sz="1350" dirty="0">
                <a:solidFill>
                  <a:srgbClr val="1B2430"/>
                </a:solidFill>
                <a:latin typeface="Calibri" pitchFamily="34" charset="0"/>
                <a:ea typeface="Calibri" pitchFamily="34" charset="-122"/>
                <a:cs typeface="Calibri" pitchFamily="34" charset="-120"/>
              </a:rPr>
              <a:t>A busy name is not flagged for being busy; a quiet one cannot hide.</a:t>
            </a:r>
            <a:endParaRPr lang="en-US" sz="1350" dirty="0"/>
          </a:p>
        </p:txBody>
      </p:sp>
      <p:sp>
        <p:nvSpPr>
          <p:cNvPr id="11" name="Text 9"/>
          <p:cNvSpPr/>
          <p:nvPr/>
        </p:nvSpPr>
        <p:spPr>
          <a:xfrm>
            <a:off x="566928" y="5010912"/>
            <a:ext cx="10881360" cy="365760"/>
          </a:xfrm>
          <a:prstGeom prst="rect">
            <a:avLst/>
          </a:prstGeom>
          <a:noFill/>
          <a:ln/>
        </p:spPr>
        <p:txBody>
          <a:bodyPr wrap="square" lIns="0" tIns="0" rIns="0" bIns="0" rtlCol="0" anchor="ctr"/>
          <a:lstStyle/>
          <a:p>
            <a:pPr indent="0" marL="0">
              <a:buNone/>
            </a:pPr>
            <a:r>
              <a:rPr lang="en-US" sz="1700" b="1" i="1" dirty="0">
                <a:solidFill>
                  <a:srgbClr val="14213D"/>
                </a:solidFill>
                <a:latin typeface="Cambria" pitchFamily="34" charset="0"/>
                <a:ea typeface="Cambria" pitchFamily="34" charset="-122"/>
                <a:cs typeface="Cambria" pitchFamily="34" charset="-120"/>
              </a:rPr>
              <a:t>A desk is a reporting line. It is not a detection unit.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THE RULE SET AT A GLANCE</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Nine categories, fifty-eight typologies</a:t>
            </a:r>
            <a:endParaRPr lang="en-US" sz="3000" dirty="0"/>
          </a:p>
        </p:txBody>
      </p:sp>
      <p:sp>
        <p:nvSpPr>
          <p:cNvPr id="4" name="Shape 2"/>
          <p:cNvSpPr/>
          <p:nvPr/>
        </p:nvSpPr>
        <p:spPr>
          <a:xfrm>
            <a:off x="566928" y="1389888"/>
            <a:ext cx="3547872" cy="1225296"/>
          </a:xfrm>
          <a:prstGeom prst="roundRect">
            <a:avLst>
              <a:gd name="adj" fmla="val 5224"/>
            </a:avLst>
          </a:prstGeom>
          <a:solidFill>
            <a:srgbClr val="E8ECF3"/>
          </a:solidFill>
          <a:ln w="12700">
            <a:solidFill>
              <a:srgbClr val="E8ECF3"/>
            </a:solidFill>
            <a:prstDash val="solid"/>
          </a:ln>
        </p:spPr>
      </p:sp>
      <p:sp>
        <p:nvSpPr>
          <p:cNvPr id="5" name="Shape 3"/>
          <p:cNvSpPr/>
          <p:nvPr/>
        </p:nvSpPr>
        <p:spPr>
          <a:xfrm>
            <a:off x="786384" y="1609344"/>
            <a:ext cx="566928" cy="566928"/>
          </a:xfrm>
          <a:prstGeom prst="ellipse">
            <a:avLst/>
          </a:prstGeom>
          <a:solidFill>
            <a:srgbClr val="14213D"/>
          </a:solidFill>
          <a:ln w="12700">
            <a:solidFill>
              <a:srgbClr val="14213D"/>
            </a:solidFill>
            <a:prstDash val="solid"/>
          </a:ln>
        </p:spPr>
      </p:sp>
      <p:sp>
        <p:nvSpPr>
          <p:cNvPr id="6" name="Text 4"/>
          <p:cNvSpPr/>
          <p:nvPr/>
        </p:nvSpPr>
        <p:spPr>
          <a:xfrm>
            <a:off x="786384" y="1609344"/>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6</a:t>
            </a:r>
            <a:endParaRPr lang="en-US" sz="2000" dirty="0"/>
          </a:p>
        </p:txBody>
      </p:sp>
      <p:sp>
        <p:nvSpPr>
          <p:cNvPr id="7" name="Text 5"/>
          <p:cNvSpPr/>
          <p:nvPr/>
        </p:nvSpPr>
        <p:spPr>
          <a:xfrm>
            <a:off x="1499616" y="1627632"/>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Pricing</a:t>
            </a:r>
            <a:endParaRPr lang="en-US" sz="1500" dirty="0"/>
          </a:p>
        </p:txBody>
      </p:sp>
      <p:sp>
        <p:nvSpPr>
          <p:cNvPr id="8" name="Text 6"/>
          <p:cNvSpPr/>
          <p:nvPr/>
        </p:nvSpPr>
        <p:spPr>
          <a:xfrm>
            <a:off x="1499616" y="1938528"/>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Was the price the market's price?</a:t>
            </a:r>
            <a:endParaRPr lang="en-US" sz="1150" dirty="0"/>
          </a:p>
        </p:txBody>
      </p:sp>
      <p:sp>
        <p:nvSpPr>
          <p:cNvPr id="9" name="Shape 7"/>
          <p:cNvSpPr/>
          <p:nvPr/>
        </p:nvSpPr>
        <p:spPr>
          <a:xfrm>
            <a:off x="4306824" y="1389888"/>
            <a:ext cx="3547872" cy="1225296"/>
          </a:xfrm>
          <a:prstGeom prst="roundRect">
            <a:avLst>
              <a:gd name="adj" fmla="val 5224"/>
            </a:avLst>
          </a:prstGeom>
          <a:solidFill>
            <a:srgbClr val="E8ECF3"/>
          </a:solidFill>
          <a:ln w="12700">
            <a:solidFill>
              <a:srgbClr val="E8ECF3"/>
            </a:solidFill>
            <a:prstDash val="solid"/>
          </a:ln>
        </p:spPr>
      </p:sp>
      <p:sp>
        <p:nvSpPr>
          <p:cNvPr id="10" name="Shape 8"/>
          <p:cNvSpPr/>
          <p:nvPr/>
        </p:nvSpPr>
        <p:spPr>
          <a:xfrm>
            <a:off x="4526280" y="1609344"/>
            <a:ext cx="566928" cy="566928"/>
          </a:xfrm>
          <a:prstGeom prst="ellipse">
            <a:avLst/>
          </a:prstGeom>
          <a:solidFill>
            <a:srgbClr val="14213D"/>
          </a:solidFill>
          <a:ln w="12700">
            <a:solidFill>
              <a:srgbClr val="14213D"/>
            </a:solidFill>
            <a:prstDash val="solid"/>
          </a:ln>
        </p:spPr>
      </p:sp>
      <p:sp>
        <p:nvSpPr>
          <p:cNvPr id="11" name="Text 9"/>
          <p:cNvSpPr/>
          <p:nvPr/>
        </p:nvSpPr>
        <p:spPr>
          <a:xfrm>
            <a:off x="4526280" y="1609344"/>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7</a:t>
            </a:r>
            <a:endParaRPr lang="en-US" sz="2000" dirty="0"/>
          </a:p>
        </p:txBody>
      </p:sp>
      <p:sp>
        <p:nvSpPr>
          <p:cNvPr id="12" name="Text 10"/>
          <p:cNvSpPr/>
          <p:nvPr/>
        </p:nvSpPr>
        <p:spPr>
          <a:xfrm>
            <a:off x="5239512" y="1627632"/>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Market conduct</a:t>
            </a:r>
            <a:endParaRPr lang="en-US" sz="1500" dirty="0"/>
          </a:p>
        </p:txBody>
      </p:sp>
      <p:sp>
        <p:nvSpPr>
          <p:cNvPr id="13" name="Text 11"/>
          <p:cNvSpPr/>
          <p:nvPr/>
        </p:nvSpPr>
        <p:spPr>
          <a:xfrm>
            <a:off x="5239512" y="1938528"/>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Did the trading distort a price or a benchmark?</a:t>
            </a:r>
            <a:endParaRPr lang="en-US" sz="1150" dirty="0"/>
          </a:p>
        </p:txBody>
      </p:sp>
      <p:sp>
        <p:nvSpPr>
          <p:cNvPr id="14" name="Shape 12"/>
          <p:cNvSpPr/>
          <p:nvPr/>
        </p:nvSpPr>
        <p:spPr>
          <a:xfrm>
            <a:off x="8046720" y="1389888"/>
            <a:ext cx="3547872" cy="1225296"/>
          </a:xfrm>
          <a:prstGeom prst="roundRect">
            <a:avLst>
              <a:gd name="adj" fmla="val 5224"/>
            </a:avLst>
          </a:prstGeom>
          <a:solidFill>
            <a:srgbClr val="E8ECF3"/>
          </a:solidFill>
          <a:ln w="12700">
            <a:solidFill>
              <a:srgbClr val="E8ECF3"/>
            </a:solidFill>
            <a:prstDash val="solid"/>
          </a:ln>
        </p:spPr>
      </p:sp>
      <p:sp>
        <p:nvSpPr>
          <p:cNvPr id="15" name="Shape 13"/>
          <p:cNvSpPr/>
          <p:nvPr/>
        </p:nvSpPr>
        <p:spPr>
          <a:xfrm>
            <a:off x="8266176" y="1609344"/>
            <a:ext cx="566928" cy="566928"/>
          </a:xfrm>
          <a:prstGeom prst="ellipse">
            <a:avLst/>
          </a:prstGeom>
          <a:solidFill>
            <a:srgbClr val="14213D"/>
          </a:solidFill>
          <a:ln w="12700">
            <a:solidFill>
              <a:srgbClr val="14213D"/>
            </a:solidFill>
            <a:prstDash val="solid"/>
          </a:ln>
        </p:spPr>
      </p:sp>
      <p:sp>
        <p:nvSpPr>
          <p:cNvPr id="16" name="Text 14"/>
          <p:cNvSpPr/>
          <p:nvPr/>
        </p:nvSpPr>
        <p:spPr>
          <a:xfrm>
            <a:off x="8266176" y="1609344"/>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8</a:t>
            </a:r>
            <a:endParaRPr lang="en-US" sz="2000" dirty="0"/>
          </a:p>
        </p:txBody>
      </p:sp>
      <p:sp>
        <p:nvSpPr>
          <p:cNvPr id="17" name="Text 15"/>
          <p:cNvSpPr/>
          <p:nvPr/>
        </p:nvSpPr>
        <p:spPr>
          <a:xfrm>
            <a:off x="8979408" y="1627632"/>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Booking integrity</a:t>
            </a:r>
            <a:endParaRPr lang="en-US" sz="1500" dirty="0"/>
          </a:p>
        </p:txBody>
      </p:sp>
      <p:sp>
        <p:nvSpPr>
          <p:cNvPr id="18" name="Text 16"/>
          <p:cNvSpPr/>
          <p:nvPr/>
        </p:nvSpPr>
        <p:spPr>
          <a:xfrm>
            <a:off x="8979408" y="1938528"/>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Does the record describe the trade that happened?</a:t>
            </a:r>
            <a:endParaRPr lang="en-US" sz="1150" dirty="0"/>
          </a:p>
        </p:txBody>
      </p:sp>
      <p:sp>
        <p:nvSpPr>
          <p:cNvPr id="19" name="Shape 17"/>
          <p:cNvSpPr/>
          <p:nvPr/>
        </p:nvSpPr>
        <p:spPr>
          <a:xfrm>
            <a:off x="566928" y="2816352"/>
            <a:ext cx="3547872" cy="1225296"/>
          </a:xfrm>
          <a:prstGeom prst="roundRect">
            <a:avLst>
              <a:gd name="adj" fmla="val 5224"/>
            </a:avLst>
          </a:prstGeom>
          <a:solidFill>
            <a:srgbClr val="E8ECF3"/>
          </a:solidFill>
          <a:ln w="12700">
            <a:solidFill>
              <a:srgbClr val="E8ECF3"/>
            </a:solidFill>
            <a:prstDash val="solid"/>
          </a:ln>
        </p:spPr>
      </p:sp>
      <p:sp>
        <p:nvSpPr>
          <p:cNvPr id="20" name="Shape 18"/>
          <p:cNvSpPr/>
          <p:nvPr/>
        </p:nvSpPr>
        <p:spPr>
          <a:xfrm>
            <a:off x="786384" y="3035808"/>
            <a:ext cx="566928" cy="566928"/>
          </a:xfrm>
          <a:prstGeom prst="ellipse">
            <a:avLst/>
          </a:prstGeom>
          <a:solidFill>
            <a:srgbClr val="14213D"/>
          </a:solidFill>
          <a:ln w="12700">
            <a:solidFill>
              <a:srgbClr val="14213D"/>
            </a:solidFill>
            <a:prstDash val="solid"/>
          </a:ln>
        </p:spPr>
      </p:sp>
      <p:sp>
        <p:nvSpPr>
          <p:cNvPr id="21" name="Text 19"/>
          <p:cNvSpPr/>
          <p:nvPr/>
        </p:nvSpPr>
        <p:spPr>
          <a:xfrm>
            <a:off x="786384" y="3035808"/>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9</a:t>
            </a:r>
            <a:endParaRPr lang="en-US" sz="2000" dirty="0"/>
          </a:p>
        </p:txBody>
      </p:sp>
      <p:sp>
        <p:nvSpPr>
          <p:cNvPr id="22" name="Text 20"/>
          <p:cNvSpPr/>
          <p:nvPr/>
        </p:nvSpPr>
        <p:spPr>
          <a:xfrm>
            <a:off x="1499616" y="3054096"/>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Limits &amp; controls</a:t>
            </a:r>
            <a:endParaRPr lang="en-US" sz="1500" dirty="0"/>
          </a:p>
        </p:txBody>
      </p:sp>
      <p:sp>
        <p:nvSpPr>
          <p:cNvPr id="23" name="Text 21"/>
          <p:cNvSpPr/>
          <p:nvPr/>
        </p:nvSpPr>
        <p:spPr>
          <a:xfrm>
            <a:off x="1499616" y="3364992"/>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Did the trader stay inside their own authorisations?</a:t>
            </a:r>
            <a:endParaRPr lang="en-US" sz="1150" dirty="0"/>
          </a:p>
        </p:txBody>
      </p:sp>
      <p:sp>
        <p:nvSpPr>
          <p:cNvPr id="24" name="Shape 22"/>
          <p:cNvSpPr/>
          <p:nvPr/>
        </p:nvSpPr>
        <p:spPr>
          <a:xfrm>
            <a:off x="4306824" y="2816352"/>
            <a:ext cx="3547872" cy="1225296"/>
          </a:xfrm>
          <a:prstGeom prst="roundRect">
            <a:avLst>
              <a:gd name="adj" fmla="val 5224"/>
            </a:avLst>
          </a:prstGeom>
          <a:solidFill>
            <a:srgbClr val="E8ECF3"/>
          </a:solidFill>
          <a:ln w="12700">
            <a:solidFill>
              <a:srgbClr val="E8ECF3"/>
            </a:solidFill>
            <a:prstDash val="solid"/>
          </a:ln>
        </p:spPr>
      </p:sp>
      <p:sp>
        <p:nvSpPr>
          <p:cNvPr id="25" name="Shape 23"/>
          <p:cNvSpPr/>
          <p:nvPr/>
        </p:nvSpPr>
        <p:spPr>
          <a:xfrm>
            <a:off x="4526280" y="3035808"/>
            <a:ext cx="566928" cy="566928"/>
          </a:xfrm>
          <a:prstGeom prst="ellipse">
            <a:avLst/>
          </a:prstGeom>
          <a:solidFill>
            <a:srgbClr val="14213D"/>
          </a:solidFill>
          <a:ln w="12700">
            <a:solidFill>
              <a:srgbClr val="14213D"/>
            </a:solidFill>
            <a:prstDash val="solid"/>
          </a:ln>
        </p:spPr>
      </p:sp>
      <p:sp>
        <p:nvSpPr>
          <p:cNvPr id="26" name="Text 24"/>
          <p:cNvSpPr/>
          <p:nvPr/>
        </p:nvSpPr>
        <p:spPr>
          <a:xfrm>
            <a:off x="4526280" y="3035808"/>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10</a:t>
            </a:r>
            <a:endParaRPr lang="en-US" sz="2000" dirty="0"/>
          </a:p>
        </p:txBody>
      </p:sp>
      <p:sp>
        <p:nvSpPr>
          <p:cNvPr id="27" name="Text 25"/>
          <p:cNvSpPr/>
          <p:nvPr/>
        </p:nvSpPr>
        <p:spPr>
          <a:xfrm>
            <a:off x="5239512" y="3054096"/>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Valuation</a:t>
            </a:r>
            <a:endParaRPr lang="en-US" sz="1500" dirty="0"/>
          </a:p>
        </p:txBody>
      </p:sp>
      <p:sp>
        <p:nvSpPr>
          <p:cNvPr id="28" name="Text 26"/>
          <p:cNvSpPr/>
          <p:nvPr/>
        </p:nvSpPr>
        <p:spPr>
          <a:xfrm>
            <a:off x="5239512" y="3364992"/>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Is the P&amp;L reported the P&amp;L earned?</a:t>
            </a:r>
            <a:endParaRPr lang="en-US" sz="1150" dirty="0"/>
          </a:p>
        </p:txBody>
      </p:sp>
      <p:sp>
        <p:nvSpPr>
          <p:cNvPr id="29" name="Shape 27"/>
          <p:cNvSpPr/>
          <p:nvPr/>
        </p:nvSpPr>
        <p:spPr>
          <a:xfrm>
            <a:off x="8046720" y="2816352"/>
            <a:ext cx="3547872" cy="1225296"/>
          </a:xfrm>
          <a:prstGeom prst="roundRect">
            <a:avLst>
              <a:gd name="adj" fmla="val 5224"/>
            </a:avLst>
          </a:prstGeom>
          <a:solidFill>
            <a:srgbClr val="E8ECF3"/>
          </a:solidFill>
          <a:ln w="12700">
            <a:solidFill>
              <a:srgbClr val="E8ECF3"/>
            </a:solidFill>
            <a:prstDash val="solid"/>
          </a:ln>
        </p:spPr>
      </p:sp>
      <p:sp>
        <p:nvSpPr>
          <p:cNvPr id="30" name="Shape 28"/>
          <p:cNvSpPr/>
          <p:nvPr/>
        </p:nvSpPr>
        <p:spPr>
          <a:xfrm>
            <a:off x="8266176" y="3035808"/>
            <a:ext cx="566928" cy="566928"/>
          </a:xfrm>
          <a:prstGeom prst="ellipse">
            <a:avLst/>
          </a:prstGeom>
          <a:solidFill>
            <a:srgbClr val="14213D"/>
          </a:solidFill>
          <a:ln w="12700">
            <a:solidFill>
              <a:srgbClr val="14213D"/>
            </a:solidFill>
            <a:prstDash val="solid"/>
          </a:ln>
        </p:spPr>
      </p:sp>
      <p:sp>
        <p:nvSpPr>
          <p:cNvPr id="31" name="Text 29"/>
          <p:cNvSpPr/>
          <p:nvPr/>
        </p:nvSpPr>
        <p:spPr>
          <a:xfrm>
            <a:off x="8266176" y="3035808"/>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8</a:t>
            </a:r>
            <a:endParaRPr lang="en-US" sz="2000" dirty="0"/>
          </a:p>
        </p:txBody>
      </p:sp>
      <p:sp>
        <p:nvSpPr>
          <p:cNvPr id="32" name="Text 30"/>
          <p:cNvSpPr/>
          <p:nvPr/>
        </p:nvSpPr>
        <p:spPr>
          <a:xfrm>
            <a:off x="8979408" y="3054096"/>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Client conduct</a:t>
            </a:r>
            <a:endParaRPr lang="en-US" sz="1500" dirty="0"/>
          </a:p>
        </p:txBody>
      </p:sp>
      <p:sp>
        <p:nvSpPr>
          <p:cNvPr id="33" name="Text 31"/>
          <p:cNvSpPr/>
          <p:nvPr/>
        </p:nvSpPr>
        <p:spPr>
          <a:xfrm>
            <a:off x="8979408" y="3364992"/>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Was the client put ahead of the desk?</a:t>
            </a:r>
            <a:endParaRPr lang="en-US" sz="1150" dirty="0"/>
          </a:p>
        </p:txBody>
      </p:sp>
      <p:sp>
        <p:nvSpPr>
          <p:cNvPr id="34" name="Shape 32"/>
          <p:cNvSpPr/>
          <p:nvPr/>
        </p:nvSpPr>
        <p:spPr>
          <a:xfrm>
            <a:off x="566928" y="4242816"/>
            <a:ext cx="3547872" cy="1225296"/>
          </a:xfrm>
          <a:prstGeom prst="roundRect">
            <a:avLst>
              <a:gd name="adj" fmla="val 5224"/>
            </a:avLst>
          </a:prstGeom>
          <a:solidFill>
            <a:srgbClr val="E8ECF3"/>
          </a:solidFill>
          <a:ln w="12700">
            <a:solidFill>
              <a:srgbClr val="E8ECF3"/>
            </a:solidFill>
            <a:prstDash val="solid"/>
          </a:ln>
        </p:spPr>
      </p:sp>
      <p:sp>
        <p:nvSpPr>
          <p:cNvPr id="35" name="Shape 33"/>
          <p:cNvSpPr/>
          <p:nvPr/>
        </p:nvSpPr>
        <p:spPr>
          <a:xfrm>
            <a:off x="786384" y="4462272"/>
            <a:ext cx="566928" cy="566928"/>
          </a:xfrm>
          <a:prstGeom prst="ellipse">
            <a:avLst/>
          </a:prstGeom>
          <a:solidFill>
            <a:srgbClr val="14213D"/>
          </a:solidFill>
          <a:ln w="12700">
            <a:solidFill>
              <a:srgbClr val="14213D"/>
            </a:solidFill>
            <a:prstDash val="solid"/>
          </a:ln>
        </p:spPr>
      </p:sp>
      <p:sp>
        <p:nvSpPr>
          <p:cNvPr id="36" name="Text 34"/>
          <p:cNvSpPr/>
          <p:nvPr/>
        </p:nvSpPr>
        <p:spPr>
          <a:xfrm>
            <a:off x="786384" y="4462272"/>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4</a:t>
            </a:r>
            <a:endParaRPr lang="en-US" sz="2000" dirty="0"/>
          </a:p>
        </p:txBody>
      </p:sp>
      <p:sp>
        <p:nvSpPr>
          <p:cNvPr id="37" name="Text 35"/>
          <p:cNvSpPr/>
          <p:nvPr/>
        </p:nvSpPr>
        <p:spPr>
          <a:xfrm>
            <a:off x="1499616" y="4480560"/>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Settlement</a:t>
            </a:r>
            <a:endParaRPr lang="en-US" sz="1500" dirty="0"/>
          </a:p>
        </p:txBody>
      </p:sp>
      <p:sp>
        <p:nvSpPr>
          <p:cNvPr id="38" name="Text 36"/>
          <p:cNvSpPr/>
          <p:nvPr/>
        </p:nvSpPr>
        <p:spPr>
          <a:xfrm>
            <a:off x="1499616" y="4791456"/>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Did the money go where the trade said?</a:t>
            </a:r>
            <a:endParaRPr lang="en-US" sz="1150" dirty="0"/>
          </a:p>
        </p:txBody>
      </p:sp>
      <p:sp>
        <p:nvSpPr>
          <p:cNvPr id="39" name="Shape 37"/>
          <p:cNvSpPr/>
          <p:nvPr/>
        </p:nvSpPr>
        <p:spPr>
          <a:xfrm>
            <a:off x="4306824" y="4242816"/>
            <a:ext cx="3547872" cy="1225296"/>
          </a:xfrm>
          <a:prstGeom prst="roundRect">
            <a:avLst>
              <a:gd name="adj" fmla="val 5224"/>
            </a:avLst>
          </a:prstGeom>
          <a:solidFill>
            <a:srgbClr val="E8ECF3"/>
          </a:solidFill>
          <a:ln w="12700">
            <a:solidFill>
              <a:srgbClr val="E8ECF3"/>
            </a:solidFill>
            <a:prstDash val="solid"/>
          </a:ln>
        </p:spPr>
      </p:sp>
      <p:sp>
        <p:nvSpPr>
          <p:cNvPr id="40" name="Shape 38"/>
          <p:cNvSpPr/>
          <p:nvPr/>
        </p:nvSpPr>
        <p:spPr>
          <a:xfrm>
            <a:off x="4526280" y="4462272"/>
            <a:ext cx="566928" cy="566928"/>
          </a:xfrm>
          <a:prstGeom prst="ellipse">
            <a:avLst/>
          </a:prstGeom>
          <a:solidFill>
            <a:srgbClr val="14213D"/>
          </a:solidFill>
          <a:ln w="12700">
            <a:solidFill>
              <a:srgbClr val="14213D"/>
            </a:solidFill>
            <a:prstDash val="solid"/>
          </a:ln>
        </p:spPr>
      </p:sp>
      <p:sp>
        <p:nvSpPr>
          <p:cNvPr id="41" name="Text 39"/>
          <p:cNvSpPr/>
          <p:nvPr/>
        </p:nvSpPr>
        <p:spPr>
          <a:xfrm>
            <a:off x="4526280" y="4462272"/>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3</a:t>
            </a:r>
            <a:endParaRPr lang="en-US" sz="2000" dirty="0"/>
          </a:p>
        </p:txBody>
      </p:sp>
      <p:sp>
        <p:nvSpPr>
          <p:cNvPr id="42" name="Text 40"/>
          <p:cNvSpPr/>
          <p:nvPr/>
        </p:nvSpPr>
        <p:spPr>
          <a:xfrm>
            <a:off x="5239512" y="4480560"/>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Financing</a:t>
            </a:r>
            <a:endParaRPr lang="en-US" sz="1500" dirty="0"/>
          </a:p>
        </p:txBody>
      </p:sp>
      <p:sp>
        <p:nvSpPr>
          <p:cNvPr id="43" name="Text 41"/>
          <p:cNvSpPr/>
          <p:nvPr/>
        </p:nvSpPr>
        <p:spPr>
          <a:xfrm>
            <a:off x="5239512" y="4791456"/>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Does the funding reflect the economics?</a:t>
            </a:r>
            <a:endParaRPr lang="en-US" sz="1150" dirty="0"/>
          </a:p>
        </p:txBody>
      </p:sp>
      <p:sp>
        <p:nvSpPr>
          <p:cNvPr id="44" name="Shape 42"/>
          <p:cNvSpPr/>
          <p:nvPr/>
        </p:nvSpPr>
        <p:spPr>
          <a:xfrm>
            <a:off x="8046720" y="4242816"/>
            <a:ext cx="3547872" cy="1225296"/>
          </a:xfrm>
          <a:prstGeom prst="roundRect">
            <a:avLst>
              <a:gd name="adj" fmla="val 5224"/>
            </a:avLst>
          </a:prstGeom>
          <a:solidFill>
            <a:srgbClr val="E8ECF3"/>
          </a:solidFill>
          <a:ln w="12700">
            <a:solidFill>
              <a:srgbClr val="E8ECF3"/>
            </a:solidFill>
            <a:prstDash val="solid"/>
          </a:ln>
        </p:spPr>
      </p:sp>
      <p:sp>
        <p:nvSpPr>
          <p:cNvPr id="45" name="Shape 43"/>
          <p:cNvSpPr/>
          <p:nvPr/>
        </p:nvSpPr>
        <p:spPr>
          <a:xfrm>
            <a:off x="8266176" y="4462272"/>
            <a:ext cx="566928" cy="566928"/>
          </a:xfrm>
          <a:prstGeom prst="ellipse">
            <a:avLst/>
          </a:prstGeom>
          <a:solidFill>
            <a:srgbClr val="14213D"/>
          </a:solidFill>
          <a:ln w="12700">
            <a:solidFill>
              <a:srgbClr val="14213D"/>
            </a:solidFill>
            <a:prstDash val="solid"/>
          </a:ln>
        </p:spPr>
      </p:sp>
      <p:sp>
        <p:nvSpPr>
          <p:cNvPr id="46" name="Text 44"/>
          <p:cNvSpPr/>
          <p:nvPr/>
        </p:nvSpPr>
        <p:spPr>
          <a:xfrm>
            <a:off x="8266176" y="4462272"/>
            <a:ext cx="566928" cy="566928"/>
          </a:xfrm>
          <a:prstGeom prst="rect">
            <a:avLst/>
          </a:prstGeom>
          <a:noFill/>
          <a:ln/>
        </p:spPr>
        <p:txBody>
          <a:bodyPr wrap="square" lIns="0" tIns="0" rIns="0" bIns="0" rtlCol="0" anchor="ctr"/>
          <a:lstStyle/>
          <a:p>
            <a:pPr algn="ctr" indent="0" marL="0">
              <a:buNone/>
            </a:pPr>
            <a:r>
              <a:rPr lang="en-US" sz="2000" b="1" dirty="0">
                <a:solidFill>
                  <a:srgbClr val="E09F3E"/>
                </a:solidFill>
                <a:latin typeface="Cambria" pitchFamily="34" charset="0"/>
                <a:ea typeface="Cambria" pitchFamily="34" charset="-122"/>
                <a:cs typeface="Cambria" pitchFamily="34" charset="-120"/>
              </a:rPr>
              <a:t>3</a:t>
            </a:r>
            <a:endParaRPr lang="en-US" sz="2000" dirty="0"/>
          </a:p>
        </p:txBody>
      </p:sp>
      <p:sp>
        <p:nvSpPr>
          <p:cNvPr id="47" name="Text 45"/>
          <p:cNvSpPr/>
          <p:nvPr/>
        </p:nvSpPr>
        <p:spPr>
          <a:xfrm>
            <a:off x="8979408" y="4480560"/>
            <a:ext cx="2395728" cy="310896"/>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Information misuse</a:t>
            </a:r>
            <a:endParaRPr lang="en-US" sz="1500" dirty="0"/>
          </a:p>
        </p:txBody>
      </p:sp>
      <p:sp>
        <p:nvSpPr>
          <p:cNvPr id="48" name="Text 46"/>
          <p:cNvSpPr/>
          <p:nvPr/>
        </p:nvSpPr>
        <p:spPr>
          <a:xfrm>
            <a:off x="8979408" y="4791456"/>
            <a:ext cx="2395728" cy="54864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Did we trade on something we shouldn't have?</a:t>
            </a:r>
            <a:endParaRPr lang="en-US" sz="1150" dirty="0"/>
          </a:p>
        </p:txBody>
      </p:sp>
      <p:sp>
        <p:nvSpPr>
          <p:cNvPr id="49" name="Text 47"/>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Each category answers one question about the trade. Every rule inside it is a different way of asking that question.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HOW WE TRIAGE</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Severity is about consequence, not confidence</a:t>
            </a:r>
            <a:endParaRPr lang="en-US" sz="3000" dirty="0"/>
          </a:p>
        </p:txBody>
      </p:sp>
      <p:sp>
        <p:nvSpPr>
          <p:cNvPr id="4" name="Text 2"/>
          <p:cNvSpPr/>
          <p:nvPr/>
        </p:nvSpPr>
        <p:spPr>
          <a:xfrm>
            <a:off x="566928" y="1298448"/>
            <a:ext cx="10881360" cy="365760"/>
          </a:xfrm>
          <a:prstGeom prst="rect">
            <a:avLst/>
          </a:prstGeom>
          <a:noFill/>
          <a:ln/>
        </p:spPr>
        <p:txBody>
          <a:bodyPr wrap="square" lIns="0" tIns="0" rIns="0" bIns="0" rtlCol="0" anchor="ctr"/>
          <a:lstStyle/>
          <a:p>
            <a:pPr indent="0" marL="0">
              <a:buNone/>
            </a:pPr>
            <a:r>
              <a:rPr lang="en-US" sz="1450" dirty="0">
                <a:solidFill>
                  <a:srgbClr val="4A5568"/>
                </a:solidFill>
                <a:latin typeface="Calibri" pitchFamily="34" charset="0"/>
                <a:ea typeface="Calibri" pitchFamily="34" charset="-122"/>
                <a:cs typeface="Calibri" pitchFamily="34" charset="-120"/>
              </a:rPr>
              <a:t>Severity states what follows if the pattern is real. It is not a measure of how sure the engine is — that is what the review is for.</a:t>
            </a:r>
            <a:endParaRPr lang="en-US" sz="1450" dirty="0"/>
          </a:p>
        </p:txBody>
      </p:sp>
      <p:sp>
        <p:nvSpPr>
          <p:cNvPr id="5" name="Shape 3"/>
          <p:cNvSpPr/>
          <p:nvPr/>
        </p:nvSpPr>
        <p:spPr>
          <a:xfrm>
            <a:off x="566928" y="1828800"/>
            <a:ext cx="10881360" cy="877824"/>
          </a:xfrm>
          <a:prstGeom prst="roundRect">
            <a:avLst>
              <a:gd name="adj" fmla="val 7292"/>
            </a:avLst>
          </a:prstGeom>
          <a:solidFill>
            <a:srgbClr val="E8ECF3"/>
          </a:solidFill>
          <a:ln w="12700">
            <a:solidFill>
              <a:srgbClr val="E8ECF3"/>
            </a:solidFill>
            <a:prstDash val="solid"/>
          </a:ln>
        </p:spPr>
      </p:sp>
      <p:sp>
        <p:nvSpPr>
          <p:cNvPr id="6" name="Shape 4"/>
          <p:cNvSpPr/>
          <p:nvPr/>
        </p:nvSpPr>
        <p:spPr>
          <a:xfrm>
            <a:off x="841248" y="2066544"/>
            <a:ext cx="1225296" cy="402336"/>
          </a:xfrm>
          <a:prstGeom prst="roundRect">
            <a:avLst>
              <a:gd name="adj" fmla="val 18182"/>
            </a:avLst>
          </a:prstGeom>
          <a:solidFill>
            <a:srgbClr val="C1121F"/>
          </a:solidFill>
          <a:ln w="12700">
            <a:solidFill>
              <a:srgbClr val="C1121F"/>
            </a:solidFill>
            <a:prstDash val="solid"/>
          </a:ln>
        </p:spPr>
      </p:sp>
      <p:sp>
        <p:nvSpPr>
          <p:cNvPr id="7" name="Text 5"/>
          <p:cNvSpPr/>
          <p:nvPr/>
        </p:nvSpPr>
        <p:spPr>
          <a:xfrm>
            <a:off x="841248" y="2066544"/>
            <a:ext cx="1225296" cy="40233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CRITICAL</a:t>
            </a:r>
            <a:endParaRPr lang="en-US" sz="1100" dirty="0"/>
          </a:p>
        </p:txBody>
      </p:sp>
      <p:sp>
        <p:nvSpPr>
          <p:cNvPr id="8" name="Text 6"/>
          <p:cNvSpPr/>
          <p:nvPr/>
        </p:nvSpPr>
        <p:spPr>
          <a:xfrm>
            <a:off x="2231136" y="2084832"/>
            <a:ext cx="128016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15 rules</a:t>
            </a:r>
            <a:endParaRPr lang="en-US" sz="1600" dirty="0"/>
          </a:p>
        </p:txBody>
      </p:sp>
      <p:sp>
        <p:nvSpPr>
          <p:cNvPr id="9" name="Text 7"/>
          <p:cNvSpPr/>
          <p:nvPr/>
        </p:nvSpPr>
        <p:spPr>
          <a:xfrm>
            <a:off x="3584448" y="2084832"/>
            <a:ext cx="4663440" cy="365760"/>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Conduct that would be reportable if substantiated.</a:t>
            </a:r>
            <a:endParaRPr lang="en-US" sz="1300" dirty="0"/>
          </a:p>
        </p:txBody>
      </p:sp>
      <p:sp>
        <p:nvSpPr>
          <p:cNvPr id="10" name="Text 8"/>
          <p:cNvSpPr/>
          <p:nvPr/>
        </p:nvSpPr>
        <p:spPr>
          <a:xfrm>
            <a:off x="8339328" y="2084832"/>
            <a:ext cx="3017520" cy="365760"/>
          </a:xfrm>
          <a:prstGeom prst="rect">
            <a:avLst/>
          </a:prstGeom>
          <a:noFill/>
          <a:ln/>
        </p:spPr>
        <p:txBody>
          <a:bodyPr wrap="square" lIns="0" tIns="0" rIns="0" bIns="0"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Disposition inside 3 business days</a:t>
            </a:r>
            <a:endParaRPr lang="en-US" sz="1200" dirty="0"/>
          </a:p>
        </p:txBody>
      </p:sp>
      <p:sp>
        <p:nvSpPr>
          <p:cNvPr id="11" name="Shape 9"/>
          <p:cNvSpPr/>
          <p:nvPr/>
        </p:nvSpPr>
        <p:spPr>
          <a:xfrm>
            <a:off x="566928" y="2871216"/>
            <a:ext cx="10881360" cy="877824"/>
          </a:xfrm>
          <a:prstGeom prst="roundRect">
            <a:avLst>
              <a:gd name="adj" fmla="val 7292"/>
            </a:avLst>
          </a:prstGeom>
          <a:solidFill>
            <a:srgbClr val="F6F8FB"/>
          </a:solidFill>
          <a:ln w="12700">
            <a:solidFill>
              <a:srgbClr val="F6F8FB"/>
            </a:solidFill>
            <a:prstDash val="solid"/>
          </a:ln>
        </p:spPr>
      </p:sp>
      <p:sp>
        <p:nvSpPr>
          <p:cNvPr id="12" name="Shape 10"/>
          <p:cNvSpPr/>
          <p:nvPr/>
        </p:nvSpPr>
        <p:spPr>
          <a:xfrm>
            <a:off x="841248" y="3108960"/>
            <a:ext cx="1225296" cy="402336"/>
          </a:xfrm>
          <a:prstGeom prst="roundRect">
            <a:avLst>
              <a:gd name="adj" fmla="val 18182"/>
            </a:avLst>
          </a:prstGeom>
          <a:solidFill>
            <a:srgbClr val="E09F3E"/>
          </a:solidFill>
          <a:ln w="12700">
            <a:solidFill>
              <a:srgbClr val="E09F3E"/>
            </a:solidFill>
            <a:prstDash val="solid"/>
          </a:ln>
        </p:spPr>
      </p:sp>
      <p:sp>
        <p:nvSpPr>
          <p:cNvPr id="13" name="Text 11"/>
          <p:cNvSpPr/>
          <p:nvPr/>
        </p:nvSpPr>
        <p:spPr>
          <a:xfrm>
            <a:off x="841248" y="3108960"/>
            <a:ext cx="1225296" cy="40233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HIGH</a:t>
            </a:r>
            <a:endParaRPr lang="en-US" sz="1100" dirty="0"/>
          </a:p>
        </p:txBody>
      </p:sp>
      <p:sp>
        <p:nvSpPr>
          <p:cNvPr id="14" name="Text 12"/>
          <p:cNvSpPr/>
          <p:nvPr/>
        </p:nvSpPr>
        <p:spPr>
          <a:xfrm>
            <a:off x="2231136" y="3127248"/>
            <a:ext cx="128016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27 rules</a:t>
            </a:r>
            <a:endParaRPr lang="en-US" sz="1600" dirty="0"/>
          </a:p>
        </p:txBody>
      </p:sp>
      <p:sp>
        <p:nvSpPr>
          <p:cNvPr id="15" name="Text 13"/>
          <p:cNvSpPr/>
          <p:nvPr/>
        </p:nvSpPr>
        <p:spPr>
          <a:xfrm>
            <a:off x="3584448" y="3127248"/>
            <a:ext cx="4663440" cy="365760"/>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Material client, market or valuation harm.</a:t>
            </a:r>
            <a:endParaRPr lang="en-US" sz="1300" dirty="0"/>
          </a:p>
        </p:txBody>
      </p:sp>
      <p:sp>
        <p:nvSpPr>
          <p:cNvPr id="16" name="Text 14"/>
          <p:cNvSpPr/>
          <p:nvPr/>
        </p:nvSpPr>
        <p:spPr>
          <a:xfrm>
            <a:off x="8339328" y="3127248"/>
            <a:ext cx="3017520" cy="365760"/>
          </a:xfrm>
          <a:prstGeom prst="rect">
            <a:avLst/>
          </a:prstGeom>
          <a:noFill/>
          <a:ln/>
        </p:spPr>
        <p:txBody>
          <a:bodyPr wrap="square" lIns="0" tIns="0" rIns="0" bIns="0"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Disposition inside 3 business days</a:t>
            </a:r>
            <a:endParaRPr lang="en-US" sz="1200" dirty="0"/>
          </a:p>
        </p:txBody>
      </p:sp>
      <p:sp>
        <p:nvSpPr>
          <p:cNvPr id="17" name="Shape 15"/>
          <p:cNvSpPr/>
          <p:nvPr/>
        </p:nvSpPr>
        <p:spPr>
          <a:xfrm>
            <a:off x="566928" y="3913632"/>
            <a:ext cx="10881360" cy="877824"/>
          </a:xfrm>
          <a:prstGeom prst="roundRect">
            <a:avLst>
              <a:gd name="adj" fmla="val 7292"/>
            </a:avLst>
          </a:prstGeom>
          <a:solidFill>
            <a:srgbClr val="E8ECF3"/>
          </a:solidFill>
          <a:ln w="12700">
            <a:solidFill>
              <a:srgbClr val="E8ECF3"/>
            </a:solidFill>
            <a:prstDash val="solid"/>
          </a:ln>
        </p:spPr>
      </p:sp>
      <p:sp>
        <p:nvSpPr>
          <p:cNvPr id="18" name="Shape 16"/>
          <p:cNvSpPr/>
          <p:nvPr/>
        </p:nvSpPr>
        <p:spPr>
          <a:xfrm>
            <a:off x="841248" y="4151376"/>
            <a:ext cx="1225296" cy="402336"/>
          </a:xfrm>
          <a:prstGeom prst="roundRect">
            <a:avLst>
              <a:gd name="adj" fmla="val 18182"/>
            </a:avLst>
          </a:prstGeom>
          <a:solidFill>
            <a:srgbClr val="335C81"/>
          </a:solidFill>
          <a:ln w="12700">
            <a:solidFill>
              <a:srgbClr val="335C81"/>
            </a:solidFill>
            <a:prstDash val="solid"/>
          </a:ln>
        </p:spPr>
      </p:sp>
      <p:sp>
        <p:nvSpPr>
          <p:cNvPr id="19" name="Text 17"/>
          <p:cNvSpPr/>
          <p:nvPr/>
        </p:nvSpPr>
        <p:spPr>
          <a:xfrm>
            <a:off x="841248" y="4151376"/>
            <a:ext cx="1225296" cy="40233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MEDIUM</a:t>
            </a:r>
            <a:endParaRPr lang="en-US" sz="1100" dirty="0"/>
          </a:p>
        </p:txBody>
      </p:sp>
      <p:sp>
        <p:nvSpPr>
          <p:cNvPr id="20" name="Text 18"/>
          <p:cNvSpPr/>
          <p:nvPr/>
        </p:nvSpPr>
        <p:spPr>
          <a:xfrm>
            <a:off x="2231136" y="4169664"/>
            <a:ext cx="128016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16 rules</a:t>
            </a:r>
            <a:endParaRPr lang="en-US" sz="1600" dirty="0"/>
          </a:p>
        </p:txBody>
      </p:sp>
      <p:sp>
        <p:nvSpPr>
          <p:cNvPr id="21" name="Text 19"/>
          <p:cNvSpPr/>
          <p:nvPr/>
        </p:nvSpPr>
        <p:spPr>
          <a:xfrm>
            <a:off x="3584448" y="4169664"/>
            <a:ext cx="4663440" cy="365760"/>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A control has failed. Investigated, not assumed to be misconduct.</a:t>
            </a:r>
            <a:endParaRPr lang="en-US" sz="1300" dirty="0"/>
          </a:p>
        </p:txBody>
      </p:sp>
      <p:sp>
        <p:nvSpPr>
          <p:cNvPr id="22" name="Text 20"/>
          <p:cNvSpPr/>
          <p:nvPr/>
        </p:nvSpPr>
        <p:spPr>
          <a:xfrm>
            <a:off x="8339328" y="4169664"/>
            <a:ext cx="3017520" cy="365760"/>
          </a:xfrm>
          <a:prstGeom prst="rect">
            <a:avLst/>
          </a:prstGeom>
          <a:noFill/>
          <a:ln/>
        </p:spPr>
        <p:txBody>
          <a:bodyPr wrap="square" lIns="0" tIns="0" rIns="0" bIns="0"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Reviewed in the weekly cycle</a:t>
            </a:r>
            <a:endParaRPr lang="en-US" sz="1200" dirty="0"/>
          </a:p>
        </p:txBody>
      </p:sp>
      <p:sp>
        <p:nvSpPr>
          <p:cNvPr id="23" name="Text 21"/>
          <p:cNvSpPr/>
          <p:nvPr/>
        </p:nvSpPr>
        <p:spPr>
          <a:xfrm>
            <a:off x="566928" y="5138928"/>
            <a:ext cx="10881360" cy="640080"/>
          </a:xfrm>
          <a:prstGeom prst="rect">
            <a:avLst/>
          </a:prstGeom>
          <a:noFill/>
          <a:ln/>
        </p:spPr>
        <p:txBody>
          <a:bodyPr wrap="square" lIns="0" tIns="0" rIns="0" bIns="0" rtlCol="0" anchor="ctr"/>
          <a:lstStyle/>
          <a:p>
            <a:pPr indent="0" marL="0">
              <a:buNone/>
            </a:pPr>
            <a:r>
              <a:rPr lang="en-US" sz="1450" i="1" dirty="0">
                <a:solidFill>
                  <a:srgbClr val="14213D"/>
                </a:solidFill>
                <a:latin typeface="Cambria" pitchFamily="34" charset="0"/>
                <a:ea typeface="Cambria" pitchFamily="34" charset="-122"/>
                <a:cs typeface="Cambria" pitchFamily="34" charset="-120"/>
              </a:rPr>
              <a:t>Roughly half of all alerts are explained on first review. That is the design working — a rule set that never fires on a legitimate book has its thresholds set too high to catch anything.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6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Pricing</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Six tests on the distance between the price printed and the price the market was showing at that second.</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E09F3E"/>
          </a:solidFill>
          <a:ln w="12700">
            <a:solidFill>
              <a:srgbClr val="E09F3E"/>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TS-01</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Off-market rate execution</a:t>
            </a:r>
            <a:endParaRPr lang="en-US" sz="128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|traded px − market mid| &gt; max(8 × the instrument's own dealing spread, the family floor) AND notional &gt; 3× this…</a:t>
            </a:r>
            <a:endParaRPr lang="en-US" sz="108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instrument's own spread and…</a:t>
            </a:r>
            <a:endParaRPr lang="en-US" sz="1020" dirty="0"/>
          </a:p>
        </p:txBody>
      </p:sp>
      <p:sp>
        <p:nvSpPr>
          <p:cNvPr id="11" name="Shape 9"/>
          <p:cNvSpPr/>
          <p:nvPr/>
        </p:nvSpPr>
        <p:spPr>
          <a:xfrm>
            <a:off x="676656" y="2459736"/>
            <a:ext cx="603504" cy="214884"/>
          </a:xfrm>
          <a:prstGeom prst="roundRect">
            <a:avLst>
              <a:gd name="adj" fmla="val 25532"/>
            </a:avLst>
          </a:prstGeom>
          <a:solidFill>
            <a:srgbClr val="E09F3E"/>
          </a:solidFill>
          <a:ln w="12700">
            <a:solidFill>
              <a:srgbClr val="E09F3E"/>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TS-15</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Off-market volatility on FX options</a:t>
            </a:r>
            <a:endParaRPr lang="en-US" sz="128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|quoted vol − the surface for that pair and tenor on the trade date| &gt; 2.0 vols, on a notional &gt; 2× this trader's…</a:t>
            </a:r>
            <a:endParaRPr lang="en-US" sz="108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published surface on the day…</a:t>
            </a:r>
            <a:endParaRPr lang="en-US" sz="102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E09F3E"/>
          </a:solidFill>
          <a:ln w="12700">
            <a:solidFill>
              <a:srgbClr val="E09F3E"/>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TS-21</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Off-market forward points</a:t>
            </a:r>
            <a:endParaRPr lang="en-US" sz="128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|traded fwd points − curve-implied points| &gt; 18 bps of the outright AND notional &gt; 2× this trader's median ticket</a:t>
            </a:r>
            <a:endParaRPr lang="en-US" sz="108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Curve-implied points; size scaled…</a:t>
            </a:r>
            <a:endParaRPr lang="en-US" sz="1020" dirty="0"/>
          </a:p>
        </p:txBody>
      </p:sp>
      <p:sp>
        <p:nvSpPr>
          <p:cNvPr id="22" name="Shape 20"/>
          <p:cNvSpPr/>
          <p:nvPr/>
        </p:nvSpPr>
        <p:spPr>
          <a:xfrm>
            <a:off x="676656" y="3593592"/>
            <a:ext cx="603504" cy="214884"/>
          </a:xfrm>
          <a:prstGeom prst="roundRect">
            <a:avLst>
              <a:gd name="adj" fmla="val 25532"/>
            </a:avLst>
          </a:prstGeom>
          <a:solidFill>
            <a:srgbClr val="E09F3E"/>
          </a:solidFill>
          <a:ln w="12700">
            <a:solidFill>
              <a:srgbClr val="E09F3E"/>
            </a:solidFill>
            <a:prstDash val="solid"/>
          </a:ln>
        </p:spPr>
      </p:sp>
      <p:sp>
        <p:nvSpPr>
          <p:cNvPr id="23" name="Text 21"/>
          <p:cNvSpPr/>
          <p:nvPr/>
        </p:nvSpPr>
        <p:spPr>
          <a:xfrm>
            <a:off x="676656" y="359359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TS-22</a:t>
            </a:r>
            <a:endParaRPr lang="en-US" sz="950" dirty="0"/>
          </a:p>
        </p:txBody>
      </p:sp>
      <p:sp>
        <p:nvSpPr>
          <p:cNvPr id="24" name="Text 22"/>
          <p:cNvSpPr/>
          <p:nvPr/>
        </p:nvSpPr>
        <p:spPr>
          <a:xfrm>
            <a:off x="1408176" y="3456432"/>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Persistent price improvement to one counterparty</a:t>
            </a:r>
            <a:endParaRPr lang="en-US" sz="1280" dirty="0"/>
          </a:p>
        </p:txBody>
      </p:sp>
      <p:sp>
        <p:nvSpPr>
          <p:cNvPr id="25" name="Text 23"/>
          <p:cNvSpPr/>
          <p:nvPr/>
        </p:nvSpPr>
        <p:spPr>
          <a:xfrm>
            <a:off x="5276088" y="3456432"/>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≥8 trades with one counterparty over 20 business days, mean execution favouring that counterparty by &gt;6 bps, against…</a:t>
            </a:r>
            <a:endParaRPr lang="en-US" sz="1080" dirty="0"/>
          </a:p>
        </p:txBody>
      </p:sp>
      <p:sp>
        <p:nvSpPr>
          <p:cNvPr id="26" name="Text 24"/>
          <p:cNvSpPr/>
          <p:nvPr/>
        </p:nvSpPr>
        <p:spPr>
          <a:xfrm>
            <a:off x="10259568" y="3456432"/>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execution…</a:t>
            </a:r>
            <a:endParaRPr lang="en-US" sz="1020" dirty="0"/>
          </a:p>
        </p:txBody>
      </p:sp>
      <p:sp>
        <p:nvSpPr>
          <p:cNvPr id="27" name="Shape 25"/>
          <p:cNvSpPr/>
          <p:nvPr/>
        </p:nvSpPr>
        <p:spPr>
          <a:xfrm>
            <a:off x="566928" y="4005072"/>
            <a:ext cx="10881360" cy="530352"/>
          </a:xfrm>
          <a:prstGeom prst="rect">
            <a:avLst/>
          </a:prstGeom>
          <a:solidFill>
            <a:srgbClr val="F6F8FB"/>
          </a:solidFill>
          <a:ln w="12700">
            <a:solidFill>
              <a:srgbClr val="F6F8FB"/>
            </a:solidFill>
            <a:prstDash val="solid"/>
          </a:ln>
        </p:spPr>
      </p:sp>
      <p:sp>
        <p:nvSpPr>
          <p:cNvPr id="28" name="Shape 26"/>
          <p:cNvSpPr/>
          <p:nvPr/>
        </p:nvSpPr>
        <p:spPr>
          <a:xfrm>
            <a:off x="676656" y="4160520"/>
            <a:ext cx="603504" cy="214884"/>
          </a:xfrm>
          <a:prstGeom prst="roundRect">
            <a:avLst>
              <a:gd name="adj" fmla="val 25532"/>
            </a:avLst>
          </a:prstGeom>
          <a:solidFill>
            <a:srgbClr val="E09F3E"/>
          </a:solidFill>
          <a:ln w="12700">
            <a:solidFill>
              <a:srgbClr val="E09F3E"/>
            </a:solidFill>
            <a:prstDash val="solid"/>
          </a:ln>
        </p:spPr>
      </p:sp>
      <p:sp>
        <p:nvSpPr>
          <p:cNvPr id="29" name="Text 27"/>
          <p:cNvSpPr/>
          <p:nvPr/>
        </p:nvSpPr>
        <p:spPr>
          <a:xfrm>
            <a:off x="676656" y="416052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TS-23</a:t>
            </a:r>
            <a:endParaRPr lang="en-US" sz="950" dirty="0"/>
          </a:p>
        </p:txBody>
      </p:sp>
      <p:sp>
        <p:nvSpPr>
          <p:cNvPr id="30" name="Text 28"/>
          <p:cNvSpPr/>
          <p:nvPr/>
        </p:nvSpPr>
        <p:spPr>
          <a:xfrm>
            <a:off x="1408176" y="4023360"/>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Off-market NDF fixing rate</a:t>
            </a:r>
            <a:endParaRPr lang="en-US" sz="1280" dirty="0"/>
          </a:p>
        </p:txBody>
      </p:sp>
      <p:sp>
        <p:nvSpPr>
          <p:cNvPr id="31" name="Text 29"/>
          <p:cNvSpPr/>
          <p:nvPr/>
        </p:nvSpPr>
        <p:spPr>
          <a:xfrm>
            <a:off x="5276088" y="4023360"/>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|settlement rate − published fixing| &gt; 20 bps on an NDF, with the difference in the trader's own favour</a:t>
            </a:r>
            <a:endParaRPr lang="en-US" sz="1080" dirty="0"/>
          </a:p>
        </p:txBody>
      </p:sp>
      <p:sp>
        <p:nvSpPr>
          <p:cNvPr id="32" name="Text 30"/>
          <p:cNvSpPr/>
          <p:nvPr/>
        </p:nvSpPr>
        <p:spPr>
          <a:xfrm>
            <a:off x="10259568" y="4023360"/>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Published official fixing for the…</a:t>
            </a:r>
            <a:endParaRPr lang="en-US" sz="1020" dirty="0"/>
          </a:p>
        </p:txBody>
      </p:sp>
      <p:sp>
        <p:nvSpPr>
          <p:cNvPr id="33" name="Shape 31"/>
          <p:cNvSpPr/>
          <p:nvPr/>
        </p:nvSpPr>
        <p:spPr>
          <a:xfrm>
            <a:off x="676656" y="4727448"/>
            <a:ext cx="603504" cy="214884"/>
          </a:xfrm>
          <a:prstGeom prst="roundRect">
            <a:avLst>
              <a:gd name="adj" fmla="val 25532"/>
            </a:avLst>
          </a:prstGeom>
          <a:solidFill>
            <a:srgbClr val="335C81"/>
          </a:solidFill>
          <a:ln w="12700">
            <a:solidFill>
              <a:srgbClr val="335C81"/>
            </a:solidFill>
            <a:prstDash val="solid"/>
          </a:ln>
        </p:spPr>
      </p:sp>
      <p:sp>
        <p:nvSpPr>
          <p:cNvPr id="34" name="Text 32"/>
          <p:cNvSpPr/>
          <p:nvPr/>
        </p:nvSpPr>
        <p:spPr>
          <a:xfrm>
            <a:off x="676656" y="472744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TS-24</a:t>
            </a:r>
            <a:endParaRPr lang="en-US" sz="950" dirty="0"/>
          </a:p>
        </p:txBody>
      </p:sp>
      <p:sp>
        <p:nvSpPr>
          <p:cNvPr id="35" name="Text 33"/>
          <p:cNvSpPr/>
          <p:nvPr/>
        </p:nvSpPr>
        <p:spPr>
          <a:xfrm>
            <a:off x="1408176" y="4590288"/>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Execution at the session extreme</a:t>
            </a:r>
            <a:endParaRPr lang="en-US" sz="1280" dirty="0"/>
          </a:p>
        </p:txBody>
      </p:sp>
      <p:sp>
        <p:nvSpPr>
          <p:cNvPr id="36" name="Text 34"/>
          <p:cNvSpPr/>
          <p:nvPr/>
        </p:nvSpPr>
        <p:spPr>
          <a:xfrm>
            <a:off x="5276088" y="4590288"/>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≥4 trades in a session priced within 2 bps of the day's extreme in the trader's favour, against an expected ≤1 for…</a:t>
            </a:r>
            <a:endParaRPr lang="en-US" sz="1080" dirty="0"/>
          </a:p>
        </p:txBody>
      </p:sp>
      <p:sp>
        <p:nvSpPr>
          <p:cNvPr id="37" name="Text 35"/>
          <p:cNvSpPr/>
          <p:nvPr/>
        </p:nvSpPr>
        <p:spPr>
          <a:xfrm>
            <a:off x="10259568" y="4590288"/>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intraday range…</a:t>
            </a:r>
            <a:endParaRPr lang="en-US" sz="1020" dirty="0"/>
          </a:p>
        </p:txBody>
      </p:sp>
      <p:sp>
        <p:nvSpPr>
          <p:cNvPr id="38" name="Text 36"/>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7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Market conduct</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Seven tests on trading that moves, or attempts to move, a price or a published benchmark.</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E09F3E"/>
          </a:solidFill>
          <a:ln w="12700">
            <a:solidFill>
              <a:srgbClr val="E09F3E"/>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TS-04</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Wash trade — offsetting pair</a:t>
            </a:r>
            <a:endParaRPr lang="en-US" sz="128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same trader, opposite direction, same instrument, notional match within 1%, executed &lt;60 min apart, |net P&amp;L| &lt; $5k</a:t>
            </a:r>
            <a:endParaRPr lang="en-US" sz="108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paired legs</a:t>
            </a:r>
            <a:endParaRPr lang="en-US" sz="1020" dirty="0"/>
          </a:p>
        </p:txBody>
      </p:sp>
      <p:sp>
        <p:nvSpPr>
          <p:cNvPr id="11" name="Shape 9"/>
          <p:cNvSpPr/>
          <p:nvPr/>
        </p:nvSpPr>
        <p:spPr>
          <a:xfrm>
            <a:off x="676656" y="2459736"/>
            <a:ext cx="603504" cy="214884"/>
          </a:xfrm>
          <a:prstGeom prst="roundRect">
            <a:avLst>
              <a:gd name="adj" fmla="val 25532"/>
            </a:avLst>
          </a:prstGeom>
          <a:solidFill>
            <a:srgbClr val="E09F3E"/>
          </a:solidFill>
          <a:ln w="12700">
            <a:solidFill>
              <a:srgbClr val="E09F3E"/>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TS-05</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Circular / round-trip trading</a:t>
            </a:r>
            <a:endParaRPr lang="en-US" sz="128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≥3 legs by the same trader, same instrument, notional match within 2%, chain closes within 5 business days</a:t>
            </a:r>
            <a:endParaRPr lang="en-US" sz="108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book, opening…</a:t>
            </a:r>
            <a:endParaRPr lang="en-US" sz="102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C1121F"/>
          </a:solidFill>
          <a:ln w="12700">
            <a:solidFill>
              <a:srgbClr val="C1121F"/>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TS-10</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Marking the close / fixing window concentration</a:t>
            </a:r>
            <a:endParaRPr lang="en-US" sz="128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volume inside the applicable fixing window for the pair (WM/R 16:00 London — five minutes for majors, one for the…</a:t>
            </a:r>
            <a:endParaRPr lang="en-US" sz="108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daily volume in…</a:t>
            </a:r>
            <a:endParaRPr lang="en-US" sz="1020" dirty="0"/>
          </a:p>
        </p:txBody>
      </p:sp>
      <p:sp>
        <p:nvSpPr>
          <p:cNvPr id="22" name="Shape 20"/>
          <p:cNvSpPr/>
          <p:nvPr/>
        </p:nvSpPr>
        <p:spPr>
          <a:xfrm>
            <a:off x="676656" y="3593592"/>
            <a:ext cx="603504" cy="214884"/>
          </a:xfrm>
          <a:prstGeom prst="roundRect">
            <a:avLst>
              <a:gd name="adj" fmla="val 25532"/>
            </a:avLst>
          </a:prstGeom>
          <a:solidFill>
            <a:srgbClr val="C1121F"/>
          </a:solidFill>
          <a:ln w="12700">
            <a:solidFill>
              <a:srgbClr val="C1121F"/>
            </a:solidFill>
            <a:prstDash val="solid"/>
          </a:ln>
        </p:spPr>
      </p:sp>
      <p:sp>
        <p:nvSpPr>
          <p:cNvPr id="23" name="Text 21"/>
          <p:cNvSpPr/>
          <p:nvPr/>
        </p:nvSpPr>
        <p:spPr>
          <a:xfrm>
            <a:off x="676656" y="359359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TS-30</a:t>
            </a:r>
            <a:endParaRPr lang="en-US" sz="950" dirty="0"/>
          </a:p>
        </p:txBody>
      </p:sp>
      <p:sp>
        <p:nvSpPr>
          <p:cNvPr id="24" name="Text 22"/>
          <p:cNvSpPr/>
          <p:nvPr/>
        </p:nvSpPr>
        <p:spPr>
          <a:xfrm>
            <a:off x="1408176" y="3456432"/>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Layering — cancel-to-trade ratio</a:t>
            </a:r>
            <a:endParaRPr lang="en-US" sz="1280" dirty="0"/>
          </a:p>
        </p:txBody>
      </p:sp>
      <p:sp>
        <p:nvSpPr>
          <p:cNvPr id="25" name="Text 23"/>
          <p:cNvSpPr/>
          <p:nvPr/>
        </p:nvSpPr>
        <p:spPr>
          <a:xfrm>
            <a:off x="5276088" y="3456432"/>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cancel-to-trade ratio &gt; 20:1 in a session on one venue, AND the cancelled orders resting on the opposite side to the…</a:t>
            </a:r>
            <a:endParaRPr lang="en-US" sz="1080" dirty="0"/>
          </a:p>
        </p:txBody>
      </p:sp>
      <p:sp>
        <p:nvSpPr>
          <p:cNvPr id="26" name="Text 24"/>
          <p:cNvSpPr/>
          <p:nvPr/>
        </p:nvSpPr>
        <p:spPr>
          <a:xfrm>
            <a:off x="10259568" y="3456432"/>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cancel-to-trade…</a:t>
            </a:r>
            <a:endParaRPr lang="en-US" sz="1020" dirty="0"/>
          </a:p>
        </p:txBody>
      </p:sp>
      <p:sp>
        <p:nvSpPr>
          <p:cNvPr id="27" name="Shape 25"/>
          <p:cNvSpPr/>
          <p:nvPr/>
        </p:nvSpPr>
        <p:spPr>
          <a:xfrm>
            <a:off x="566928" y="4005072"/>
            <a:ext cx="10881360" cy="530352"/>
          </a:xfrm>
          <a:prstGeom prst="rect">
            <a:avLst/>
          </a:prstGeom>
          <a:solidFill>
            <a:srgbClr val="F6F8FB"/>
          </a:solidFill>
          <a:ln w="12700">
            <a:solidFill>
              <a:srgbClr val="F6F8FB"/>
            </a:solidFill>
            <a:prstDash val="solid"/>
          </a:ln>
        </p:spPr>
      </p:sp>
      <p:sp>
        <p:nvSpPr>
          <p:cNvPr id="28" name="Shape 26"/>
          <p:cNvSpPr/>
          <p:nvPr/>
        </p:nvSpPr>
        <p:spPr>
          <a:xfrm>
            <a:off x="676656" y="4160520"/>
            <a:ext cx="603504" cy="214884"/>
          </a:xfrm>
          <a:prstGeom prst="roundRect">
            <a:avLst>
              <a:gd name="adj" fmla="val 25532"/>
            </a:avLst>
          </a:prstGeom>
          <a:solidFill>
            <a:srgbClr val="C1121F"/>
          </a:solidFill>
          <a:ln w="12700">
            <a:solidFill>
              <a:srgbClr val="C1121F"/>
            </a:solidFill>
            <a:prstDash val="solid"/>
          </a:ln>
        </p:spPr>
      </p:sp>
      <p:sp>
        <p:nvSpPr>
          <p:cNvPr id="29" name="Text 27"/>
          <p:cNvSpPr/>
          <p:nvPr/>
        </p:nvSpPr>
        <p:spPr>
          <a:xfrm>
            <a:off x="676656" y="416052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TS-31</a:t>
            </a:r>
            <a:endParaRPr lang="en-US" sz="950" dirty="0"/>
          </a:p>
        </p:txBody>
      </p:sp>
      <p:sp>
        <p:nvSpPr>
          <p:cNvPr id="30" name="Text 28"/>
          <p:cNvSpPr/>
          <p:nvPr/>
        </p:nvSpPr>
        <p:spPr>
          <a:xfrm>
            <a:off x="1408176" y="4023360"/>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Momentum ignition</a:t>
            </a:r>
            <a:endParaRPr lang="en-US" sz="1280" dirty="0"/>
          </a:p>
        </p:txBody>
      </p:sp>
      <p:sp>
        <p:nvSpPr>
          <p:cNvPr id="31" name="Text 29"/>
          <p:cNvSpPr/>
          <p:nvPr/>
        </p:nvSpPr>
        <p:spPr>
          <a:xfrm>
            <a:off x="5276088" y="4023360"/>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≥5 same-direction trades within 6 min moving the mid &gt;8 bps, reversed by the same trader within 30 min</a:t>
            </a:r>
            <a:endParaRPr lang="en-US" sz="1080" dirty="0"/>
          </a:p>
        </p:txBody>
      </p:sp>
      <p:sp>
        <p:nvSpPr>
          <p:cNvPr id="32" name="Text 30"/>
          <p:cNvSpPr/>
          <p:nvPr/>
        </p:nvSpPr>
        <p:spPr>
          <a:xfrm>
            <a:off x="10259568" y="4023360"/>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prints, in both…</a:t>
            </a:r>
            <a:endParaRPr lang="en-US" sz="1020" dirty="0"/>
          </a:p>
        </p:txBody>
      </p:sp>
      <p:sp>
        <p:nvSpPr>
          <p:cNvPr id="33" name="Shape 31"/>
          <p:cNvSpPr/>
          <p:nvPr/>
        </p:nvSpPr>
        <p:spPr>
          <a:xfrm>
            <a:off x="676656" y="4727448"/>
            <a:ext cx="603504" cy="214884"/>
          </a:xfrm>
          <a:prstGeom prst="roundRect">
            <a:avLst>
              <a:gd name="adj" fmla="val 25532"/>
            </a:avLst>
          </a:prstGeom>
          <a:solidFill>
            <a:srgbClr val="E09F3E"/>
          </a:solidFill>
          <a:ln w="12700">
            <a:solidFill>
              <a:srgbClr val="E09F3E"/>
            </a:solidFill>
            <a:prstDash val="solid"/>
          </a:ln>
        </p:spPr>
      </p:sp>
      <p:sp>
        <p:nvSpPr>
          <p:cNvPr id="34" name="Text 32"/>
          <p:cNvSpPr/>
          <p:nvPr/>
        </p:nvSpPr>
        <p:spPr>
          <a:xfrm>
            <a:off x="676656" y="472744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TS-32</a:t>
            </a:r>
            <a:endParaRPr lang="en-US" sz="950" dirty="0"/>
          </a:p>
        </p:txBody>
      </p:sp>
      <p:sp>
        <p:nvSpPr>
          <p:cNvPr id="35" name="Text 33"/>
          <p:cNvSpPr/>
          <p:nvPr/>
        </p:nvSpPr>
        <p:spPr>
          <a:xfrm>
            <a:off x="1408176" y="4590288"/>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Closing-price influence</a:t>
            </a:r>
            <a:endParaRPr lang="en-US" sz="1280" dirty="0"/>
          </a:p>
        </p:txBody>
      </p:sp>
      <p:sp>
        <p:nvSpPr>
          <p:cNvPr id="36" name="Text 34"/>
          <p:cNvSpPr/>
          <p:nvPr/>
        </p:nvSpPr>
        <p:spPr>
          <a:xfrm>
            <a:off x="5276088" y="4590288"/>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&gt; 35% of this trader's daily volume in the last 15 minutes of their own session, one-directional</a:t>
            </a:r>
            <a:endParaRPr lang="en-US" sz="1080" dirty="0"/>
          </a:p>
        </p:txBody>
      </p:sp>
      <p:sp>
        <p:nvSpPr>
          <p:cNvPr id="37" name="Text 35"/>
          <p:cNvSpPr/>
          <p:nvPr/>
        </p:nvSpPr>
        <p:spPr>
          <a:xfrm>
            <a:off x="10259568" y="4590288"/>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trader's own daily volume and…</a:t>
            </a:r>
            <a:endParaRPr lang="en-US" sz="1020" dirty="0"/>
          </a:p>
        </p:txBody>
      </p:sp>
      <p:sp>
        <p:nvSpPr>
          <p:cNvPr id="38" name="Shape 36"/>
          <p:cNvSpPr/>
          <p:nvPr/>
        </p:nvSpPr>
        <p:spPr>
          <a:xfrm>
            <a:off x="566928" y="5138928"/>
            <a:ext cx="10881360" cy="530352"/>
          </a:xfrm>
          <a:prstGeom prst="rect">
            <a:avLst/>
          </a:prstGeom>
          <a:solidFill>
            <a:srgbClr val="F6F8FB"/>
          </a:solidFill>
          <a:ln w="12700">
            <a:solidFill>
              <a:srgbClr val="F6F8FB"/>
            </a:solidFill>
            <a:prstDash val="solid"/>
          </a:ln>
        </p:spPr>
      </p:sp>
      <p:sp>
        <p:nvSpPr>
          <p:cNvPr id="39" name="Shape 37"/>
          <p:cNvSpPr/>
          <p:nvPr/>
        </p:nvSpPr>
        <p:spPr>
          <a:xfrm>
            <a:off x="676656" y="5294376"/>
            <a:ext cx="603504" cy="214884"/>
          </a:xfrm>
          <a:prstGeom prst="roundRect">
            <a:avLst>
              <a:gd name="adj" fmla="val 25532"/>
            </a:avLst>
          </a:prstGeom>
          <a:solidFill>
            <a:srgbClr val="E09F3E"/>
          </a:solidFill>
          <a:ln w="12700">
            <a:solidFill>
              <a:srgbClr val="E09F3E"/>
            </a:solidFill>
            <a:prstDash val="solid"/>
          </a:ln>
        </p:spPr>
      </p:sp>
      <p:sp>
        <p:nvSpPr>
          <p:cNvPr id="40" name="Text 38"/>
          <p:cNvSpPr/>
          <p:nvPr/>
        </p:nvSpPr>
        <p:spPr>
          <a:xfrm>
            <a:off x="676656" y="529437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TS-33</a:t>
            </a:r>
            <a:endParaRPr lang="en-US" sz="950" dirty="0"/>
          </a:p>
        </p:txBody>
      </p:sp>
      <p:sp>
        <p:nvSpPr>
          <p:cNvPr id="41" name="Text 39"/>
          <p:cNvSpPr/>
          <p:nvPr/>
        </p:nvSpPr>
        <p:spPr>
          <a:xfrm>
            <a:off x="1408176" y="5157216"/>
            <a:ext cx="3794760" cy="493776"/>
          </a:xfrm>
          <a:prstGeom prst="rect">
            <a:avLst/>
          </a:prstGeom>
          <a:noFill/>
          <a:ln/>
        </p:spPr>
        <p:txBody>
          <a:bodyPr wrap="square" lIns="0" tIns="0" rIns="0" bIns="0" rtlCol="0" anchor="ctr"/>
          <a:lstStyle/>
          <a:p>
            <a:pPr indent="0" marL="0">
              <a:buNone/>
            </a:pPr>
            <a:r>
              <a:rPr lang="en-US" sz="1280" b="1" dirty="0">
                <a:solidFill>
                  <a:srgbClr val="14213D"/>
                </a:solidFill>
                <a:latin typeface="Calibri" pitchFamily="34" charset="0"/>
                <a:ea typeface="Calibri" pitchFamily="34" charset="-122"/>
                <a:cs typeface="Calibri" pitchFamily="34" charset="-120"/>
              </a:rPr>
              <a:t>Client cross at an off-market price</a:t>
            </a:r>
            <a:endParaRPr lang="en-US" sz="1280" dirty="0"/>
          </a:p>
        </p:txBody>
      </p:sp>
      <p:sp>
        <p:nvSpPr>
          <p:cNvPr id="42" name="Text 40"/>
          <p:cNvSpPr/>
          <p:nvPr/>
        </p:nvSpPr>
        <p:spPr>
          <a:xfrm>
            <a:off x="5276088" y="5157216"/>
            <a:ext cx="4892040" cy="493776"/>
          </a:xfrm>
          <a:prstGeom prst="rect">
            <a:avLst/>
          </a:prstGeom>
          <a:noFill/>
          <a:ln/>
        </p:spPr>
        <p:txBody>
          <a:bodyPr wrap="square" lIns="0" tIns="0" rIns="0" bIns="0" rtlCol="0" anchor="ctr"/>
          <a:lstStyle/>
          <a:p>
            <a:pPr indent="0" marL="0">
              <a:buNone/>
            </a:pPr>
            <a:r>
              <a:rPr lang="en-US" sz="1080" dirty="0">
                <a:solidFill>
                  <a:srgbClr val="1B2430"/>
                </a:solidFill>
                <a:latin typeface="Calibri" pitchFamily="34" charset="0"/>
                <a:ea typeface="Calibri" pitchFamily="34" charset="-122"/>
                <a:cs typeface="Calibri" pitchFamily="34" charset="-120"/>
              </a:rPr>
              <a:t>matched buy and sell with two client counterparties within 5 min, crossed further from mid than 45% of the…</a:t>
            </a:r>
            <a:endParaRPr lang="en-US" sz="1080" dirty="0"/>
          </a:p>
        </p:txBody>
      </p:sp>
      <p:sp>
        <p:nvSpPr>
          <p:cNvPr id="43" name="Text 41"/>
          <p:cNvSpPr/>
          <p:nvPr/>
        </p:nvSpPr>
        <p:spPr>
          <a:xfrm>
            <a:off x="10259568" y="5157216"/>
            <a:ext cx="1280160" cy="493776"/>
          </a:xfrm>
          <a:prstGeom prst="rect">
            <a:avLst/>
          </a:prstGeom>
          <a:noFill/>
          <a:ln/>
        </p:spPr>
        <p:txBody>
          <a:bodyPr wrap="square" lIns="0" tIns="0" rIns="0" bIns="0" rtlCol="0" anchor="ctr"/>
          <a:lstStyle/>
          <a:p>
            <a:pPr algn="r" indent="0" marL="0">
              <a:buNone/>
            </a:pPr>
            <a:r>
              <a:rPr lang="en-US" sz="1020" i="1" dirty="0">
                <a:solidFill>
                  <a:srgbClr val="8A94A6"/>
                </a:solidFill>
                <a:latin typeface="Calibri" pitchFamily="34" charset="0"/>
                <a:ea typeface="Calibri" pitchFamily="34" charset="-122"/>
                <a:cs typeface="Calibri" pitchFamily="34" charset="-120"/>
              </a:rPr>
              <a:t>The instrument's own spread, on…</a:t>
            </a:r>
            <a:endParaRPr lang="en-US" sz="1020" dirty="0"/>
          </a:p>
        </p:txBody>
      </p:sp>
      <p:sp>
        <p:nvSpPr>
          <p:cNvPr id="44" name="Text 42"/>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8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Booking integrity</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Eight tests on whether the record in the system is a faithful description of what happened.</a:t>
            </a:r>
            <a:endParaRPr lang="en-US" sz="1350" dirty="0"/>
          </a:p>
        </p:txBody>
      </p:sp>
      <p:sp>
        <p:nvSpPr>
          <p:cNvPr id="5" name="Shape 3"/>
          <p:cNvSpPr/>
          <p:nvPr/>
        </p:nvSpPr>
        <p:spPr>
          <a:xfrm>
            <a:off x="566928" y="1737360"/>
            <a:ext cx="10881360" cy="521208"/>
          </a:xfrm>
          <a:prstGeom prst="rect">
            <a:avLst/>
          </a:prstGeom>
          <a:solidFill>
            <a:srgbClr val="F6F8FB"/>
          </a:solidFill>
          <a:ln w="12700">
            <a:solidFill>
              <a:srgbClr val="F6F8FB"/>
            </a:solidFill>
            <a:prstDash val="solid"/>
          </a:ln>
        </p:spPr>
      </p:sp>
      <p:sp>
        <p:nvSpPr>
          <p:cNvPr id="6" name="Shape 4"/>
          <p:cNvSpPr/>
          <p:nvPr/>
        </p:nvSpPr>
        <p:spPr>
          <a:xfrm>
            <a:off x="676656" y="1888236"/>
            <a:ext cx="603504" cy="214884"/>
          </a:xfrm>
          <a:prstGeom prst="roundRect">
            <a:avLst>
              <a:gd name="adj" fmla="val 25532"/>
            </a:avLst>
          </a:prstGeom>
          <a:solidFill>
            <a:srgbClr val="335C81"/>
          </a:solidFill>
          <a:ln w="12700">
            <a:solidFill>
              <a:srgbClr val="335C81"/>
            </a:solidFill>
            <a:prstDash val="solid"/>
          </a:ln>
        </p:spPr>
      </p:sp>
      <p:sp>
        <p:nvSpPr>
          <p:cNvPr id="7" name="Text 5"/>
          <p:cNvSpPr/>
          <p:nvPr/>
        </p:nvSpPr>
        <p:spPr>
          <a:xfrm>
            <a:off x="676656" y="18882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TS-02</a:t>
            </a:r>
            <a:endParaRPr lang="en-US" sz="950" dirty="0"/>
          </a:p>
        </p:txBody>
      </p:sp>
      <p:sp>
        <p:nvSpPr>
          <p:cNvPr id="8" name="Text 6"/>
          <p:cNvSpPr/>
          <p:nvPr/>
        </p:nvSpPr>
        <p:spPr>
          <a:xfrm>
            <a:off x="1408176" y="1755648"/>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Late or backdated trade capture</a:t>
            </a:r>
            <a:endParaRPr lang="en-US" sz="1200" dirty="0"/>
          </a:p>
        </p:txBody>
      </p:sp>
      <p:sp>
        <p:nvSpPr>
          <p:cNvPr id="9" name="Text 7"/>
          <p:cNvSpPr/>
          <p:nvPr/>
        </p:nvSpPr>
        <p:spPr>
          <a:xfrm>
            <a:off x="5276088" y="1755648"/>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capture timestamp − execution timestamp &gt; 30 min, or trade date earlier than booking date</a:t>
            </a:r>
            <a:endParaRPr lang="en-US" sz="1000" dirty="0"/>
          </a:p>
        </p:txBody>
      </p:sp>
      <p:sp>
        <p:nvSpPr>
          <p:cNvPr id="10" name="Text 8"/>
          <p:cNvSpPr/>
          <p:nvPr/>
        </p:nvSpPr>
        <p:spPr>
          <a:xfrm>
            <a:off x="10259568" y="1755648"/>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Policy threshold, ranked against…</a:t>
            </a:r>
            <a:endParaRPr lang="en-US" sz="940" dirty="0"/>
          </a:p>
        </p:txBody>
      </p:sp>
      <p:sp>
        <p:nvSpPr>
          <p:cNvPr id="11" name="Shape 9"/>
          <p:cNvSpPr/>
          <p:nvPr/>
        </p:nvSpPr>
        <p:spPr>
          <a:xfrm>
            <a:off x="676656" y="2446020"/>
            <a:ext cx="603504" cy="214884"/>
          </a:xfrm>
          <a:prstGeom prst="roundRect">
            <a:avLst>
              <a:gd name="adj" fmla="val 25532"/>
            </a:avLst>
          </a:prstGeom>
          <a:solidFill>
            <a:srgbClr val="335C81"/>
          </a:solidFill>
          <a:ln w="12700">
            <a:solidFill>
              <a:srgbClr val="335C81"/>
            </a:solidFill>
            <a:prstDash val="solid"/>
          </a:ln>
        </p:spPr>
      </p:sp>
      <p:sp>
        <p:nvSpPr>
          <p:cNvPr id="12" name="Text 10"/>
          <p:cNvSpPr/>
          <p:nvPr/>
        </p:nvSpPr>
        <p:spPr>
          <a:xfrm>
            <a:off x="676656" y="244602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TS-03</a:t>
            </a:r>
            <a:endParaRPr lang="en-US" sz="950" dirty="0"/>
          </a:p>
        </p:txBody>
      </p:sp>
      <p:sp>
        <p:nvSpPr>
          <p:cNvPr id="13" name="Text 11"/>
          <p:cNvSpPr/>
          <p:nvPr/>
        </p:nvSpPr>
        <p:spPr>
          <a:xfrm>
            <a:off x="1408176" y="2313432"/>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Excessive amendment and cancellation</a:t>
            </a:r>
            <a:endParaRPr lang="en-US" sz="1200" dirty="0"/>
          </a:p>
        </p:txBody>
      </p:sp>
      <p:sp>
        <p:nvSpPr>
          <p:cNvPr id="14" name="Text 12"/>
          <p:cNvSpPr/>
          <p:nvPr/>
        </p:nvSpPr>
        <p:spPr>
          <a:xfrm>
            <a:off x="5276088" y="2313432"/>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≥3 amendments on one deal, or a session amendment rate &gt; 4× this trader's own 12-month rate</a:t>
            </a:r>
            <a:endParaRPr lang="en-US" sz="1000" dirty="0"/>
          </a:p>
        </p:txBody>
      </p:sp>
      <p:sp>
        <p:nvSpPr>
          <p:cNvPr id="15" name="Text 13"/>
          <p:cNvSpPr/>
          <p:nvPr/>
        </p:nvSpPr>
        <p:spPr>
          <a:xfrm>
            <a:off x="10259568" y="2313432"/>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12-month…</a:t>
            </a:r>
            <a:endParaRPr lang="en-US" sz="940" dirty="0"/>
          </a:p>
        </p:txBody>
      </p:sp>
      <p:sp>
        <p:nvSpPr>
          <p:cNvPr id="16" name="Shape 14"/>
          <p:cNvSpPr/>
          <p:nvPr/>
        </p:nvSpPr>
        <p:spPr>
          <a:xfrm>
            <a:off x="566928" y="2852928"/>
            <a:ext cx="10881360" cy="521208"/>
          </a:xfrm>
          <a:prstGeom prst="rect">
            <a:avLst/>
          </a:prstGeom>
          <a:solidFill>
            <a:srgbClr val="F6F8FB"/>
          </a:solidFill>
          <a:ln w="12700">
            <a:solidFill>
              <a:srgbClr val="F6F8FB"/>
            </a:solidFill>
            <a:prstDash val="solid"/>
          </a:ln>
        </p:spPr>
      </p:sp>
      <p:sp>
        <p:nvSpPr>
          <p:cNvPr id="17" name="Shape 15"/>
          <p:cNvSpPr/>
          <p:nvPr/>
        </p:nvSpPr>
        <p:spPr>
          <a:xfrm>
            <a:off x="676656" y="3003804"/>
            <a:ext cx="603504" cy="214884"/>
          </a:xfrm>
          <a:prstGeom prst="roundRect">
            <a:avLst>
              <a:gd name="adj" fmla="val 25532"/>
            </a:avLst>
          </a:prstGeom>
          <a:solidFill>
            <a:srgbClr val="335C81"/>
          </a:solidFill>
          <a:ln w="12700">
            <a:solidFill>
              <a:srgbClr val="335C81"/>
            </a:solidFill>
            <a:prstDash val="solid"/>
          </a:ln>
        </p:spPr>
      </p:sp>
      <p:sp>
        <p:nvSpPr>
          <p:cNvPr id="18" name="Text 16"/>
          <p:cNvSpPr/>
          <p:nvPr/>
        </p:nvSpPr>
        <p:spPr>
          <a:xfrm>
            <a:off x="676656" y="300380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TS-08</a:t>
            </a:r>
            <a:endParaRPr lang="en-US" sz="950" dirty="0"/>
          </a:p>
        </p:txBody>
      </p:sp>
      <p:sp>
        <p:nvSpPr>
          <p:cNvPr id="19" name="Text 17"/>
          <p:cNvSpPr/>
          <p:nvPr/>
        </p:nvSpPr>
        <p:spPr>
          <a:xfrm>
            <a:off x="1408176" y="2871216"/>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Booking outside the trader's own hours</a:t>
            </a:r>
            <a:endParaRPr lang="en-US" sz="1200" dirty="0"/>
          </a:p>
        </p:txBody>
      </p:sp>
      <p:sp>
        <p:nvSpPr>
          <p:cNvPr id="20" name="Text 18"/>
          <p:cNvSpPr/>
          <p:nvPr/>
        </p:nvSpPr>
        <p:spPr>
          <a:xfrm>
            <a:off x="5276088" y="2871216"/>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booking timestamp outside the trader's own execution-time distribution (own mean ±2.5σ), or on…</a:t>
            </a:r>
            <a:endParaRPr lang="en-US" sz="1000" dirty="0"/>
          </a:p>
        </p:txBody>
      </p:sp>
      <p:sp>
        <p:nvSpPr>
          <p:cNvPr id="21" name="Text 19"/>
          <p:cNvSpPr/>
          <p:nvPr/>
        </p:nvSpPr>
        <p:spPr>
          <a:xfrm>
            <a:off x="10259568" y="2871216"/>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execution-time…</a:t>
            </a:r>
            <a:endParaRPr lang="en-US" sz="940" dirty="0"/>
          </a:p>
        </p:txBody>
      </p:sp>
      <p:sp>
        <p:nvSpPr>
          <p:cNvPr id="22" name="Shape 20"/>
          <p:cNvSpPr/>
          <p:nvPr/>
        </p:nvSpPr>
        <p:spPr>
          <a:xfrm>
            <a:off x="676656" y="3561588"/>
            <a:ext cx="603504" cy="214884"/>
          </a:xfrm>
          <a:prstGeom prst="roundRect">
            <a:avLst>
              <a:gd name="adj" fmla="val 25532"/>
            </a:avLst>
          </a:prstGeom>
          <a:solidFill>
            <a:srgbClr val="335C81"/>
          </a:solidFill>
          <a:ln w="12700">
            <a:solidFill>
              <a:srgbClr val="335C81"/>
            </a:solidFill>
            <a:prstDash val="solid"/>
          </a:ln>
        </p:spPr>
      </p:sp>
      <p:sp>
        <p:nvSpPr>
          <p:cNvPr id="23" name="Text 21"/>
          <p:cNvSpPr/>
          <p:nvPr/>
        </p:nvSpPr>
        <p:spPr>
          <a:xfrm>
            <a:off x="676656" y="356158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TS-25</a:t>
            </a:r>
            <a:endParaRPr lang="en-US" sz="950" dirty="0"/>
          </a:p>
        </p:txBody>
      </p:sp>
      <p:sp>
        <p:nvSpPr>
          <p:cNvPr id="24" name="Text 22"/>
          <p:cNvSpPr/>
          <p:nvPr/>
        </p:nvSpPr>
        <p:spPr>
          <a:xfrm>
            <a:off x="1408176" y="3429000"/>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Trade cancelled minutes after execution</a:t>
            </a:r>
            <a:endParaRPr lang="en-US" sz="1200" dirty="0"/>
          </a:p>
        </p:txBody>
      </p:sp>
      <p:sp>
        <p:nvSpPr>
          <p:cNvPr id="25" name="Text 23"/>
          <p:cNvSpPr/>
          <p:nvPr/>
        </p:nvSpPr>
        <p:spPr>
          <a:xfrm>
            <a:off x="5276088" y="3429000"/>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cancellation &lt; 15 min after capture, ≥3 occurrences by the same trader in one session</a:t>
            </a:r>
            <a:endParaRPr lang="en-US" sz="1000" dirty="0"/>
          </a:p>
        </p:txBody>
      </p:sp>
      <p:sp>
        <p:nvSpPr>
          <p:cNvPr id="26" name="Text 24"/>
          <p:cNvSpPr/>
          <p:nvPr/>
        </p:nvSpPr>
        <p:spPr>
          <a:xfrm>
            <a:off x="10259568" y="3429000"/>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cancellation rate</a:t>
            </a:r>
            <a:endParaRPr lang="en-US" sz="940" dirty="0"/>
          </a:p>
        </p:txBody>
      </p:sp>
      <p:sp>
        <p:nvSpPr>
          <p:cNvPr id="27" name="Shape 25"/>
          <p:cNvSpPr/>
          <p:nvPr/>
        </p:nvSpPr>
        <p:spPr>
          <a:xfrm>
            <a:off x="566928" y="3968496"/>
            <a:ext cx="10881360" cy="521208"/>
          </a:xfrm>
          <a:prstGeom prst="rect">
            <a:avLst/>
          </a:prstGeom>
          <a:solidFill>
            <a:srgbClr val="F6F8FB"/>
          </a:solidFill>
          <a:ln w="12700">
            <a:solidFill>
              <a:srgbClr val="F6F8FB"/>
            </a:solidFill>
            <a:prstDash val="solid"/>
          </a:ln>
        </p:spPr>
      </p:sp>
      <p:sp>
        <p:nvSpPr>
          <p:cNvPr id="28" name="Shape 26"/>
          <p:cNvSpPr/>
          <p:nvPr/>
        </p:nvSpPr>
        <p:spPr>
          <a:xfrm>
            <a:off x="676656" y="4119372"/>
            <a:ext cx="603504" cy="214884"/>
          </a:xfrm>
          <a:prstGeom prst="roundRect">
            <a:avLst>
              <a:gd name="adj" fmla="val 25532"/>
            </a:avLst>
          </a:prstGeom>
          <a:solidFill>
            <a:srgbClr val="E09F3E"/>
          </a:solidFill>
          <a:ln w="12700">
            <a:solidFill>
              <a:srgbClr val="E09F3E"/>
            </a:solidFill>
            <a:prstDash val="solid"/>
          </a:ln>
        </p:spPr>
      </p:sp>
      <p:sp>
        <p:nvSpPr>
          <p:cNvPr id="29" name="Text 27"/>
          <p:cNvSpPr/>
          <p:nvPr/>
        </p:nvSpPr>
        <p:spPr>
          <a:xfrm>
            <a:off x="676656" y="411937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TS-26</a:t>
            </a:r>
            <a:endParaRPr lang="en-US" sz="950" dirty="0"/>
          </a:p>
        </p:txBody>
      </p:sp>
      <p:sp>
        <p:nvSpPr>
          <p:cNvPr id="30" name="Text 28"/>
          <p:cNvSpPr/>
          <p:nvPr/>
        </p:nvSpPr>
        <p:spPr>
          <a:xfrm>
            <a:off x="1408176" y="3986784"/>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Cancellation after value date</a:t>
            </a:r>
            <a:endParaRPr lang="en-US" sz="1200" dirty="0"/>
          </a:p>
        </p:txBody>
      </p:sp>
      <p:sp>
        <p:nvSpPr>
          <p:cNvPr id="31" name="Text 29"/>
          <p:cNvSpPr/>
          <p:nvPr/>
        </p:nvSpPr>
        <p:spPr>
          <a:xfrm>
            <a:off x="5276088" y="3986784"/>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cancellation timestamp &gt; value date AND the deal was previously confirmed</a:t>
            </a:r>
            <a:endParaRPr lang="en-US" sz="1000" dirty="0"/>
          </a:p>
        </p:txBody>
      </p:sp>
      <p:sp>
        <p:nvSpPr>
          <p:cNvPr id="32" name="Text 30"/>
          <p:cNvSpPr/>
          <p:nvPr/>
        </p:nvSpPr>
        <p:spPr>
          <a:xfrm>
            <a:off x="10259568" y="3986784"/>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Settlement calendar for the…</a:t>
            </a:r>
            <a:endParaRPr lang="en-US" sz="940" dirty="0"/>
          </a:p>
        </p:txBody>
      </p:sp>
      <p:sp>
        <p:nvSpPr>
          <p:cNvPr id="33" name="Shape 31"/>
          <p:cNvSpPr/>
          <p:nvPr/>
        </p:nvSpPr>
        <p:spPr>
          <a:xfrm>
            <a:off x="676656" y="4677156"/>
            <a:ext cx="603504" cy="214884"/>
          </a:xfrm>
          <a:prstGeom prst="roundRect">
            <a:avLst>
              <a:gd name="adj" fmla="val 25532"/>
            </a:avLst>
          </a:prstGeom>
          <a:solidFill>
            <a:srgbClr val="E09F3E"/>
          </a:solidFill>
          <a:ln w="12700">
            <a:solidFill>
              <a:srgbClr val="E09F3E"/>
            </a:solidFill>
            <a:prstDash val="solid"/>
          </a:ln>
        </p:spPr>
      </p:sp>
      <p:sp>
        <p:nvSpPr>
          <p:cNvPr id="34" name="Text 32"/>
          <p:cNvSpPr/>
          <p:nvPr/>
        </p:nvSpPr>
        <p:spPr>
          <a:xfrm>
            <a:off x="676656" y="467715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TS-27</a:t>
            </a:r>
            <a:endParaRPr lang="en-US" sz="950" dirty="0"/>
          </a:p>
        </p:txBody>
      </p:sp>
      <p:sp>
        <p:nvSpPr>
          <p:cNvPr id="35" name="Text 33"/>
          <p:cNvSpPr/>
          <p:nvPr/>
        </p:nvSpPr>
        <p:spPr>
          <a:xfrm>
            <a:off x="1408176" y="4544568"/>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Economic terms amended after execution</a:t>
            </a:r>
            <a:endParaRPr lang="en-US" sz="1200" dirty="0"/>
          </a:p>
        </p:txBody>
      </p:sp>
      <p:sp>
        <p:nvSpPr>
          <p:cNvPr id="36" name="Text 34"/>
          <p:cNvSpPr/>
          <p:nvPr/>
        </p:nvSpPr>
        <p:spPr>
          <a:xfrm>
            <a:off x="5276088" y="4544568"/>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amendment touches price, notional, tenor or value date more than 60 min after capture</a:t>
            </a:r>
            <a:endParaRPr lang="en-US" sz="1000" dirty="0"/>
          </a:p>
        </p:txBody>
      </p:sp>
      <p:sp>
        <p:nvSpPr>
          <p:cNvPr id="37" name="Text 35"/>
          <p:cNvSpPr/>
          <p:nvPr/>
        </p:nvSpPr>
        <p:spPr>
          <a:xfrm>
            <a:off x="10259568" y="4544568"/>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Amendment field register</a:t>
            </a:r>
            <a:endParaRPr lang="en-US" sz="940" dirty="0"/>
          </a:p>
        </p:txBody>
      </p:sp>
      <p:sp>
        <p:nvSpPr>
          <p:cNvPr id="38" name="Shape 36"/>
          <p:cNvSpPr/>
          <p:nvPr/>
        </p:nvSpPr>
        <p:spPr>
          <a:xfrm>
            <a:off x="566928" y="5084064"/>
            <a:ext cx="10881360" cy="521208"/>
          </a:xfrm>
          <a:prstGeom prst="rect">
            <a:avLst/>
          </a:prstGeom>
          <a:solidFill>
            <a:srgbClr val="F6F8FB"/>
          </a:solidFill>
          <a:ln w="12700">
            <a:solidFill>
              <a:srgbClr val="F6F8FB"/>
            </a:solidFill>
            <a:prstDash val="solid"/>
          </a:ln>
        </p:spPr>
      </p:sp>
      <p:sp>
        <p:nvSpPr>
          <p:cNvPr id="39" name="Shape 37"/>
          <p:cNvSpPr/>
          <p:nvPr/>
        </p:nvSpPr>
        <p:spPr>
          <a:xfrm>
            <a:off x="676656" y="5234940"/>
            <a:ext cx="603504" cy="214884"/>
          </a:xfrm>
          <a:prstGeom prst="roundRect">
            <a:avLst>
              <a:gd name="adj" fmla="val 25532"/>
            </a:avLst>
          </a:prstGeom>
          <a:solidFill>
            <a:srgbClr val="335C81"/>
          </a:solidFill>
          <a:ln w="12700">
            <a:solidFill>
              <a:srgbClr val="335C81"/>
            </a:solidFill>
            <a:prstDash val="solid"/>
          </a:ln>
        </p:spPr>
      </p:sp>
      <p:sp>
        <p:nvSpPr>
          <p:cNvPr id="40" name="Text 38"/>
          <p:cNvSpPr/>
          <p:nvPr/>
        </p:nvSpPr>
        <p:spPr>
          <a:xfrm>
            <a:off x="676656" y="523494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TS-28</a:t>
            </a:r>
            <a:endParaRPr lang="en-US" sz="950" dirty="0"/>
          </a:p>
        </p:txBody>
      </p:sp>
      <p:sp>
        <p:nvSpPr>
          <p:cNvPr id="41" name="Text 39"/>
          <p:cNvSpPr/>
          <p:nvPr/>
        </p:nvSpPr>
        <p:spPr>
          <a:xfrm>
            <a:off x="1408176" y="5102352"/>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Booking burst</a:t>
            </a:r>
            <a:endParaRPr lang="en-US" sz="1200" dirty="0"/>
          </a:p>
        </p:txBody>
      </p:sp>
      <p:sp>
        <p:nvSpPr>
          <p:cNvPr id="42" name="Text 40"/>
          <p:cNvSpPr/>
          <p:nvPr/>
        </p:nvSpPr>
        <p:spPr>
          <a:xfrm>
            <a:off x="5276088" y="5102352"/>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≥8 tickets within 10 minutes by one trader, &gt; 4× that trader's own 90-day peak ten-minute rate</a:t>
            </a:r>
            <a:endParaRPr lang="en-US" sz="1000" dirty="0"/>
          </a:p>
        </p:txBody>
      </p:sp>
      <p:sp>
        <p:nvSpPr>
          <p:cNvPr id="43" name="Text 41"/>
          <p:cNvSpPr/>
          <p:nvPr/>
        </p:nvSpPr>
        <p:spPr>
          <a:xfrm>
            <a:off x="10259568" y="5102352"/>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booking cadence</a:t>
            </a:r>
            <a:endParaRPr lang="en-US" sz="940" dirty="0"/>
          </a:p>
        </p:txBody>
      </p:sp>
      <p:sp>
        <p:nvSpPr>
          <p:cNvPr id="44" name="Shape 42"/>
          <p:cNvSpPr/>
          <p:nvPr/>
        </p:nvSpPr>
        <p:spPr>
          <a:xfrm>
            <a:off x="676656" y="5792724"/>
            <a:ext cx="603504" cy="214884"/>
          </a:xfrm>
          <a:prstGeom prst="roundRect">
            <a:avLst>
              <a:gd name="adj" fmla="val 25532"/>
            </a:avLst>
          </a:prstGeom>
          <a:solidFill>
            <a:srgbClr val="E09F3E"/>
          </a:solidFill>
          <a:ln w="12700">
            <a:solidFill>
              <a:srgbClr val="E09F3E"/>
            </a:solidFill>
            <a:prstDash val="solid"/>
          </a:ln>
        </p:spPr>
      </p:sp>
      <p:sp>
        <p:nvSpPr>
          <p:cNvPr id="45" name="Text 43"/>
          <p:cNvSpPr/>
          <p:nvPr/>
        </p:nvSpPr>
        <p:spPr>
          <a:xfrm>
            <a:off x="676656" y="579272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TS-29</a:t>
            </a:r>
            <a:endParaRPr lang="en-US" sz="950" dirty="0"/>
          </a:p>
        </p:txBody>
      </p:sp>
      <p:sp>
        <p:nvSpPr>
          <p:cNvPr id="46" name="Text 44"/>
          <p:cNvSpPr/>
          <p:nvPr/>
        </p:nvSpPr>
        <p:spPr>
          <a:xfrm>
            <a:off x="1408176" y="5660136"/>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Booking to a book the trader does not own</a:t>
            </a:r>
            <a:endParaRPr lang="en-US" sz="1200" dirty="0"/>
          </a:p>
        </p:txBody>
      </p:sp>
      <p:sp>
        <p:nvSpPr>
          <p:cNvPr id="47" name="Text 45"/>
          <p:cNvSpPr/>
          <p:nvPr/>
        </p:nvSpPr>
        <p:spPr>
          <a:xfrm>
            <a:off x="5276088" y="5660136"/>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booking book ∉ this trader's own book register AND no delegation record on file</a:t>
            </a:r>
            <a:endParaRPr lang="en-US" sz="1000" dirty="0"/>
          </a:p>
        </p:txBody>
      </p:sp>
      <p:sp>
        <p:nvSpPr>
          <p:cNvPr id="48" name="Text 46"/>
          <p:cNvSpPr/>
          <p:nvPr/>
        </p:nvSpPr>
        <p:spPr>
          <a:xfrm>
            <a:off x="10259568" y="5660136"/>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book register</a:t>
            </a:r>
            <a:endParaRPr lang="en-US" sz="940" dirty="0"/>
          </a:p>
        </p:txBody>
      </p:sp>
      <p:sp>
        <p:nvSpPr>
          <p:cNvPr id="49" name="Text 47"/>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9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Limits &amp; controls</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Nine tests, each against an authorisation granted to one named individual.</a:t>
            </a:r>
            <a:endParaRPr lang="en-US" sz="1350" dirty="0"/>
          </a:p>
        </p:txBody>
      </p:sp>
      <p:sp>
        <p:nvSpPr>
          <p:cNvPr id="5" name="Shape 3"/>
          <p:cNvSpPr/>
          <p:nvPr/>
        </p:nvSpPr>
        <p:spPr>
          <a:xfrm>
            <a:off x="566928" y="1737360"/>
            <a:ext cx="10881360" cy="459232"/>
          </a:xfrm>
          <a:prstGeom prst="rect">
            <a:avLst/>
          </a:prstGeom>
          <a:solidFill>
            <a:srgbClr val="F6F8FB"/>
          </a:solidFill>
          <a:ln w="12700">
            <a:solidFill>
              <a:srgbClr val="F6F8FB"/>
            </a:solidFill>
            <a:prstDash val="solid"/>
          </a:ln>
        </p:spPr>
      </p:sp>
      <p:sp>
        <p:nvSpPr>
          <p:cNvPr id="6" name="Shape 4"/>
          <p:cNvSpPr/>
          <p:nvPr/>
        </p:nvSpPr>
        <p:spPr>
          <a:xfrm>
            <a:off x="676656" y="1857248"/>
            <a:ext cx="603504" cy="214884"/>
          </a:xfrm>
          <a:prstGeom prst="roundRect">
            <a:avLst>
              <a:gd name="adj" fmla="val 25532"/>
            </a:avLst>
          </a:prstGeom>
          <a:solidFill>
            <a:srgbClr val="E09F3E"/>
          </a:solidFill>
          <a:ln w="12700">
            <a:solidFill>
              <a:srgbClr val="E09F3E"/>
            </a:solidFill>
            <a:prstDash val="solid"/>
          </a:ln>
        </p:spPr>
      </p:sp>
      <p:sp>
        <p:nvSpPr>
          <p:cNvPr id="7" name="Text 5"/>
          <p:cNvSpPr/>
          <p:nvPr/>
        </p:nvSpPr>
        <p:spPr>
          <a:xfrm>
            <a:off x="676656" y="185724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TS-06</a:t>
            </a:r>
            <a:endParaRPr lang="en-US" sz="950" dirty="0"/>
          </a:p>
        </p:txBody>
      </p:sp>
      <p:sp>
        <p:nvSpPr>
          <p:cNvPr id="8" name="Text 6"/>
          <p:cNvSpPr/>
          <p:nvPr/>
        </p:nvSpPr>
        <p:spPr>
          <a:xfrm>
            <a:off x="1408176" y="1755648"/>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Ticket splitting below the trader's authorisation</a:t>
            </a:r>
            <a:endParaRPr lang="en-US" sz="1200" dirty="0"/>
          </a:p>
        </p:txBody>
      </p:sp>
      <p:sp>
        <p:nvSpPr>
          <p:cNvPr id="9" name="Text 7"/>
          <p:cNvSpPr/>
          <p:nvPr/>
        </p:nvSpPr>
        <p:spPr>
          <a:xfrm>
            <a:off x="5276088" y="1755648"/>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≥3 tickets, same instrument, each 90–100% of this trader's own ticket authorisation, all within…</a:t>
            </a:r>
            <a:endParaRPr lang="en-US" sz="1000" dirty="0"/>
          </a:p>
        </p:txBody>
      </p:sp>
      <p:sp>
        <p:nvSpPr>
          <p:cNvPr id="10" name="Text 8"/>
          <p:cNvSpPr/>
          <p:nvPr/>
        </p:nvSpPr>
        <p:spPr>
          <a:xfrm>
            <a:off x="10259568" y="1755648"/>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ticket…</a:t>
            </a:r>
            <a:endParaRPr lang="en-US" sz="940" dirty="0"/>
          </a:p>
        </p:txBody>
      </p:sp>
      <p:sp>
        <p:nvSpPr>
          <p:cNvPr id="11" name="Shape 9"/>
          <p:cNvSpPr/>
          <p:nvPr/>
        </p:nvSpPr>
        <p:spPr>
          <a:xfrm>
            <a:off x="676656" y="2353056"/>
            <a:ext cx="603504" cy="214884"/>
          </a:xfrm>
          <a:prstGeom prst="roundRect">
            <a:avLst>
              <a:gd name="adj" fmla="val 25532"/>
            </a:avLst>
          </a:prstGeom>
          <a:solidFill>
            <a:srgbClr val="335C81"/>
          </a:solidFill>
          <a:ln w="12700">
            <a:solidFill>
              <a:srgbClr val="335C81"/>
            </a:solidFill>
            <a:prstDash val="solid"/>
          </a:ln>
        </p:spPr>
      </p:sp>
      <p:sp>
        <p:nvSpPr>
          <p:cNvPr id="12" name="Text 10"/>
          <p:cNvSpPr/>
          <p:nvPr/>
        </p:nvSpPr>
        <p:spPr>
          <a:xfrm>
            <a:off x="676656" y="235305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TS-07</a:t>
            </a:r>
            <a:endParaRPr lang="en-US" sz="950" dirty="0"/>
          </a:p>
        </p:txBody>
      </p:sp>
      <p:sp>
        <p:nvSpPr>
          <p:cNvPr id="13" name="Text 11"/>
          <p:cNvSpPr/>
          <p:nvPr/>
        </p:nvSpPr>
        <p:spPr>
          <a:xfrm>
            <a:off x="1408176" y="2251456"/>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Trading outside the trader's approved products</a:t>
            </a:r>
            <a:endParaRPr lang="en-US" sz="1200" dirty="0"/>
          </a:p>
        </p:txBody>
      </p:sp>
      <p:sp>
        <p:nvSpPr>
          <p:cNvPr id="14" name="Text 12"/>
          <p:cNvSpPr/>
          <p:nvPr/>
        </p:nvSpPr>
        <p:spPr>
          <a:xfrm>
            <a:off x="5276088" y="2251456"/>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product ∉ this trader's own approved product list AND no personal mandate exception on file</a:t>
            </a:r>
            <a:endParaRPr lang="en-US" sz="1000" dirty="0"/>
          </a:p>
        </p:txBody>
      </p:sp>
      <p:sp>
        <p:nvSpPr>
          <p:cNvPr id="15" name="Text 13"/>
          <p:cNvSpPr/>
          <p:nvPr/>
        </p:nvSpPr>
        <p:spPr>
          <a:xfrm>
            <a:off x="10259568" y="2251456"/>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approved product…</a:t>
            </a:r>
            <a:endParaRPr lang="en-US" sz="940" dirty="0"/>
          </a:p>
        </p:txBody>
      </p:sp>
      <p:sp>
        <p:nvSpPr>
          <p:cNvPr id="16" name="Shape 14"/>
          <p:cNvSpPr/>
          <p:nvPr/>
        </p:nvSpPr>
        <p:spPr>
          <a:xfrm>
            <a:off x="566928" y="2728976"/>
            <a:ext cx="10881360" cy="459232"/>
          </a:xfrm>
          <a:prstGeom prst="rect">
            <a:avLst/>
          </a:prstGeom>
          <a:solidFill>
            <a:srgbClr val="F6F8FB"/>
          </a:solidFill>
          <a:ln w="12700">
            <a:solidFill>
              <a:srgbClr val="F6F8FB"/>
            </a:solidFill>
            <a:prstDash val="solid"/>
          </a:ln>
        </p:spPr>
      </p:sp>
      <p:sp>
        <p:nvSpPr>
          <p:cNvPr id="17" name="Shape 15"/>
          <p:cNvSpPr/>
          <p:nvPr/>
        </p:nvSpPr>
        <p:spPr>
          <a:xfrm>
            <a:off x="676656" y="2848864"/>
            <a:ext cx="603504" cy="214884"/>
          </a:xfrm>
          <a:prstGeom prst="roundRect">
            <a:avLst>
              <a:gd name="adj" fmla="val 25532"/>
            </a:avLst>
          </a:prstGeom>
          <a:solidFill>
            <a:srgbClr val="E09F3E"/>
          </a:solidFill>
          <a:ln w="12700">
            <a:solidFill>
              <a:srgbClr val="E09F3E"/>
            </a:solidFill>
            <a:prstDash val="solid"/>
          </a:ln>
        </p:spPr>
      </p:sp>
      <p:sp>
        <p:nvSpPr>
          <p:cNvPr id="18" name="Text 16"/>
          <p:cNvSpPr/>
          <p:nvPr/>
        </p:nvSpPr>
        <p:spPr>
          <a:xfrm>
            <a:off x="676656" y="28488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TS-12</a:t>
            </a:r>
            <a:endParaRPr lang="en-US" sz="950" dirty="0"/>
          </a:p>
        </p:txBody>
      </p:sp>
      <p:sp>
        <p:nvSpPr>
          <p:cNvPr id="19" name="Text 17"/>
          <p:cNvSpPr/>
          <p:nvPr/>
        </p:nvSpPr>
        <p:spPr>
          <a:xfrm>
            <a:off x="1408176" y="2747264"/>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Intraday limit breach with end-of-day flattening</a:t>
            </a:r>
            <a:endParaRPr lang="en-US" sz="1200" dirty="0"/>
          </a:p>
        </p:txBody>
      </p:sp>
      <p:sp>
        <p:nvSpPr>
          <p:cNvPr id="20" name="Text 18"/>
          <p:cNvSpPr/>
          <p:nvPr/>
        </p:nvSpPr>
        <p:spPr>
          <a:xfrm>
            <a:off x="5276088" y="2747264"/>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peak intraday position &gt; 130% of this trader's own position limit, built from tickets that each…</a:t>
            </a:r>
            <a:endParaRPr lang="en-US" sz="1000" dirty="0"/>
          </a:p>
        </p:txBody>
      </p:sp>
      <p:sp>
        <p:nvSpPr>
          <p:cNvPr id="21" name="Text 19"/>
          <p:cNvSpPr/>
          <p:nvPr/>
        </p:nvSpPr>
        <p:spPr>
          <a:xfrm>
            <a:off x="10259568" y="2747264"/>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position limit</a:t>
            </a:r>
            <a:endParaRPr lang="en-US" sz="940" dirty="0"/>
          </a:p>
        </p:txBody>
      </p:sp>
      <p:sp>
        <p:nvSpPr>
          <p:cNvPr id="22" name="Shape 20"/>
          <p:cNvSpPr/>
          <p:nvPr/>
        </p:nvSpPr>
        <p:spPr>
          <a:xfrm>
            <a:off x="676656" y="3344672"/>
            <a:ext cx="603504" cy="214884"/>
          </a:xfrm>
          <a:prstGeom prst="roundRect">
            <a:avLst>
              <a:gd name="adj" fmla="val 25532"/>
            </a:avLst>
          </a:prstGeom>
          <a:solidFill>
            <a:srgbClr val="C1121F"/>
          </a:solidFill>
          <a:ln w="12700">
            <a:solidFill>
              <a:srgbClr val="C1121F"/>
            </a:solidFill>
            <a:prstDash val="solid"/>
          </a:ln>
        </p:spPr>
      </p:sp>
      <p:sp>
        <p:nvSpPr>
          <p:cNvPr id="23" name="Text 21"/>
          <p:cNvSpPr/>
          <p:nvPr/>
        </p:nvSpPr>
        <p:spPr>
          <a:xfrm>
            <a:off x="676656" y="334467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TS-19</a:t>
            </a:r>
            <a:endParaRPr lang="en-US" sz="950" dirty="0"/>
          </a:p>
        </p:txBody>
      </p:sp>
      <p:sp>
        <p:nvSpPr>
          <p:cNvPr id="24" name="Text 22"/>
          <p:cNvSpPr/>
          <p:nvPr/>
        </p:nvSpPr>
        <p:spPr>
          <a:xfrm>
            <a:off x="1408176" y="3243072"/>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Trading during mandatory block leave</a:t>
            </a:r>
            <a:endParaRPr lang="en-US" sz="1200" dirty="0"/>
          </a:p>
        </p:txBody>
      </p:sp>
      <p:sp>
        <p:nvSpPr>
          <p:cNvPr id="25" name="Text 23"/>
          <p:cNvSpPr/>
          <p:nvPr/>
        </p:nvSpPr>
        <p:spPr>
          <a:xfrm>
            <a:off x="5276088" y="3243072"/>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any trade booked under a trader's ID between the start and end of that trader's declared block…</a:t>
            </a:r>
            <a:endParaRPr lang="en-US" sz="1000" dirty="0"/>
          </a:p>
        </p:txBody>
      </p:sp>
      <p:sp>
        <p:nvSpPr>
          <p:cNvPr id="26" name="Text 24"/>
          <p:cNvSpPr/>
          <p:nvPr/>
        </p:nvSpPr>
        <p:spPr>
          <a:xfrm>
            <a:off x="10259568" y="3243072"/>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declared leave…</a:t>
            </a:r>
            <a:endParaRPr lang="en-US" sz="940" dirty="0"/>
          </a:p>
        </p:txBody>
      </p:sp>
      <p:sp>
        <p:nvSpPr>
          <p:cNvPr id="27" name="Shape 25"/>
          <p:cNvSpPr/>
          <p:nvPr/>
        </p:nvSpPr>
        <p:spPr>
          <a:xfrm>
            <a:off x="566928" y="3720592"/>
            <a:ext cx="10881360" cy="459232"/>
          </a:xfrm>
          <a:prstGeom prst="rect">
            <a:avLst/>
          </a:prstGeom>
          <a:solidFill>
            <a:srgbClr val="F6F8FB"/>
          </a:solidFill>
          <a:ln w="12700">
            <a:solidFill>
              <a:srgbClr val="F6F8FB"/>
            </a:solidFill>
            <a:prstDash val="solid"/>
          </a:ln>
        </p:spPr>
      </p:sp>
      <p:sp>
        <p:nvSpPr>
          <p:cNvPr id="28" name="Shape 26"/>
          <p:cNvSpPr/>
          <p:nvPr/>
        </p:nvSpPr>
        <p:spPr>
          <a:xfrm>
            <a:off x="676656" y="3840480"/>
            <a:ext cx="603504" cy="214884"/>
          </a:xfrm>
          <a:prstGeom prst="roundRect">
            <a:avLst>
              <a:gd name="adj" fmla="val 25532"/>
            </a:avLst>
          </a:prstGeom>
          <a:solidFill>
            <a:srgbClr val="E09F3E"/>
          </a:solidFill>
          <a:ln w="12700">
            <a:solidFill>
              <a:srgbClr val="E09F3E"/>
            </a:solidFill>
            <a:prstDash val="solid"/>
          </a:ln>
        </p:spPr>
      </p:sp>
      <p:sp>
        <p:nvSpPr>
          <p:cNvPr id="29" name="Text 27"/>
          <p:cNvSpPr/>
          <p:nvPr/>
        </p:nvSpPr>
        <p:spPr>
          <a:xfrm>
            <a:off x="676656" y="384048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TS-34</a:t>
            </a:r>
            <a:endParaRPr lang="en-US" sz="950" dirty="0"/>
          </a:p>
        </p:txBody>
      </p:sp>
      <p:sp>
        <p:nvSpPr>
          <p:cNvPr id="30" name="Text 28"/>
          <p:cNvSpPr/>
          <p:nvPr/>
        </p:nvSpPr>
        <p:spPr>
          <a:xfrm>
            <a:off x="1408176" y="3738880"/>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Threshold gaming</a:t>
            </a:r>
            <a:endParaRPr lang="en-US" sz="1200" dirty="0"/>
          </a:p>
        </p:txBody>
      </p:sp>
      <p:sp>
        <p:nvSpPr>
          <p:cNvPr id="31" name="Text 29"/>
          <p:cNvSpPr/>
          <p:nvPr/>
        </p:nvSpPr>
        <p:spPr>
          <a:xfrm>
            <a:off x="5276088" y="3738880"/>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≥10 trades in 20 business days at 90–99.5% of this trader's own ticket authorisation or of a…</a:t>
            </a:r>
            <a:endParaRPr lang="en-US" sz="1000" dirty="0"/>
          </a:p>
        </p:txBody>
      </p:sp>
      <p:sp>
        <p:nvSpPr>
          <p:cNvPr id="32" name="Text 30"/>
          <p:cNvSpPr/>
          <p:nvPr/>
        </p:nvSpPr>
        <p:spPr>
          <a:xfrm>
            <a:off x="10259568" y="3738880"/>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This trader's own thresholds</a:t>
            </a:r>
            <a:endParaRPr lang="en-US" sz="940" dirty="0"/>
          </a:p>
        </p:txBody>
      </p:sp>
      <p:sp>
        <p:nvSpPr>
          <p:cNvPr id="33" name="Shape 31"/>
          <p:cNvSpPr/>
          <p:nvPr/>
        </p:nvSpPr>
        <p:spPr>
          <a:xfrm>
            <a:off x="676656" y="4336288"/>
            <a:ext cx="603504" cy="214884"/>
          </a:xfrm>
          <a:prstGeom prst="roundRect">
            <a:avLst>
              <a:gd name="adj" fmla="val 25532"/>
            </a:avLst>
          </a:prstGeom>
          <a:solidFill>
            <a:srgbClr val="335C81"/>
          </a:solidFill>
          <a:ln w="12700">
            <a:solidFill>
              <a:srgbClr val="335C81"/>
            </a:solidFill>
            <a:prstDash val="solid"/>
          </a:ln>
        </p:spPr>
      </p:sp>
      <p:sp>
        <p:nvSpPr>
          <p:cNvPr id="34" name="Text 32"/>
          <p:cNvSpPr/>
          <p:nvPr/>
        </p:nvSpPr>
        <p:spPr>
          <a:xfrm>
            <a:off x="676656" y="433628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TS-35</a:t>
            </a:r>
            <a:endParaRPr lang="en-US" sz="950" dirty="0"/>
          </a:p>
        </p:txBody>
      </p:sp>
      <p:sp>
        <p:nvSpPr>
          <p:cNvPr id="35" name="Text 33"/>
          <p:cNvSpPr/>
          <p:nvPr/>
        </p:nvSpPr>
        <p:spPr>
          <a:xfrm>
            <a:off x="1408176" y="4234688"/>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Tenor beyond the trader's cap</a:t>
            </a:r>
            <a:endParaRPr lang="en-US" sz="1200" dirty="0"/>
          </a:p>
        </p:txBody>
      </p:sp>
      <p:sp>
        <p:nvSpPr>
          <p:cNvPr id="36" name="Text 34"/>
          <p:cNvSpPr/>
          <p:nvPr/>
        </p:nvSpPr>
        <p:spPr>
          <a:xfrm>
            <a:off x="5276088" y="4234688"/>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trade maturity, in years, &gt; this trader's own approved maximum tenor AND no exception on file</a:t>
            </a:r>
            <a:endParaRPr lang="en-US" sz="1000" dirty="0"/>
          </a:p>
        </p:txBody>
      </p:sp>
      <p:sp>
        <p:nvSpPr>
          <p:cNvPr id="37" name="Text 35"/>
          <p:cNvSpPr/>
          <p:nvPr/>
        </p:nvSpPr>
        <p:spPr>
          <a:xfrm>
            <a:off x="10259568" y="4234688"/>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tenor…</a:t>
            </a:r>
            <a:endParaRPr lang="en-US" sz="940" dirty="0"/>
          </a:p>
        </p:txBody>
      </p:sp>
      <p:sp>
        <p:nvSpPr>
          <p:cNvPr id="38" name="Shape 36"/>
          <p:cNvSpPr/>
          <p:nvPr/>
        </p:nvSpPr>
        <p:spPr>
          <a:xfrm>
            <a:off x="566928" y="4712208"/>
            <a:ext cx="10881360" cy="459232"/>
          </a:xfrm>
          <a:prstGeom prst="rect">
            <a:avLst/>
          </a:prstGeom>
          <a:solidFill>
            <a:srgbClr val="F6F8FB"/>
          </a:solidFill>
          <a:ln w="12700">
            <a:solidFill>
              <a:srgbClr val="F6F8FB"/>
            </a:solidFill>
            <a:prstDash val="solid"/>
          </a:ln>
        </p:spPr>
      </p:sp>
      <p:sp>
        <p:nvSpPr>
          <p:cNvPr id="39" name="Shape 37"/>
          <p:cNvSpPr/>
          <p:nvPr/>
        </p:nvSpPr>
        <p:spPr>
          <a:xfrm>
            <a:off x="676656" y="4832096"/>
            <a:ext cx="603504" cy="214884"/>
          </a:xfrm>
          <a:prstGeom prst="roundRect">
            <a:avLst>
              <a:gd name="adj" fmla="val 25532"/>
            </a:avLst>
          </a:prstGeom>
          <a:solidFill>
            <a:srgbClr val="335C81"/>
          </a:solidFill>
          <a:ln w="12700">
            <a:solidFill>
              <a:srgbClr val="335C81"/>
            </a:solidFill>
            <a:prstDash val="solid"/>
          </a:ln>
        </p:spPr>
      </p:sp>
      <p:sp>
        <p:nvSpPr>
          <p:cNvPr id="40" name="Text 38"/>
          <p:cNvSpPr/>
          <p:nvPr/>
        </p:nvSpPr>
        <p:spPr>
          <a:xfrm>
            <a:off x="676656" y="483209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TS-36</a:t>
            </a:r>
            <a:endParaRPr lang="en-US" sz="950" dirty="0"/>
          </a:p>
        </p:txBody>
      </p:sp>
      <p:sp>
        <p:nvSpPr>
          <p:cNvPr id="41" name="Text 39"/>
          <p:cNvSpPr/>
          <p:nvPr/>
        </p:nvSpPr>
        <p:spPr>
          <a:xfrm>
            <a:off x="1408176" y="4730496"/>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First trade in a product, at size</a:t>
            </a:r>
            <a:endParaRPr lang="en-US" sz="1200" dirty="0"/>
          </a:p>
        </p:txBody>
      </p:sp>
      <p:sp>
        <p:nvSpPr>
          <p:cNvPr id="42" name="Text 40"/>
          <p:cNvSpPr/>
          <p:nvPr/>
        </p:nvSpPr>
        <p:spPr>
          <a:xfrm>
            <a:off x="5276088" y="4730496"/>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no prior trade in the product by this trader in 12 months AND notional &gt; 2× their own median…</a:t>
            </a:r>
            <a:endParaRPr lang="en-US" sz="1000" dirty="0"/>
          </a:p>
        </p:txBody>
      </p:sp>
      <p:sp>
        <p:nvSpPr>
          <p:cNvPr id="43" name="Text 41"/>
          <p:cNvSpPr/>
          <p:nvPr/>
        </p:nvSpPr>
        <p:spPr>
          <a:xfrm>
            <a:off x="10259568" y="4730496"/>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12-month product…</a:t>
            </a:r>
            <a:endParaRPr lang="en-US" sz="940" dirty="0"/>
          </a:p>
        </p:txBody>
      </p:sp>
      <p:sp>
        <p:nvSpPr>
          <p:cNvPr id="44" name="Shape 42"/>
          <p:cNvSpPr/>
          <p:nvPr/>
        </p:nvSpPr>
        <p:spPr>
          <a:xfrm>
            <a:off x="676656" y="5327904"/>
            <a:ext cx="603504" cy="214884"/>
          </a:xfrm>
          <a:prstGeom prst="roundRect">
            <a:avLst>
              <a:gd name="adj" fmla="val 25532"/>
            </a:avLst>
          </a:prstGeom>
          <a:solidFill>
            <a:srgbClr val="E09F3E"/>
          </a:solidFill>
          <a:ln w="12700">
            <a:solidFill>
              <a:srgbClr val="E09F3E"/>
            </a:solidFill>
            <a:prstDash val="solid"/>
          </a:ln>
        </p:spPr>
      </p:sp>
      <p:sp>
        <p:nvSpPr>
          <p:cNvPr id="45" name="Text 43"/>
          <p:cNvSpPr/>
          <p:nvPr/>
        </p:nvSpPr>
        <p:spPr>
          <a:xfrm>
            <a:off x="676656" y="532790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TS-37</a:t>
            </a:r>
            <a:endParaRPr lang="en-US" sz="950" dirty="0"/>
          </a:p>
        </p:txBody>
      </p:sp>
      <p:sp>
        <p:nvSpPr>
          <p:cNvPr id="46" name="Text 44"/>
          <p:cNvSpPr/>
          <p:nvPr/>
        </p:nvSpPr>
        <p:spPr>
          <a:xfrm>
            <a:off x="1408176" y="5226304"/>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Surge before block leave</a:t>
            </a:r>
            <a:endParaRPr lang="en-US" sz="1200" dirty="0"/>
          </a:p>
        </p:txBody>
      </p:sp>
      <p:sp>
        <p:nvSpPr>
          <p:cNvPr id="47" name="Text 45"/>
          <p:cNvSpPr/>
          <p:nvPr/>
        </p:nvSpPr>
        <p:spPr>
          <a:xfrm>
            <a:off x="5276088" y="5226304"/>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daily ticket count &gt; 2.5× this trader's own 90-day mean in the 3 business days before their…</a:t>
            </a:r>
            <a:endParaRPr lang="en-US" sz="1000" dirty="0"/>
          </a:p>
        </p:txBody>
      </p:sp>
      <p:sp>
        <p:nvSpPr>
          <p:cNvPr id="48" name="Text 46"/>
          <p:cNvSpPr/>
          <p:nvPr/>
        </p:nvSpPr>
        <p:spPr>
          <a:xfrm>
            <a:off x="10259568" y="5226304"/>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90-day activity</a:t>
            </a:r>
            <a:endParaRPr lang="en-US" sz="940" dirty="0"/>
          </a:p>
        </p:txBody>
      </p:sp>
      <p:sp>
        <p:nvSpPr>
          <p:cNvPr id="49" name="Shape 47"/>
          <p:cNvSpPr/>
          <p:nvPr/>
        </p:nvSpPr>
        <p:spPr>
          <a:xfrm>
            <a:off x="566928" y="5703824"/>
            <a:ext cx="10881360" cy="459232"/>
          </a:xfrm>
          <a:prstGeom prst="rect">
            <a:avLst/>
          </a:prstGeom>
          <a:solidFill>
            <a:srgbClr val="F6F8FB"/>
          </a:solidFill>
          <a:ln w="12700">
            <a:solidFill>
              <a:srgbClr val="F6F8FB"/>
            </a:solidFill>
            <a:prstDash val="solid"/>
          </a:ln>
        </p:spPr>
      </p:sp>
      <p:sp>
        <p:nvSpPr>
          <p:cNvPr id="50" name="Shape 48"/>
          <p:cNvSpPr/>
          <p:nvPr/>
        </p:nvSpPr>
        <p:spPr>
          <a:xfrm>
            <a:off x="676656" y="5823712"/>
            <a:ext cx="603504" cy="214884"/>
          </a:xfrm>
          <a:prstGeom prst="roundRect">
            <a:avLst>
              <a:gd name="adj" fmla="val 25532"/>
            </a:avLst>
          </a:prstGeom>
          <a:solidFill>
            <a:srgbClr val="335C81"/>
          </a:solidFill>
          <a:ln w="12700">
            <a:solidFill>
              <a:srgbClr val="335C81"/>
            </a:solidFill>
            <a:prstDash val="solid"/>
          </a:ln>
        </p:spPr>
      </p:sp>
      <p:sp>
        <p:nvSpPr>
          <p:cNvPr id="51" name="Text 49"/>
          <p:cNvSpPr/>
          <p:nvPr/>
        </p:nvSpPr>
        <p:spPr>
          <a:xfrm>
            <a:off x="676656" y="582371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TS-38</a:t>
            </a:r>
            <a:endParaRPr lang="en-US" sz="950" dirty="0"/>
          </a:p>
        </p:txBody>
      </p:sp>
      <p:sp>
        <p:nvSpPr>
          <p:cNvPr id="52" name="Text 50"/>
          <p:cNvSpPr/>
          <p:nvPr/>
        </p:nvSpPr>
        <p:spPr>
          <a:xfrm>
            <a:off x="1408176" y="5722112"/>
            <a:ext cx="3794760" cy="42265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Daily volume spike versus own baseline</a:t>
            </a:r>
            <a:endParaRPr lang="en-US" sz="1200" dirty="0"/>
          </a:p>
        </p:txBody>
      </p:sp>
      <p:sp>
        <p:nvSpPr>
          <p:cNvPr id="53" name="Text 51"/>
          <p:cNvSpPr/>
          <p:nvPr/>
        </p:nvSpPr>
        <p:spPr>
          <a:xfrm>
            <a:off x="5276088" y="5722112"/>
            <a:ext cx="4892040" cy="422656"/>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daily notional z-score &gt; 3.0 against this trader's own 90-day distribution</a:t>
            </a:r>
            <a:endParaRPr lang="en-US" sz="1000" dirty="0"/>
          </a:p>
        </p:txBody>
      </p:sp>
      <p:sp>
        <p:nvSpPr>
          <p:cNvPr id="54" name="Text 52"/>
          <p:cNvSpPr/>
          <p:nvPr/>
        </p:nvSpPr>
        <p:spPr>
          <a:xfrm>
            <a:off x="10259568" y="5722112"/>
            <a:ext cx="1280160" cy="422656"/>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90-day notional…</a:t>
            </a:r>
            <a:endParaRPr lang="en-US" sz="940" dirty="0"/>
          </a:p>
        </p:txBody>
      </p:sp>
      <p:sp>
        <p:nvSpPr>
          <p:cNvPr id="55" name="Text 53"/>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10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Valuation</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Ten tests on whether reported profit is earned profit.</a:t>
            </a:r>
            <a:endParaRPr lang="en-US" sz="1350" dirty="0"/>
          </a:p>
        </p:txBody>
      </p:sp>
      <p:sp>
        <p:nvSpPr>
          <p:cNvPr id="45" name="Shape 45"/>
          <p:cNvSpPr/>
          <p:nvPr/>
        </p:nvSpPr>
        <p:spPr>
          <a:xfrm>
            <a:off x="566928" y="1737360"/>
            <a:ext cx="10881360" cy="409651"/>
          </a:xfrm>
          <a:prstGeom prst="rect">
            <a:avLst/>
          </a:prstGeom>
          <a:solidFill>
            <a:srgbClr val="F6F8FB"/>
          </a:solidFill>
          <a:ln w="12700">
            <a:solidFill>
              <a:srgbClr val="F6F8FB"/>
            </a:solidFill>
            <a:prstDash val="solid"/>
          </a:ln>
        </p:spPr>
      </p:sp>
      <p:sp>
        <p:nvSpPr>
          <p:cNvPr id="46" name="Shape 46"/>
          <p:cNvSpPr/>
          <p:nvPr/>
        </p:nvSpPr>
        <p:spPr>
          <a:xfrm>
            <a:off x="676656" y="1832457"/>
            <a:ext cx="603504" cy="214884"/>
          </a:xfrm>
          <a:prstGeom prst="roundRect">
            <a:avLst>
              <a:gd name="adj" fmla="val 25532"/>
            </a:avLst>
          </a:prstGeom>
          <a:solidFill>
            <a:srgbClr val="C1121F"/>
          </a:solidFill>
          <a:ln w="12700">
            <a:solidFill>
              <a:srgbClr val="E09F3E"/>
            </a:solidFill>
            <a:prstDash val="solid"/>
          </a:ln>
        </p:spPr>
      </p:sp>
      <p:sp>
        <p:nvSpPr>
          <p:cNvPr id="47" name="Shape 47"/>
          <p:cNvSpPr/>
          <p:nvPr/>
        </p:nvSpPr>
        <p:spPr>
          <a:xfrm>
            <a:off x="676656" y="1832457"/>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TS-09</a:t>
            </a:r>
            <a:endParaRPr lang="en-US" sz="950" dirty="0"/>
          </a:p>
        </p:txBody>
      </p:sp>
      <p:sp>
        <p:nvSpPr>
          <p:cNvPr id="48" name="Shape 48"/>
          <p:cNvSpPr/>
          <p:nvPr/>
        </p:nvSpPr>
        <p:spPr>
          <a:xfrm>
            <a:off x="1408176" y="1755648"/>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Period-end mark manipulation</a:t>
            </a:r>
            <a:endParaRPr lang="en-US" sz="1200" dirty="0"/>
          </a:p>
        </p:txBody>
      </p:sp>
      <p:sp>
        <p:nvSpPr>
          <p:cNvPr id="49" name="Shape 49"/>
          <p:cNvSpPr/>
          <p:nvPr/>
        </p:nvSpPr>
        <p:spPr>
          <a:xfrm>
            <a:off x="5276088" y="1755648"/>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≥2 trades &gt;20 bps off mid on a month-end valuation date by the same trader, with reversal…</a:t>
            </a:r>
            <a:endParaRPr lang="en-US" sz="1000" dirty="0"/>
          </a:p>
        </p:txBody>
      </p:sp>
      <p:sp>
        <p:nvSpPr>
          <p:cNvPr id="50" name="Shape 50"/>
          <p:cNvSpPr/>
          <p:nvPr/>
        </p:nvSpPr>
        <p:spPr>
          <a:xfrm>
            <a:off x="10259568" y="1755648"/>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book across the…</a:t>
            </a:r>
            <a:endParaRPr lang="en-US" sz="940" dirty="0"/>
          </a:p>
        </p:txBody>
      </p:sp>
      <p:sp>
        <p:nvSpPr>
          <p:cNvPr id="51" name="Shape 51"/>
          <p:cNvSpPr/>
          <p:nvPr/>
        </p:nvSpPr>
        <p:spPr>
          <a:xfrm>
            <a:off x="676656" y="2278684"/>
            <a:ext cx="603504" cy="214884"/>
          </a:xfrm>
          <a:prstGeom prst="roundRect">
            <a:avLst>
              <a:gd name="adj" fmla="val 25532"/>
            </a:avLst>
          </a:prstGeom>
          <a:solidFill>
            <a:srgbClr val="E09F3E"/>
          </a:solidFill>
          <a:ln w="12700">
            <a:solidFill>
              <a:srgbClr val="E09F3E"/>
            </a:solidFill>
            <a:prstDash val="solid"/>
          </a:ln>
        </p:spPr>
      </p:sp>
      <p:sp>
        <p:nvSpPr>
          <p:cNvPr id="52" name="Shape 52"/>
          <p:cNvSpPr/>
          <p:nvPr/>
        </p:nvSpPr>
        <p:spPr>
          <a:xfrm>
            <a:off x="676656" y="227868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TS-13</a:t>
            </a:r>
            <a:endParaRPr lang="en-US" sz="950" dirty="0"/>
          </a:p>
        </p:txBody>
      </p:sp>
      <p:sp>
        <p:nvSpPr>
          <p:cNvPr id="53" name="Shape 53"/>
          <p:cNvSpPr/>
          <p:nvPr/>
        </p:nvSpPr>
        <p:spPr>
          <a:xfrm>
            <a:off x="1408176" y="2201875"/>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P&amp;L outlier versus own volatility</a:t>
            </a:r>
            <a:endParaRPr lang="en-US" sz="1200" dirty="0"/>
          </a:p>
        </p:txBody>
      </p:sp>
      <p:sp>
        <p:nvSpPr>
          <p:cNvPr id="54" name="Shape 54"/>
          <p:cNvSpPr/>
          <p:nvPr/>
        </p:nvSpPr>
        <p:spPr>
          <a:xfrm>
            <a:off x="5276088" y="2201875"/>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|daily P&amp;L| z-score &gt; 3.0 against this trader's own trailing 60-day distribution</a:t>
            </a:r>
            <a:endParaRPr lang="en-US" sz="1000" dirty="0"/>
          </a:p>
        </p:txBody>
      </p:sp>
      <p:sp>
        <p:nvSpPr>
          <p:cNvPr id="55" name="Shape 55"/>
          <p:cNvSpPr/>
          <p:nvPr/>
        </p:nvSpPr>
        <p:spPr>
          <a:xfrm>
            <a:off x="10259568" y="2201875"/>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trailing 60-day…</a:t>
            </a:r>
            <a:endParaRPr lang="en-US" sz="940" dirty="0"/>
          </a:p>
        </p:txBody>
      </p:sp>
      <p:sp>
        <p:nvSpPr>
          <p:cNvPr id="56" name="Shape 56"/>
          <p:cNvSpPr/>
          <p:nvPr/>
        </p:nvSpPr>
        <p:spPr>
          <a:xfrm>
            <a:off x="566928" y="2629814"/>
            <a:ext cx="10881360" cy="409651"/>
          </a:xfrm>
          <a:prstGeom prst="rect">
            <a:avLst/>
          </a:prstGeom>
          <a:solidFill>
            <a:srgbClr val="F6F8FB"/>
          </a:solidFill>
          <a:ln w="12700">
            <a:solidFill>
              <a:srgbClr val="F6F8FB"/>
            </a:solidFill>
            <a:prstDash val="solid"/>
          </a:ln>
        </p:spPr>
      </p:sp>
      <p:sp>
        <p:nvSpPr>
          <p:cNvPr id="57" name="Shape 57"/>
          <p:cNvSpPr/>
          <p:nvPr/>
        </p:nvSpPr>
        <p:spPr>
          <a:xfrm>
            <a:off x="676656" y="2724911"/>
            <a:ext cx="603504" cy="214884"/>
          </a:xfrm>
          <a:prstGeom prst="roundRect">
            <a:avLst>
              <a:gd name="adj" fmla="val 25532"/>
            </a:avLst>
          </a:prstGeom>
          <a:solidFill>
            <a:srgbClr val="C1121F"/>
          </a:solidFill>
          <a:ln w="12700">
            <a:solidFill>
              <a:srgbClr val="E09F3E"/>
            </a:solidFill>
            <a:prstDash val="solid"/>
          </a:ln>
        </p:spPr>
      </p:sp>
      <p:sp>
        <p:nvSpPr>
          <p:cNvPr id="58" name="Shape 58"/>
          <p:cNvSpPr/>
          <p:nvPr/>
        </p:nvSpPr>
        <p:spPr>
          <a:xfrm>
            <a:off x="676656" y="2724911"/>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TS-14</a:t>
            </a:r>
            <a:endParaRPr lang="en-US" sz="950" dirty="0"/>
          </a:p>
        </p:txBody>
      </p:sp>
      <p:sp>
        <p:nvSpPr>
          <p:cNvPr id="59" name="Shape 59"/>
          <p:cNvSpPr/>
          <p:nvPr/>
        </p:nvSpPr>
        <p:spPr>
          <a:xfrm>
            <a:off x="1408176" y="2648102"/>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Loss parking via internal book transfer</a:t>
            </a:r>
            <a:endParaRPr lang="en-US" sz="1200" dirty="0"/>
          </a:p>
        </p:txBody>
      </p:sp>
      <p:sp>
        <p:nvSpPr>
          <p:cNvPr id="60" name="Shape 60"/>
          <p:cNvSpPr/>
          <p:nvPr/>
        </p:nvSpPr>
        <p:spPr>
          <a:xfrm>
            <a:off x="5276088" y="2648102"/>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internal transfer out of the trader's book within 3 days before period end, reversed within 10…</a:t>
            </a:r>
            <a:endParaRPr lang="en-US" sz="1000" dirty="0"/>
          </a:p>
        </p:txBody>
      </p:sp>
      <p:sp>
        <p:nvSpPr>
          <p:cNvPr id="61" name="Shape 61"/>
          <p:cNvSpPr/>
          <p:nvPr/>
        </p:nvSpPr>
        <p:spPr>
          <a:xfrm>
            <a:off x="10259568" y="2648102"/>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book across the…</a:t>
            </a:r>
            <a:endParaRPr lang="en-US" sz="940" dirty="0"/>
          </a:p>
        </p:txBody>
      </p:sp>
      <p:sp>
        <p:nvSpPr>
          <p:cNvPr id="62" name="Shape 62"/>
          <p:cNvSpPr/>
          <p:nvPr/>
        </p:nvSpPr>
        <p:spPr>
          <a:xfrm>
            <a:off x="676656" y="3171138"/>
            <a:ext cx="603504" cy="214884"/>
          </a:xfrm>
          <a:prstGeom prst="roundRect">
            <a:avLst>
              <a:gd name="adj" fmla="val 25532"/>
            </a:avLst>
          </a:prstGeom>
          <a:solidFill>
            <a:srgbClr val="E09F3E"/>
          </a:solidFill>
          <a:ln w="12700">
            <a:solidFill>
              <a:srgbClr val="E09F3E"/>
            </a:solidFill>
            <a:prstDash val="solid"/>
          </a:ln>
        </p:spPr>
      </p:sp>
      <p:sp>
        <p:nvSpPr>
          <p:cNvPr id="63" name="Shape 63"/>
          <p:cNvSpPr/>
          <p:nvPr/>
        </p:nvSpPr>
        <p:spPr>
          <a:xfrm>
            <a:off x="676656" y="317113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TS-16</a:t>
            </a:r>
            <a:endParaRPr lang="en-US" sz="950" dirty="0"/>
          </a:p>
        </p:txBody>
      </p:sp>
      <p:sp>
        <p:nvSpPr>
          <p:cNvPr id="64" name="Shape 64"/>
          <p:cNvSpPr/>
          <p:nvPr/>
        </p:nvSpPr>
        <p:spPr>
          <a:xfrm>
            <a:off x="1408176" y="3094329"/>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Internal transfer at an off-market price</a:t>
            </a:r>
            <a:endParaRPr lang="en-US" sz="1200" dirty="0"/>
          </a:p>
        </p:txBody>
      </p:sp>
      <p:sp>
        <p:nvSpPr>
          <p:cNvPr id="65" name="Shape 65"/>
          <p:cNvSpPr/>
          <p:nvPr/>
        </p:nvSpPr>
        <p:spPr>
          <a:xfrm>
            <a:off x="5276088" y="3094329"/>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internal counterparty AND |px − mid| &gt; 60% of the instrument's external materiality threshold…</a:t>
            </a:r>
            <a:endParaRPr lang="en-US" sz="1000" dirty="0"/>
          </a:p>
        </p:txBody>
      </p:sp>
      <p:sp>
        <p:nvSpPr>
          <p:cNvPr id="66" name="Shape 66"/>
          <p:cNvSpPr/>
          <p:nvPr/>
        </p:nvSpPr>
        <p:spPr>
          <a:xfrm>
            <a:off x="10259568" y="3094329"/>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instrument's own spread…</a:t>
            </a:r>
            <a:endParaRPr lang="en-US" sz="940" dirty="0"/>
          </a:p>
        </p:txBody>
      </p:sp>
      <p:sp>
        <p:nvSpPr>
          <p:cNvPr id="67" name="Shape 67"/>
          <p:cNvSpPr/>
          <p:nvPr/>
        </p:nvSpPr>
        <p:spPr>
          <a:xfrm>
            <a:off x="566928" y="3522268"/>
            <a:ext cx="10881360" cy="409651"/>
          </a:xfrm>
          <a:prstGeom prst="rect">
            <a:avLst/>
          </a:prstGeom>
          <a:solidFill>
            <a:srgbClr val="F6F8FB"/>
          </a:solidFill>
          <a:ln w="12700">
            <a:solidFill>
              <a:srgbClr val="F6F8FB"/>
            </a:solidFill>
            <a:prstDash val="solid"/>
          </a:ln>
        </p:spPr>
      </p:sp>
      <p:sp>
        <p:nvSpPr>
          <p:cNvPr id="68" name="Shape 68"/>
          <p:cNvSpPr/>
          <p:nvPr/>
        </p:nvSpPr>
        <p:spPr>
          <a:xfrm>
            <a:off x="676656" y="3617365"/>
            <a:ext cx="603504" cy="214884"/>
          </a:xfrm>
          <a:prstGeom prst="roundRect">
            <a:avLst>
              <a:gd name="adj" fmla="val 25532"/>
            </a:avLst>
          </a:prstGeom>
          <a:solidFill>
            <a:srgbClr val="E09F3E"/>
          </a:solidFill>
          <a:ln w="12700">
            <a:solidFill>
              <a:srgbClr val="E09F3E"/>
            </a:solidFill>
            <a:prstDash val="solid"/>
          </a:ln>
        </p:spPr>
      </p:sp>
      <p:sp>
        <p:nvSpPr>
          <p:cNvPr id="69" name="Shape 69"/>
          <p:cNvSpPr/>
          <p:nvPr/>
        </p:nvSpPr>
        <p:spPr>
          <a:xfrm>
            <a:off x="676656" y="3617365"/>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TS-39</a:t>
            </a:r>
            <a:endParaRPr lang="en-US" sz="950" dirty="0"/>
          </a:p>
        </p:txBody>
      </p:sp>
      <p:sp>
        <p:nvSpPr>
          <p:cNvPr id="70" name="Shape 70"/>
          <p:cNvSpPr/>
          <p:nvPr/>
        </p:nvSpPr>
        <p:spPr>
          <a:xfrm>
            <a:off x="1408176" y="3540556"/>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Implausibly smooth P&amp;L</a:t>
            </a:r>
            <a:endParaRPr lang="en-US" sz="1200" dirty="0"/>
          </a:p>
        </p:txBody>
      </p:sp>
      <p:sp>
        <p:nvSpPr>
          <p:cNvPr id="71" name="Shape 71"/>
          <p:cNvSpPr/>
          <p:nvPr/>
        </p:nvSpPr>
        <p:spPr>
          <a:xfrm>
            <a:off x="5276088" y="3540556"/>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losing days over 40 business days &lt; a third of this trader's own 12-month loss-day rate</a:t>
            </a:r>
            <a:endParaRPr lang="en-US" sz="1000" dirty="0"/>
          </a:p>
        </p:txBody>
      </p:sp>
      <p:sp>
        <p:nvSpPr>
          <p:cNvPr id="72" name="Shape 72"/>
          <p:cNvSpPr/>
          <p:nvPr/>
        </p:nvSpPr>
        <p:spPr>
          <a:xfrm>
            <a:off x="10259568" y="3540556"/>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loss-day…</a:t>
            </a:r>
            <a:endParaRPr lang="en-US" sz="940" dirty="0"/>
          </a:p>
        </p:txBody>
      </p:sp>
      <p:sp>
        <p:nvSpPr>
          <p:cNvPr id="73" name="Shape 73"/>
          <p:cNvSpPr/>
          <p:nvPr/>
        </p:nvSpPr>
        <p:spPr>
          <a:xfrm>
            <a:off x="676656" y="4063592"/>
            <a:ext cx="603504" cy="214884"/>
          </a:xfrm>
          <a:prstGeom prst="roundRect">
            <a:avLst>
              <a:gd name="adj" fmla="val 25532"/>
            </a:avLst>
          </a:prstGeom>
          <a:solidFill>
            <a:srgbClr val="E09F3E"/>
          </a:solidFill>
          <a:ln w="12700">
            <a:solidFill>
              <a:srgbClr val="E09F3E"/>
            </a:solidFill>
            <a:prstDash val="solid"/>
          </a:ln>
        </p:spPr>
      </p:sp>
      <p:sp>
        <p:nvSpPr>
          <p:cNvPr id="74" name="Shape 74"/>
          <p:cNvSpPr/>
          <p:nvPr/>
        </p:nvSpPr>
        <p:spPr>
          <a:xfrm>
            <a:off x="676656" y="406359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TS-40</a:t>
            </a:r>
            <a:endParaRPr lang="en-US" sz="950" dirty="0"/>
          </a:p>
        </p:txBody>
      </p:sp>
      <p:sp>
        <p:nvSpPr>
          <p:cNvPr id="75" name="Shape 75"/>
          <p:cNvSpPr/>
          <p:nvPr/>
        </p:nvSpPr>
        <p:spPr>
          <a:xfrm>
            <a:off x="1408176" y="3986783"/>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Day-one P&amp;L beyond model tolerance</a:t>
            </a:r>
            <a:endParaRPr lang="en-US" sz="1200" dirty="0"/>
          </a:p>
        </p:txBody>
      </p:sp>
      <p:sp>
        <p:nvSpPr>
          <p:cNvPr id="76" name="Shape 76"/>
          <p:cNvSpPr/>
          <p:nvPr/>
        </p:nvSpPr>
        <p:spPr>
          <a:xfrm>
            <a:off x="5276088" y="3986783"/>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day-one P&amp;L beyond the model-validation tolerance for that structure, measured against premium…</a:t>
            </a:r>
            <a:endParaRPr lang="en-US" sz="1000" dirty="0"/>
          </a:p>
        </p:txBody>
      </p:sp>
      <p:sp>
        <p:nvSpPr>
          <p:cNvPr id="77" name="Shape 77"/>
          <p:cNvSpPr/>
          <p:nvPr/>
        </p:nvSpPr>
        <p:spPr>
          <a:xfrm>
            <a:off x="10259568" y="3986783"/>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day-one tolerance for that…</a:t>
            </a:r>
            <a:endParaRPr lang="en-US" sz="940" dirty="0"/>
          </a:p>
        </p:txBody>
      </p:sp>
      <p:sp>
        <p:nvSpPr>
          <p:cNvPr id="78" name="Shape 78"/>
          <p:cNvSpPr/>
          <p:nvPr/>
        </p:nvSpPr>
        <p:spPr>
          <a:xfrm>
            <a:off x="566928" y="4414722"/>
            <a:ext cx="10881360" cy="409651"/>
          </a:xfrm>
          <a:prstGeom prst="rect">
            <a:avLst/>
          </a:prstGeom>
          <a:solidFill>
            <a:srgbClr val="F6F8FB"/>
          </a:solidFill>
          <a:ln w="12700">
            <a:solidFill>
              <a:srgbClr val="F6F8FB"/>
            </a:solidFill>
            <a:prstDash val="solid"/>
          </a:ln>
        </p:spPr>
      </p:sp>
      <p:sp>
        <p:nvSpPr>
          <p:cNvPr id="79" name="Shape 79"/>
          <p:cNvSpPr/>
          <p:nvPr/>
        </p:nvSpPr>
        <p:spPr>
          <a:xfrm>
            <a:off x="676656" y="4509819"/>
            <a:ext cx="603504" cy="214884"/>
          </a:xfrm>
          <a:prstGeom prst="roundRect">
            <a:avLst>
              <a:gd name="adj" fmla="val 25532"/>
            </a:avLst>
          </a:prstGeom>
          <a:solidFill>
            <a:srgbClr val="C1121F"/>
          </a:solidFill>
          <a:ln w="12700">
            <a:solidFill>
              <a:srgbClr val="E09F3E"/>
            </a:solidFill>
            <a:prstDash val="solid"/>
          </a:ln>
        </p:spPr>
      </p:sp>
      <p:sp>
        <p:nvSpPr>
          <p:cNvPr id="80" name="Shape 80"/>
          <p:cNvSpPr/>
          <p:nvPr/>
        </p:nvSpPr>
        <p:spPr>
          <a:xfrm>
            <a:off x="676656" y="4509819"/>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TS-41</a:t>
            </a:r>
            <a:endParaRPr lang="en-US" sz="950" dirty="0"/>
          </a:p>
        </p:txBody>
      </p:sp>
      <p:sp>
        <p:nvSpPr>
          <p:cNvPr id="81" name="Shape 81"/>
          <p:cNvSpPr/>
          <p:nvPr/>
        </p:nvSpPr>
        <p:spPr>
          <a:xfrm>
            <a:off x="1408176" y="4433010"/>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Give-back after a valuation date</a:t>
            </a:r>
            <a:endParaRPr lang="en-US" sz="1200" dirty="0"/>
          </a:p>
        </p:txBody>
      </p:sp>
      <p:sp>
        <p:nvSpPr>
          <p:cNvPr id="82" name="Shape 82"/>
          <p:cNvSpPr/>
          <p:nvPr/>
        </p:nvSpPr>
        <p:spPr>
          <a:xfrm>
            <a:off x="5276088" y="4433010"/>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losses in the 3 business days after month end &gt; 70% of the same trader's reported month-end gain</a:t>
            </a:r>
            <a:endParaRPr lang="en-US" sz="1000" dirty="0"/>
          </a:p>
        </p:txBody>
      </p:sp>
      <p:sp>
        <p:nvSpPr>
          <p:cNvPr id="83" name="Shape 83"/>
          <p:cNvSpPr/>
          <p:nvPr/>
        </p:nvSpPr>
        <p:spPr>
          <a:xfrm>
            <a:off x="10259568" y="4433010"/>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month-end P&amp;L</a:t>
            </a:r>
            <a:endParaRPr lang="en-US" sz="940" dirty="0"/>
          </a:p>
        </p:txBody>
      </p:sp>
      <p:sp>
        <p:nvSpPr>
          <p:cNvPr id="84" name="Shape 84"/>
          <p:cNvSpPr/>
          <p:nvPr/>
        </p:nvSpPr>
        <p:spPr>
          <a:xfrm>
            <a:off x="676656" y="4956046"/>
            <a:ext cx="603504" cy="214884"/>
          </a:xfrm>
          <a:prstGeom prst="roundRect">
            <a:avLst>
              <a:gd name="adj" fmla="val 25532"/>
            </a:avLst>
          </a:prstGeom>
          <a:solidFill>
            <a:srgbClr val="E09F3E"/>
          </a:solidFill>
          <a:ln w="12700">
            <a:solidFill>
              <a:srgbClr val="E09F3E"/>
            </a:solidFill>
            <a:prstDash val="solid"/>
          </a:ln>
        </p:spPr>
      </p:sp>
      <p:sp>
        <p:nvSpPr>
          <p:cNvPr id="85" name="Shape 85"/>
          <p:cNvSpPr/>
          <p:nvPr/>
        </p:nvSpPr>
        <p:spPr>
          <a:xfrm>
            <a:off x="676656" y="495604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TS-54</a:t>
            </a:r>
            <a:endParaRPr lang="en-US" sz="950" dirty="0"/>
          </a:p>
        </p:txBody>
      </p:sp>
      <p:sp>
        <p:nvSpPr>
          <p:cNvPr id="86" name="Shape 86"/>
          <p:cNvSpPr/>
          <p:nvPr/>
        </p:nvSpPr>
        <p:spPr>
          <a:xfrm>
            <a:off x="1408176" y="4879237"/>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Margin outlier against the peer cohort</a:t>
            </a:r>
            <a:endParaRPr lang="en-US" sz="1200" dirty="0"/>
          </a:p>
        </p:txBody>
      </p:sp>
      <p:sp>
        <p:nvSpPr>
          <p:cNvPr id="87" name="Shape 87"/>
          <p:cNvSpPr/>
          <p:nvPr/>
        </p:nvSpPr>
        <p:spPr>
          <a:xfrm>
            <a:off x="5276088" y="4879237"/>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this trader's revenue per $1m over 20 business days &gt; 2.5× what their peer cohort earns on the…</a:t>
            </a:r>
            <a:endParaRPr lang="en-US" sz="1000" dirty="0"/>
          </a:p>
        </p:txBody>
      </p:sp>
      <p:sp>
        <p:nvSpPr>
          <p:cNvPr id="88" name="Shape 88"/>
          <p:cNvSpPr/>
          <p:nvPr/>
        </p:nvSpPr>
        <p:spPr>
          <a:xfrm>
            <a:off x="10259568" y="4879237"/>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peer cohort's margin…</a:t>
            </a:r>
            <a:endParaRPr lang="en-US" sz="940" dirty="0"/>
          </a:p>
        </p:txBody>
      </p:sp>
      <p:sp>
        <p:nvSpPr>
          <p:cNvPr id="89" name="Shape 89"/>
          <p:cNvSpPr/>
          <p:nvPr/>
        </p:nvSpPr>
        <p:spPr>
          <a:xfrm>
            <a:off x="566928" y="5307176"/>
            <a:ext cx="10881360" cy="409651"/>
          </a:xfrm>
          <a:prstGeom prst="rect">
            <a:avLst/>
          </a:prstGeom>
          <a:solidFill>
            <a:srgbClr val="F6F8FB"/>
          </a:solidFill>
          <a:ln w="12700">
            <a:solidFill>
              <a:srgbClr val="F6F8FB"/>
            </a:solidFill>
            <a:prstDash val="solid"/>
          </a:ln>
        </p:spPr>
      </p:sp>
      <p:sp>
        <p:nvSpPr>
          <p:cNvPr id="90" name="Shape 90"/>
          <p:cNvSpPr/>
          <p:nvPr/>
        </p:nvSpPr>
        <p:spPr>
          <a:xfrm>
            <a:off x="676656" y="5402273"/>
            <a:ext cx="603504" cy="214884"/>
          </a:xfrm>
          <a:prstGeom prst="roundRect">
            <a:avLst>
              <a:gd name="adj" fmla="val 25532"/>
            </a:avLst>
          </a:prstGeom>
          <a:solidFill>
            <a:srgbClr val="E09F3E"/>
          </a:solidFill>
          <a:ln w="12700">
            <a:solidFill>
              <a:srgbClr val="E09F3E"/>
            </a:solidFill>
            <a:prstDash val="solid"/>
          </a:ln>
        </p:spPr>
      </p:sp>
      <p:sp>
        <p:nvSpPr>
          <p:cNvPr id="91" name="Shape 91"/>
          <p:cNvSpPr/>
          <p:nvPr/>
        </p:nvSpPr>
        <p:spPr>
          <a:xfrm>
            <a:off x="676656" y="5402273"/>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TS-55</a:t>
            </a:r>
            <a:endParaRPr lang="en-US" sz="950" dirty="0"/>
          </a:p>
        </p:txBody>
      </p:sp>
      <p:sp>
        <p:nvSpPr>
          <p:cNvPr id="92" name="Shape 92"/>
          <p:cNvSpPr/>
          <p:nvPr/>
        </p:nvSpPr>
        <p:spPr>
          <a:xfrm>
            <a:off x="1408176" y="5325464"/>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Revenue pulled into period end</a:t>
            </a:r>
            <a:endParaRPr lang="en-US" sz="1200" dirty="0"/>
          </a:p>
        </p:txBody>
      </p:sp>
      <p:sp>
        <p:nvSpPr>
          <p:cNvPr id="93" name="Shape 93"/>
          <p:cNvSpPr/>
          <p:nvPr/>
        </p:nvSpPr>
        <p:spPr>
          <a:xfrm>
            <a:off x="5276088" y="5325464"/>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share of a month's client revenue booked in its last 2 business days &gt; 2.5× this trader's own…</a:t>
            </a:r>
            <a:endParaRPr lang="en-US" sz="1000" dirty="0"/>
          </a:p>
        </p:txBody>
      </p:sp>
      <p:sp>
        <p:nvSpPr>
          <p:cNvPr id="94" name="Shape 94"/>
          <p:cNvSpPr/>
          <p:nvPr/>
        </p:nvSpPr>
        <p:spPr>
          <a:xfrm>
            <a:off x="10259568" y="5325464"/>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12-month share…</a:t>
            </a:r>
            <a:endParaRPr lang="en-US" sz="940" dirty="0"/>
          </a:p>
        </p:txBody>
      </p:sp>
      <p:sp>
        <p:nvSpPr>
          <p:cNvPr id="95" name="Shape 95"/>
          <p:cNvSpPr/>
          <p:nvPr/>
        </p:nvSpPr>
        <p:spPr>
          <a:xfrm>
            <a:off x="676656" y="5848500"/>
            <a:ext cx="603504" cy="214884"/>
          </a:xfrm>
          <a:prstGeom prst="roundRect">
            <a:avLst>
              <a:gd name="adj" fmla="val 25532"/>
            </a:avLst>
          </a:prstGeom>
          <a:solidFill>
            <a:srgbClr val="E09F3E"/>
          </a:solidFill>
          <a:ln w="12700">
            <a:solidFill>
              <a:srgbClr val="E09F3E"/>
            </a:solidFill>
            <a:prstDash val="solid"/>
          </a:ln>
        </p:spPr>
      </p:sp>
      <p:sp>
        <p:nvSpPr>
          <p:cNvPr id="96" name="Shape 96"/>
          <p:cNvSpPr/>
          <p:nvPr/>
        </p:nvSpPr>
        <p:spPr>
          <a:xfrm>
            <a:off x="676656" y="584850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TS-57</a:t>
            </a:r>
            <a:endParaRPr lang="en-US" sz="950" dirty="0"/>
          </a:p>
        </p:txBody>
      </p:sp>
      <p:sp>
        <p:nvSpPr>
          <p:cNvPr id="97" name="Shape 97"/>
          <p:cNvSpPr/>
          <p:nvPr/>
        </p:nvSpPr>
        <p:spPr>
          <a:xfrm>
            <a:off x="1408176" y="5771691"/>
            <a:ext cx="3794760" cy="373075"/>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Front-office and product-control P&amp;L disagree</a:t>
            </a:r>
            <a:endParaRPr lang="en-US" sz="1200" dirty="0"/>
          </a:p>
        </p:txBody>
      </p:sp>
      <p:sp>
        <p:nvSpPr>
          <p:cNvPr id="98" name="Shape 98"/>
          <p:cNvSpPr/>
          <p:nvPr/>
        </p:nvSpPr>
        <p:spPr>
          <a:xfrm>
            <a:off x="5276088" y="5771691"/>
            <a:ext cx="4892040" cy="373075"/>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|front-office revenue − product-control P&amp;L| for one trader on one day &gt; max($250k, 3× that…</a:t>
            </a:r>
            <a:endParaRPr lang="en-US" sz="1000" dirty="0"/>
          </a:p>
        </p:txBody>
      </p:sp>
      <p:sp>
        <p:nvSpPr>
          <p:cNvPr id="99" name="Shape 99"/>
          <p:cNvSpPr/>
          <p:nvPr/>
        </p:nvSpPr>
        <p:spPr>
          <a:xfrm>
            <a:off x="10259568" y="5771691"/>
            <a:ext cx="1280160" cy="373075"/>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60-day break…</a:t>
            </a:r>
            <a:endParaRPr lang="en-US" sz="940" dirty="0"/>
          </a:p>
        </p:txBody>
      </p:sp>
      <p:sp>
        <p:nvSpPr>
          <p:cNvPr id="44" name="Text 42"/>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8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Client conduct</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Eight tests on whose interest came first when the two diverged.</a:t>
            </a:r>
            <a:endParaRPr lang="en-US" sz="1350" dirty="0"/>
          </a:p>
        </p:txBody>
      </p:sp>
      <p:sp>
        <p:nvSpPr>
          <p:cNvPr id="23" name="Shape 23"/>
          <p:cNvSpPr/>
          <p:nvPr/>
        </p:nvSpPr>
        <p:spPr>
          <a:xfrm>
            <a:off x="566928" y="1737360"/>
            <a:ext cx="10881360" cy="521208"/>
          </a:xfrm>
          <a:prstGeom prst="rect">
            <a:avLst/>
          </a:prstGeom>
          <a:solidFill>
            <a:srgbClr val="F6F8FB"/>
          </a:solidFill>
          <a:ln w="12700">
            <a:solidFill>
              <a:srgbClr val="F6F8FB"/>
            </a:solidFill>
            <a:prstDash val="solid"/>
          </a:ln>
        </p:spPr>
      </p:sp>
      <p:sp>
        <p:nvSpPr>
          <p:cNvPr id="24" name="Shape 24"/>
          <p:cNvSpPr/>
          <p:nvPr/>
        </p:nvSpPr>
        <p:spPr>
          <a:xfrm>
            <a:off x="676656" y="1888236"/>
            <a:ext cx="603504" cy="214884"/>
          </a:xfrm>
          <a:prstGeom prst="roundRect">
            <a:avLst>
              <a:gd name="adj" fmla="val 25532"/>
            </a:avLst>
          </a:prstGeom>
          <a:solidFill>
            <a:srgbClr val="C1121F"/>
          </a:solidFill>
          <a:ln w="12700">
            <a:solidFill>
              <a:srgbClr val="E09F3E"/>
            </a:solidFill>
            <a:prstDash val="solid"/>
          </a:ln>
        </p:spPr>
      </p:sp>
      <p:sp>
        <p:nvSpPr>
          <p:cNvPr id="25" name="Shape 25"/>
          <p:cNvSpPr/>
          <p:nvPr/>
        </p:nvSpPr>
        <p:spPr>
          <a:xfrm>
            <a:off x="676656" y="18882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TS-11</a:t>
            </a:r>
            <a:endParaRPr lang="en-US" sz="950" dirty="0"/>
          </a:p>
        </p:txBody>
      </p:sp>
      <p:sp>
        <p:nvSpPr>
          <p:cNvPr id="26" name="Shape 26"/>
          <p:cNvSpPr/>
          <p:nvPr/>
        </p:nvSpPr>
        <p:spPr>
          <a:xfrm>
            <a:off x="1408176" y="1755648"/>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Front-running client flow</a:t>
            </a:r>
            <a:endParaRPr lang="en-US" sz="1200" dirty="0"/>
          </a:p>
        </p:txBody>
      </p:sp>
      <p:sp>
        <p:nvSpPr>
          <p:cNvPr id="27" name="Shape 27"/>
          <p:cNvSpPr/>
          <p:nvPr/>
        </p:nvSpPr>
        <p:spPr>
          <a:xfrm>
            <a:off x="5276088" y="1755648"/>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house trade same instrument &amp; direction, 0–15 min before a client order ≥5× this trader's…</a:t>
            </a:r>
            <a:endParaRPr lang="en-US" sz="1000" dirty="0"/>
          </a:p>
        </p:txBody>
      </p:sp>
      <p:sp>
        <p:nvSpPr>
          <p:cNvPr id="28" name="Shape 28"/>
          <p:cNvSpPr/>
          <p:nvPr/>
        </p:nvSpPr>
        <p:spPr>
          <a:xfrm>
            <a:off x="10259568" y="1755648"/>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order book and…</a:t>
            </a:r>
            <a:endParaRPr lang="en-US" sz="940" dirty="0"/>
          </a:p>
        </p:txBody>
      </p:sp>
      <p:sp>
        <p:nvSpPr>
          <p:cNvPr id="29" name="Shape 29"/>
          <p:cNvSpPr/>
          <p:nvPr/>
        </p:nvSpPr>
        <p:spPr>
          <a:xfrm>
            <a:off x="676656" y="2446020"/>
            <a:ext cx="603504" cy="214884"/>
          </a:xfrm>
          <a:prstGeom prst="roundRect">
            <a:avLst>
              <a:gd name="adj" fmla="val 25532"/>
            </a:avLst>
          </a:prstGeom>
          <a:solidFill>
            <a:srgbClr val="C1121F"/>
          </a:solidFill>
          <a:ln w="12700">
            <a:solidFill>
              <a:srgbClr val="E09F3E"/>
            </a:solidFill>
            <a:prstDash val="solid"/>
          </a:ln>
        </p:spPr>
      </p:sp>
      <p:sp>
        <p:nvSpPr>
          <p:cNvPr id="30" name="Shape 30"/>
          <p:cNvSpPr/>
          <p:nvPr/>
        </p:nvSpPr>
        <p:spPr>
          <a:xfrm>
            <a:off x="676656" y="244602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TS-45</a:t>
            </a:r>
            <a:endParaRPr lang="en-US" sz="950" dirty="0"/>
          </a:p>
        </p:txBody>
      </p:sp>
      <p:sp>
        <p:nvSpPr>
          <p:cNvPr id="31" name="Shape 31"/>
          <p:cNvSpPr/>
          <p:nvPr/>
        </p:nvSpPr>
        <p:spPr>
          <a:xfrm>
            <a:off x="1408176" y="2313432"/>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Post-trade allocation changed between clients</a:t>
            </a:r>
            <a:endParaRPr lang="en-US" sz="1200" dirty="0"/>
          </a:p>
        </p:txBody>
      </p:sp>
      <p:sp>
        <p:nvSpPr>
          <p:cNvPr id="32" name="Shape 32"/>
          <p:cNvSpPr/>
          <p:nvPr/>
        </p:nvSpPr>
        <p:spPr>
          <a:xfrm>
            <a:off x="5276088" y="2313432"/>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allocation amended after execution AND the reallocated fills sit &gt;8 bps better than the block…</a:t>
            </a:r>
            <a:endParaRPr lang="en-US" sz="1000" dirty="0"/>
          </a:p>
        </p:txBody>
      </p:sp>
      <p:sp>
        <p:nvSpPr>
          <p:cNvPr id="33" name="Shape 33"/>
          <p:cNvSpPr/>
          <p:nvPr/>
        </p:nvSpPr>
        <p:spPr>
          <a:xfrm>
            <a:off x="10259568" y="2313432"/>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block average…</a:t>
            </a:r>
            <a:endParaRPr lang="en-US" sz="940" dirty="0"/>
          </a:p>
        </p:txBody>
      </p:sp>
      <p:sp>
        <p:nvSpPr>
          <p:cNvPr id="34" name="Shape 34"/>
          <p:cNvSpPr/>
          <p:nvPr/>
        </p:nvSpPr>
        <p:spPr>
          <a:xfrm>
            <a:off x="566928" y="2852928"/>
            <a:ext cx="10881360" cy="521208"/>
          </a:xfrm>
          <a:prstGeom prst="rect">
            <a:avLst/>
          </a:prstGeom>
          <a:solidFill>
            <a:srgbClr val="F6F8FB"/>
          </a:solidFill>
          <a:ln w="12700">
            <a:solidFill>
              <a:srgbClr val="F6F8FB"/>
            </a:solidFill>
            <a:prstDash val="solid"/>
          </a:ln>
        </p:spPr>
      </p:sp>
      <p:sp>
        <p:nvSpPr>
          <p:cNvPr id="35" name="Shape 35"/>
          <p:cNvSpPr/>
          <p:nvPr/>
        </p:nvSpPr>
        <p:spPr>
          <a:xfrm>
            <a:off x="676656" y="3003804"/>
            <a:ext cx="603504" cy="214884"/>
          </a:xfrm>
          <a:prstGeom prst="roundRect">
            <a:avLst>
              <a:gd name="adj" fmla="val 25532"/>
            </a:avLst>
          </a:prstGeom>
          <a:solidFill>
            <a:srgbClr val="335C81"/>
          </a:solidFill>
          <a:ln w="12700">
            <a:solidFill>
              <a:srgbClr val="E09F3E"/>
            </a:solidFill>
            <a:prstDash val="solid"/>
          </a:ln>
        </p:spPr>
      </p:sp>
      <p:sp>
        <p:nvSpPr>
          <p:cNvPr id="36" name="Shape 36"/>
          <p:cNvSpPr/>
          <p:nvPr/>
        </p:nvSpPr>
        <p:spPr>
          <a:xfrm>
            <a:off x="676656" y="300380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TS-46</a:t>
            </a:r>
            <a:endParaRPr lang="en-US" sz="950" dirty="0"/>
          </a:p>
        </p:txBody>
      </p:sp>
      <p:sp>
        <p:nvSpPr>
          <p:cNvPr id="37" name="Shape 37"/>
          <p:cNvSpPr/>
          <p:nvPr/>
        </p:nvSpPr>
        <p:spPr>
          <a:xfrm>
            <a:off x="1408176" y="2871216"/>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Counterparty concentration</a:t>
            </a:r>
            <a:endParaRPr lang="en-US" sz="1200" dirty="0"/>
          </a:p>
        </p:txBody>
      </p:sp>
      <p:sp>
        <p:nvSpPr>
          <p:cNvPr id="38" name="Shape 38"/>
          <p:cNvSpPr/>
          <p:nvPr/>
        </p:nvSpPr>
        <p:spPr>
          <a:xfrm>
            <a:off x="5276088" y="2871216"/>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one counterparty &gt; this trader's concentration cap of their tickets over 20 business days…</a:t>
            </a:r>
            <a:endParaRPr lang="en-US" sz="1000" dirty="0"/>
          </a:p>
        </p:txBody>
      </p:sp>
      <p:sp>
        <p:nvSpPr>
          <p:cNvPr id="39" name="Shape 39"/>
          <p:cNvSpPr/>
          <p:nvPr/>
        </p:nvSpPr>
        <p:spPr>
          <a:xfrm>
            <a:off x="10259568" y="2871216"/>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counterparty mix…</a:t>
            </a:r>
            <a:endParaRPr lang="en-US" sz="940" dirty="0"/>
          </a:p>
        </p:txBody>
      </p:sp>
      <p:sp>
        <p:nvSpPr>
          <p:cNvPr id="40" name="Shape 40"/>
          <p:cNvSpPr/>
          <p:nvPr/>
        </p:nvSpPr>
        <p:spPr>
          <a:xfrm>
            <a:off x="676656" y="3561588"/>
            <a:ext cx="603504" cy="214884"/>
          </a:xfrm>
          <a:prstGeom prst="roundRect">
            <a:avLst>
              <a:gd name="adj" fmla="val 25532"/>
            </a:avLst>
          </a:prstGeom>
          <a:solidFill>
            <a:srgbClr val="E09F3E"/>
          </a:solidFill>
          <a:ln w="12700">
            <a:solidFill>
              <a:srgbClr val="E09F3E"/>
            </a:solidFill>
            <a:prstDash val="solid"/>
          </a:ln>
        </p:spPr>
      </p:sp>
      <p:sp>
        <p:nvSpPr>
          <p:cNvPr id="41" name="Shape 41"/>
          <p:cNvSpPr/>
          <p:nvPr/>
        </p:nvSpPr>
        <p:spPr>
          <a:xfrm>
            <a:off x="676656" y="356158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TS-51</a:t>
            </a:r>
            <a:endParaRPr lang="en-US" sz="950" dirty="0"/>
          </a:p>
        </p:txBody>
      </p:sp>
      <p:sp>
        <p:nvSpPr>
          <p:cNvPr id="42" name="Shape 42"/>
          <p:cNvSpPr/>
          <p:nvPr/>
        </p:nvSpPr>
        <p:spPr>
          <a:xfrm>
            <a:off x="1408176" y="3429000"/>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Excessive mark-up against comparable clients</a:t>
            </a:r>
            <a:endParaRPr lang="en-US" sz="1200" dirty="0"/>
          </a:p>
        </p:txBody>
      </p:sp>
      <p:sp>
        <p:nvSpPr>
          <p:cNvPr id="43" name="Shape 43"/>
          <p:cNvSpPr/>
          <p:nvPr/>
        </p:nvSpPr>
        <p:spPr>
          <a:xfrm>
            <a:off x="5276088" y="3429000"/>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≥5 deals with one client over 20 business days at a margin &gt; 2.5× the median that clients of…</a:t>
            </a:r>
            <a:endParaRPr lang="en-US" sz="1000" dirty="0"/>
          </a:p>
        </p:txBody>
      </p:sp>
      <p:sp>
        <p:nvSpPr>
          <p:cNvPr id="44" name="Shape 44"/>
          <p:cNvSpPr/>
          <p:nvPr/>
        </p:nvSpPr>
        <p:spPr>
          <a:xfrm>
            <a:off x="10259568" y="3429000"/>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What clients of the same type pay…</a:t>
            </a:r>
            <a:endParaRPr lang="en-US" sz="940" dirty="0"/>
          </a:p>
        </p:txBody>
      </p:sp>
      <p:sp>
        <p:nvSpPr>
          <p:cNvPr id="45" name="Shape 45"/>
          <p:cNvSpPr/>
          <p:nvPr/>
        </p:nvSpPr>
        <p:spPr>
          <a:xfrm>
            <a:off x="566928" y="3968496"/>
            <a:ext cx="10881360" cy="521208"/>
          </a:xfrm>
          <a:prstGeom prst="rect">
            <a:avLst/>
          </a:prstGeom>
          <a:solidFill>
            <a:srgbClr val="F6F8FB"/>
          </a:solidFill>
          <a:ln w="12700">
            <a:solidFill>
              <a:srgbClr val="F6F8FB"/>
            </a:solidFill>
            <a:prstDash val="solid"/>
          </a:ln>
        </p:spPr>
      </p:sp>
      <p:sp>
        <p:nvSpPr>
          <p:cNvPr id="46" name="Shape 46"/>
          <p:cNvSpPr/>
          <p:nvPr/>
        </p:nvSpPr>
        <p:spPr>
          <a:xfrm>
            <a:off x="676656" y="4119372"/>
            <a:ext cx="603504" cy="214884"/>
          </a:xfrm>
          <a:prstGeom prst="roundRect">
            <a:avLst>
              <a:gd name="adj" fmla="val 25532"/>
            </a:avLst>
          </a:prstGeom>
          <a:solidFill>
            <a:srgbClr val="335C81"/>
          </a:solidFill>
          <a:ln w="12700">
            <a:solidFill>
              <a:srgbClr val="E09F3E"/>
            </a:solidFill>
            <a:prstDash val="solid"/>
          </a:ln>
        </p:spPr>
      </p:sp>
      <p:sp>
        <p:nvSpPr>
          <p:cNvPr id="47" name="Shape 47"/>
          <p:cNvSpPr/>
          <p:nvPr/>
        </p:nvSpPr>
        <p:spPr>
          <a:xfrm>
            <a:off x="676656" y="411937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TS-52</a:t>
            </a:r>
            <a:endParaRPr lang="en-US" sz="950" dirty="0"/>
          </a:p>
        </p:txBody>
      </p:sp>
      <p:sp>
        <p:nvSpPr>
          <p:cNvPr id="48" name="Shape 48"/>
          <p:cNvSpPr/>
          <p:nvPr/>
        </p:nvSpPr>
        <p:spPr>
          <a:xfrm>
            <a:off x="1408176" y="3986784"/>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Mark-up concentrated on voice</a:t>
            </a:r>
            <a:endParaRPr lang="en-US" sz="1200" dirty="0"/>
          </a:p>
        </p:txBody>
      </p:sp>
      <p:sp>
        <p:nvSpPr>
          <p:cNvPr id="49" name="Shape 49"/>
          <p:cNvSpPr/>
          <p:nvPr/>
        </p:nvSpPr>
        <p:spPr>
          <a:xfrm>
            <a:off x="5276088" y="3986784"/>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the same client's margin on voice deals &gt; 2× their margin on electronic deals in the same…</a:t>
            </a:r>
            <a:endParaRPr lang="en-US" sz="1000" dirty="0"/>
          </a:p>
        </p:txBody>
      </p:sp>
      <p:sp>
        <p:nvSpPr>
          <p:cNvPr id="50" name="Shape 50"/>
          <p:cNvSpPr/>
          <p:nvPr/>
        </p:nvSpPr>
        <p:spPr>
          <a:xfrm>
            <a:off x="10259568" y="3986784"/>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same client's own electronic…</a:t>
            </a:r>
            <a:endParaRPr lang="en-US" sz="940" dirty="0"/>
          </a:p>
        </p:txBody>
      </p:sp>
      <p:sp>
        <p:nvSpPr>
          <p:cNvPr id="51" name="Shape 51"/>
          <p:cNvSpPr/>
          <p:nvPr/>
        </p:nvSpPr>
        <p:spPr>
          <a:xfrm>
            <a:off x="676656" y="4677156"/>
            <a:ext cx="603504" cy="214884"/>
          </a:xfrm>
          <a:prstGeom prst="roundRect">
            <a:avLst>
              <a:gd name="adj" fmla="val 25532"/>
            </a:avLst>
          </a:prstGeom>
          <a:solidFill>
            <a:srgbClr val="335C81"/>
          </a:solidFill>
          <a:ln w="12700">
            <a:solidFill>
              <a:srgbClr val="E09F3E"/>
            </a:solidFill>
            <a:prstDash val="solid"/>
          </a:ln>
        </p:spPr>
      </p:sp>
      <p:sp>
        <p:nvSpPr>
          <p:cNvPr id="52" name="Shape 52"/>
          <p:cNvSpPr/>
          <p:nvPr/>
        </p:nvSpPr>
        <p:spPr>
          <a:xfrm>
            <a:off x="676656" y="467715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TS-53</a:t>
            </a:r>
            <a:endParaRPr lang="en-US" sz="950" dirty="0"/>
          </a:p>
        </p:txBody>
      </p:sp>
      <p:sp>
        <p:nvSpPr>
          <p:cNvPr id="53" name="Shape 53"/>
          <p:cNvSpPr/>
          <p:nvPr/>
        </p:nvSpPr>
        <p:spPr>
          <a:xfrm>
            <a:off x="1408176" y="4544568"/>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Revenue concentration out of line with volume</a:t>
            </a:r>
            <a:endParaRPr lang="en-US" sz="1200" dirty="0"/>
          </a:p>
        </p:txBody>
      </p:sp>
      <p:sp>
        <p:nvSpPr>
          <p:cNvPr id="54" name="Shape 54"/>
          <p:cNvSpPr/>
          <p:nvPr/>
        </p:nvSpPr>
        <p:spPr>
          <a:xfrm>
            <a:off x="5276088" y="4544568"/>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one client &gt; 35% of this trader's client revenue over 60 business days while &lt; 10% of their…</a:t>
            </a:r>
            <a:endParaRPr lang="en-US" sz="1000" dirty="0"/>
          </a:p>
        </p:txBody>
      </p:sp>
      <p:sp>
        <p:nvSpPr>
          <p:cNvPr id="55" name="Shape 55"/>
          <p:cNvSpPr/>
          <p:nvPr/>
        </p:nvSpPr>
        <p:spPr>
          <a:xfrm>
            <a:off x="10259568" y="4544568"/>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revenue and…</a:t>
            </a:r>
            <a:endParaRPr lang="en-US" sz="940" dirty="0"/>
          </a:p>
        </p:txBody>
      </p:sp>
      <p:sp>
        <p:nvSpPr>
          <p:cNvPr id="56" name="Shape 56"/>
          <p:cNvSpPr/>
          <p:nvPr/>
        </p:nvSpPr>
        <p:spPr>
          <a:xfrm>
            <a:off x="566928" y="5084064"/>
            <a:ext cx="10881360" cy="521208"/>
          </a:xfrm>
          <a:prstGeom prst="rect">
            <a:avLst/>
          </a:prstGeom>
          <a:solidFill>
            <a:srgbClr val="F6F8FB"/>
          </a:solidFill>
          <a:ln w="12700">
            <a:solidFill>
              <a:srgbClr val="F6F8FB"/>
            </a:solidFill>
            <a:prstDash val="solid"/>
          </a:ln>
        </p:spPr>
      </p:sp>
      <p:sp>
        <p:nvSpPr>
          <p:cNvPr id="57" name="Shape 57"/>
          <p:cNvSpPr/>
          <p:nvPr/>
        </p:nvSpPr>
        <p:spPr>
          <a:xfrm>
            <a:off x="676656" y="5234940"/>
            <a:ext cx="603504" cy="214884"/>
          </a:xfrm>
          <a:prstGeom prst="roundRect">
            <a:avLst>
              <a:gd name="adj" fmla="val 25532"/>
            </a:avLst>
          </a:prstGeom>
          <a:solidFill>
            <a:srgbClr val="335C81"/>
          </a:solidFill>
          <a:ln w="12700">
            <a:solidFill>
              <a:srgbClr val="E09F3E"/>
            </a:solidFill>
            <a:prstDash val="solid"/>
          </a:ln>
        </p:spPr>
      </p:sp>
      <p:sp>
        <p:nvSpPr>
          <p:cNvPr id="58" name="Shape 58"/>
          <p:cNvSpPr/>
          <p:nvPr/>
        </p:nvSpPr>
        <p:spPr>
          <a:xfrm>
            <a:off x="676656" y="5234940"/>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TS-56</a:t>
            </a:r>
            <a:endParaRPr lang="en-US" sz="950" dirty="0"/>
          </a:p>
        </p:txBody>
      </p:sp>
      <p:sp>
        <p:nvSpPr>
          <p:cNvPr id="59" name="Shape 59"/>
          <p:cNvSpPr/>
          <p:nvPr/>
        </p:nvSpPr>
        <p:spPr>
          <a:xfrm>
            <a:off x="1408176" y="5102352"/>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Spread given away on external flow</a:t>
            </a:r>
            <a:endParaRPr lang="en-US" sz="1200" dirty="0"/>
          </a:p>
        </p:txBody>
      </p:sp>
      <p:sp>
        <p:nvSpPr>
          <p:cNvPr id="60" name="Shape 60"/>
          <p:cNvSpPr/>
          <p:nvPr/>
        </p:nvSpPr>
        <p:spPr>
          <a:xfrm>
            <a:off x="5276088" y="5102352"/>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margin on external flow over 20 business days &lt; 30% of this trader's own 12-month margin on the…</a:t>
            </a:r>
            <a:endParaRPr lang="en-US" sz="1000" dirty="0"/>
          </a:p>
        </p:txBody>
      </p:sp>
      <p:sp>
        <p:nvSpPr>
          <p:cNvPr id="61" name="Shape 61"/>
          <p:cNvSpPr/>
          <p:nvPr/>
        </p:nvSpPr>
        <p:spPr>
          <a:xfrm>
            <a:off x="10259568" y="5102352"/>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12-month margin…</a:t>
            </a:r>
            <a:endParaRPr lang="en-US" sz="940" dirty="0"/>
          </a:p>
        </p:txBody>
      </p:sp>
      <p:sp>
        <p:nvSpPr>
          <p:cNvPr id="62" name="Shape 62"/>
          <p:cNvSpPr/>
          <p:nvPr/>
        </p:nvSpPr>
        <p:spPr>
          <a:xfrm>
            <a:off x="676656" y="5792724"/>
            <a:ext cx="603504" cy="214884"/>
          </a:xfrm>
          <a:prstGeom prst="roundRect">
            <a:avLst>
              <a:gd name="adj" fmla="val 25532"/>
            </a:avLst>
          </a:prstGeom>
          <a:solidFill>
            <a:srgbClr val="C1121F"/>
          </a:solidFill>
          <a:ln w="12700">
            <a:solidFill>
              <a:srgbClr val="E09F3E"/>
            </a:solidFill>
            <a:prstDash val="solid"/>
          </a:ln>
        </p:spPr>
      </p:sp>
      <p:sp>
        <p:nvSpPr>
          <p:cNvPr id="63" name="Shape 63"/>
          <p:cNvSpPr/>
          <p:nvPr/>
        </p:nvSpPr>
        <p:spPr>
          <a:xfrm>
            <a:off x="676656" y="579272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TS-58</a:t>
            </a:r>
            <a:endParaRPr lang="en-US" sz="950" dirty="0"/>
          </a:p>
        </p:txBody>
      </p:sp>
      <p:sp>
        <p:nvSpPr>
          <p:cNvPr id="64" name="Shape 64"/>
          <p:cNvSpPr/>
          <p:nvPr/>
        </p:nvSpPr>
        <p:spPr>
          <a:xfrm>
            <a:off x="1408176" y="5660136"/>
            <a:ext cx="3794760" cy="4846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Trading losses recovered through client mark-up</a:t>
            </a:r>
            <a:endParaRPr lang="en-US" sz="1200" dirty="0"/>
          </a:p>
        </p:txBody>
      </p:sp>
      <p:sp>
        <p:nvSpPr>
          <p:cNvPr id="65" name="Shape 65"/>
          <p:cNvSpPr/>
          <p:nvPr/>
        </p:nvSpPr>
        <p:spPr>
          <a:xfrm>
            <a:off x="5276088" y="5660136"/>
            <a:ext cx="4892040" cy="484632"/>
          </a:xfrm>
          <a:prstGeom prst="rect">
            <a:avLst/>
          </a:prstGeom>
          <a:noFill/>
          <a:ln/>
        </p:spPr>
        <p:txBody>
          <a:bodyPr wrap="square" lIns="0" tIns="0" rIns="0" bIns="0" rtlCol="0" anchor="ctr"/>
          <a:lstStyle/>
          <a:p>
            <a:pPr indent="0" marL="0">
              <a:buNone/>
            </a:pPr>
            <a:r>
              <a:rPr lang="en-US" sz="1000" dirty="0">
                <a:solidFill>
                  <a:srgbClr val="1B2430"/>
                </a:solidFill>
                <a:latin typeface="Calibri" pitchFamily="34" charset="0"/>
                <a:ea typeface="Calibri" pitchFamily="34" charset="-122"/>
                <a:cs typeface="Calibri" pitchFamily="34" charset="-120"/>
              </a:rPr>
              <a:t>risk loss on a day &gt; 2× this trader's own daily risk-result swing, followed the same day by…</a:t>
            </a:r>
            <a:endParaRPr lang="en-US" sz="1000" dirty="0"/>
          </a:p>
        </p:txBody>
      </p:sp>
      <p:sp>
        <p:nvSpPr>
          <p:cNvPr id="66" name="Shape 66"/>
          <p:cNvSpPr/>
          <p:nvPr/>
        </p:nvSpPr>
        <p:spPr>
          <a:xfrm>
            <a:off x="10259568" y="5660136"/>
            <a:ext cx="1280160" cy="484632"/>
          </a:xfrm>
          <a:prstGeom prst="rect">
            <a:avLst/>
          </a:prstGeom>
          <a:noFill/>
          <a:ln/>
        </p:spPr>
        <p:txBody>
          <a:bodyPr wrap="square" lIns="0" tIns="0" rIns="0" bIns="0" rtlCol="0" anchor="ctr"/>
          <a:lstStyle/>
          <a:p>
            <a:pPr algn="r" indent="0" marL="0">
              <a:buNone/>
            </a:pPr>
            <a:r>
              <a:rPr lang="en-US" sz="940" i="1" dirty="0">
                <a:solidFill>
                  <a:srgbClr val="8A94A6"/>
                </a:solidFill>
                <a:latin typeface="Calibri" pitchFamily="34" charset="0"/>
                <a:ea typeface="Calibri" pitchFamily="34" charset="-122"/>
                <a:cs typeface="Calibri" pitchFamily="34" charset="-120"/>
              </a:rPr>
              <a:t>The trader's own daily…</a:t>
            </a:r>
            <a:endParaRPr lang="en-US" sz="940" dirty="0"/>
          </a:p>
        </p:txBody>
      </p:sp>
      <p:sp>
        <p:nvSpPr>
          <p:cNvPr id="22" name="Text 20"/>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4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Settlement</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Four tests on where the cash and the securities actually went.</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C1121F"/>
          </a:solidFill>
          <a:ln w="12700">
            <a:solidFill>
              <a:srgbClr val="C1121F"/>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TS-17</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Settlement instruction changed after execution</a:t>
            </a:r>
            <a:endParaRPr lang="en-US" sz="136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SSI amended after execution timestamp AND destination bank or country differs from the counterparty static record</a:t>
            </a:r>
            <a:endParaRPr lang="en-US" sz="116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Counterparty static record</a:t>
            </a:r>
            <a:endParaRPr lang="en-US" sz="1100" dirty="0"/>
          </a:p>
        </p:txBody>
      </p:sp>
      <p:sp>
        <p:nvSpPr>
          <p:cNvPr id="11" name="Shape 9"/>
          <p:cNvSpPr/>
          <p:nvPr/>
        </p:nvSpPr>
        <p:spPr>
          <a:xfrm>
            <a:off x="676656" y="2459736"/>
            <a:ext cx="603504" cy="214884"/>
          </a:xfrm>
          <a:prstGeom prst="roundRect">
            <a:avLst>
              <a:gd name="adj" fmla="val 25532"/>
            </a:avLst>
          </a:prstGeom>
          <a:solidFill>
            <a:srgbClr val="E09F3E"/>
          </a:solidFill>
          <a:ln w="12700">
            <a:solidFill>
              <a:srgbClr val="E09F3E"/>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TS-42</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Split settlement across accounts</a:t>
            </a:r>
            <a:endParaRPr lang="en-US" sz="136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settlement of a single trade split across ≥2 accounts, or destination account ∉ counterparty static record</a:t>
            </a:r>
            <a:endParaRPr lang="en-US" sz="116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Counterparty static record</a:t>
            </a:r>
            <a:endParaRPr lang="en-US" sz="110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C1121F"/>
          </a:solidFill>
          <a:ln w="12700">
            <a:solidFill>
              <a:srgbClr val="C1121F"/>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TS-43</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Payment to a high-risk jurisdiction</a:t>
            </a:r>
            <a:endParaRPr lang="en-US" sz="136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settlement country ∈ high-risk list AND ≠ counterparty domicile AND destination differs from the standing settlement…</a:t>
            </a:r>
            <a:endParaRPr lang="en-US" sz="116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High-risk jurisdiction list</a:t>
            </a:r>
            <a:endParaRPr lang="en-US" sz="1100" dirty="0"/>
          </a:p>
        </p:txBody>
      </p:sp>
      <p:sp>
        <p:nvSpPr>
          <p:cNvPr id="22" name="Shape 20"/>
          <p:cNvSpPr/>
          <p:nvPr/>
        </p:nvSpPr>
        <p:spPr>
          <a:xfrm>
            <a:off x="676656" y="3593592"/>
            <a:ext cx="603504" cy="214884"/>
          </a:xfrm>
          <a:prstGeom prst="roundRect">
            <a:avLst>
              <a:gd name="adj" fmla="val 25532"/>
            </a:avLst>
          </a:prstGeom>
          <a:solidFill>
            <a:srgbClr val="335C81"/>
          </a:solidFill>
          <a:ln w="12700">
            <a:solidFill>
              <a:srgbClr val="335C81"/>
            </a:solidFill>
            <a:prstDash val="solid"/>
          </a:ln>
        </p:spPr>
      </p:sp>
      <p:sp>
        <p:nvSpPr>
          <p:cNvPr id="23" name="Text 21"/>
          <p:cNvSpPr/>
          <p:nvPr/>
        </p:nvSpPr>
        <p:spPr>
          <a:xfrm>
            <a:off x="676656" y="3593592"/>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TS-44</a:t>
            </a:r>
            <a:endParaRPr lang="en-US" sz="950" dirty="0"/>
          </a:p>
        </p:txBody>
      </p:sp>
      <p:sp>
        <p:nvSpPr>
          <p:cNvPr id="24" name="Text 22"/>
          <p:cNvSpPr/>
          <p:nvPr/>
        </p:nvSpPr>
        <p:spPr>
          <a:xfrm>
            <a:off x="1408176" y="3456432"/>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Confirmation unmatched beyond policy</a:t>
            </a:r>
            <a:endParaRPr lang="en-US" sz="1360" dirty="0"/>
          </a:p>
        </p:txBody>
      </p:sp>
      <p:sp>
        <p:nvSpPr>
          <p:cNvPr id="25" name="Text 23"/>
          <p:cNvSpPr/>
          <p:nvPr/>
        </p:nvSpPr>
        <p:spPr>
          <a:xfrm>
            <a:off x="5276088" y="3456432"/>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confirmation outstanding &gt; 5 business days AND this trader's unconfirmed count &gt; 3× their own 12-month rate</a:t>
            </a:r>
            <a:endParaRPr lang="en-US" sz="1160" dirty="0"/>
          </a:p>
        </p:txBody>
      </p:sp>
      <p:sp>
        <p:nvSpPr>
          <p:cNvPr id="26" name="Text 24"/>
          <p:cNvSpPr/>
          <p:nvPr/>
        </p:nvSpPr>
        <p:spPr>
          <a:xfrm>
            <a:off x="10259568" y="3456432"/>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confirmation…</a:t>
            </a:r>
            <a:endParaRPr lang="en-US" sz="1100" dirty="0"/>
          </a:p>
        </p:txBody>
      </p:sp>
      <p:sp>
        <p:nvSpPr>
          <p:cNvPr id="27" name="Text 25"/>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3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Financing</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Three tests on funding and balance-sheet presentation.</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E09F3E"/>
          </a:solidFill>
          <a:ln w="12700">
            <a:solidFill>
              <a:srgbClr val="E09F3E"/>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TS-18</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Repo roll concealing reporting-date balance sheet</a:t>
            </a:r>
            <a:endParaRPr lang="en-US" sz="136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repo &gt; 4× this trader's median financing ticket maturing within 2 business days before a quarter end and re-opened…</a:t>
            </a:r>
            <a:endParaRPr lang="en-US" sz="116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financing book…</a:t>
            </a:r>
            <a:endParaRPr lang="en-US" sz="1100" dirty="0"/>
          </a:p>
        </p:txBody>
      </p:sp>
      <p:sp>
        <p:nvSpPr>
          <p:cNvPr id="11" name="Shape 9"/>
          <p:cNvSpPr/>
          <p:nvPr/>
        </p:nvSpPr>
        <p:spPr>
          <a:xfrm>
            <a:off x="676656" y="2459736"/>
            <a:ext cx="603504" cy="214884"/>
          </a:xfrm>
          <a:prstGeom prst="roundRect">
            <a:avLst>
              <a:gd name="adj" fmla="val 25532"/>
            </a:avLst>
          </a:prstGeom>
          <a:solidFill>
            <a:srgbClr val="E09F3E"/>
          </a:solidFill>
          <a:ln w="12700">
            <a:solidFill>
              <a:srgbClr val="E09F3E"/>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TS-49</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Financing with a connected counterparty</a:t>
            </a:r>
            <a:endParaRPr lang="en-US" sz="136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repo counterparty ∈ related-party register AND |repo rate − GC| &gt; 15 bps</a:t>
            </a:r>
            <a:endParaRPr lang="en-US" sz="116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GC level and the related-party…</a:t>
            </a:r>
            <a:endParaRPr lang="en-US" sz="110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335C81"/>
          </a:solidFill>
          <a:ln w="12700">
            <a:solidFill>
              <a:srgbClr val="335C81"/>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TS-50</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Collateral substitution before a reporting date</a:t>
            </a:r>
            <a:endParaRPr lang="en-US" sz="136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substitution within 2 business days before a reporting date, reversed within 5 business days after, same trader</a:t>
            </a:r>
            <a:endParaRPr lang="en-US" sz="116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financing book…</a:t>
            </a:r>
            <a:endParaRPr lang="en-US" sz="1100" dirty="0"/>
          </a:p>
        </p:txBody>
      </p:sp>
      <p:sp>
        <p:nvSpPr>
          <p:cNvPr id="22" name="Text 20"/>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TYPOLOGIES  ·  3 RULES</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Information misuse</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Three tests on trading ahead of information the desk was not entitled to use.</a:t>
            </a:r>
            <a:endParaRPr lang="en-US" sz="1350" dirty="0"/>
          </a:p>
        </p:txBody>
      </p:sp>
      <p:sp>
        <p:nvSpPr>
          <p:cNvPr id="5" name="Shape 3"/>
          <p:cNvSpPr/>
          <p:nvPr/>
        </p:nvSpPr>
        <p:spPr>
          <a:xfrm>
            <a:off x="566928" y="1737360"/>
            <a:ext cx="10881360" cy="530352"/>
          </a:xfrm>
          <a:prstGeom prst="rect">
            <a:avLst/>
          </a:prstGeom>
          <a:solidFill>
            <a:srgbClr val="F6F8FB"/>
          </a:solidFill>
          <a:ln w="12700">
            <a:solidFill>
              <a:srgbClr val="F6F8FB"/>
            </a:solidFill>
            <a:prstDash val="solid"/>
          </a:ln>
        </p:spPr>
      </p:sp>
      <p:sp>
        <p:nvSpPr>
          <p:cNvPr id="6" name="Shape 4"/>
          <p:cNvSpPr/>
          <p:nvPr/>
        </p:nvSpPr>
        <p:spPr>
          <a:xfrm>
            <a:off x="676656" y="1892808"/>
            <a:ext cx="603504" cy="214884"/>
          </a:xfrm>
          <a:prstGeom prst="roundRect">
            <a:avLst>
              <a:gd name="adj" fmla="val 25532"/>
            </a:avLst>
          </a:prstGeom>
          <a:solidFill>
            <a:srgbClr val="C1121F"/>
          </a:solidFill>
          <a:ln w="12700">
            <a:solidFill>
              <a:srgbClr val="C1121F"/>
            </a:solidFill>
            <a:prstDash val="solid"/>
          </a:ln>
        </p:spPr>
      </p:sp>
      <p:sp>
        <p:nvSpPr>
          <p:cNvPr id="7" name="Text 5"/>
          <p:cNvSpPr/>
          <p:nvPr/>
        </p:nvSpPr>
        <p:spPr>
          <a:xfrm>
            <a:off x="676656" y="189280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TS-20</a:t>
            </a:r>
            <a:endParaRPr lang="en-US" sz="950" dirty="0"/>
          </a:p>
        </p:txBody>
      </p:sp>
      <p:sp>
        <p:nvSpPr>
          <p:cNvPr id="8" name="Text 6"/>
          <p:cNvSpPr/>
          <p:nvPr/>
        </p:nvSpPr>
        <p:spPr>
          <a:xfrm>
            <a:off x="1408176" y="1755648"/>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Positioning ahead of a market announcement</a:t>
            </a:r>
            <a:endParaRPr lang="en-US" sz="1360" dirty="0"/>
          </a:p>
        </p:txBody>
      </p:sp>
      <p:sp>
        <p:nvSpPr>
          <p:cNvPr id="9" name="Text 7"/>
          <p:cNvSpPr/>
          <p:nvPr/>
        </p:nvSpPr>
        <p:spPr>
          <a:xfrm>
            <a:off x="5276088" y="1755648"/>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directional position ≥$10m in a name, 1–5 business days before a scheduled announcement, mark-to-market gain &gt;$400k…</a:t>
            </a:r>
            <a:endParaRPr lang="en-US" sz="1160" dirty="0"/>
          </a:p>
        </p:txBody>
      </p:sp>
      <p:sp>
        <p:nvSpPr>
          <p:cNvPr id="10" name="Text 8"/>
          <p:cNvSpPr/>
          <p:nvPr/>
        </p:nvSpPr>
        <p:spPr>
          <a:xfrm>
            <a:off x="10259568" y="1755648"/>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6-month history…</a:t>
            </a:r>
            <a:endParaRPr lang="en-US" sz="1100" dirty="0"/>
          </a:p>
        </p:txBody>
      </p:sp>
      <p:sp>
        <p:nvSpPr>
          <p:cNvPr id="11" name="Shape 9"/>
          <p:cNvSpPr/>
          <p:nvPr/>
        </p:nvSpPr>
        <p:spPr>
          <a:xfrm>
            <a:off x="676656" y="2459736"/>
            <a:ext cx="603504" cy="214884"/>
          </a:xfrm>
          <a:prstGeom prst="roundRect">
            <a:avLst>
              <a:gd name="adj" fmla="val 25532"/>
            </a:avLst>
          </a:prstGeom>
          <a:solidFill>
            <a:srgbClr val="C1121F"/>
          </a:solidFill>
          <a:ln w="12700">
            <a:solidFill>
              <a:srgbClr val="C1121F"/>
            </a:solidFill>
            <a:prstDash val="solid"/>
          </a:ln>
        </p:spPr>
      </p:sp>
      <p:sp>
        <p:nvSpPr>
          <p:cNvPr id="12" name="Text 10"/>
          <p:cNvSpPr/>
          <p:nvPr/>
        </p:nvSpPr>
        <p:spPr>
          <a:xfrm>
            <a:off x="676656" y="2459736"/>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TS-47</a:t>
            </a:r>
            <a:endParaRPr lang="en-US" sz="950" dirty="0"/>
          </a:p>
        </p:txBody>
      </p:sp>
      <p:sp>
        <p:nvSpPr>
          <p:cNvPr id="13" name="Text 11"/>
          <p:cNvSpPr/>
          <p:nvPr/>
        </p:nvSpPr>
        <p:spPr>
          <a:xfrm>
            <a:off x="1408176" y="2322576"/>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Trading a restricted name</a:t>
            </a:r>
            <a:endParaRPr lang="en-US" sz="1360" dirty="0"/>
          </a:p>
        </p:txBody>
      </p:sp>
      <p:sp>
        <p:nvSpPr>
          <p:cNvPr id="14" name="Text 12"/>
          <p:cNvSpPr/>
          <p:nvPr/>
        </p:nvSpPr>
        <p:spPr>
          <a:xfrm>
            <a:off x="5276088" y="2322576"/>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instrument issuer ∈ restricted list on the trade date AND no wall-crossing approval recorded for this trader</a:t>
            </a:r>
            <a:endParaRPr lang="en-US" sz="1160" dirty="0"/>
          </a:p>
        </p:txBody>
      </p:sp>
      <p:sp>
        <p:nvSpPr>
          <p:cNvPr id="15" name="Text 13"/>
          <p:cNvSpPr/>
          <p:nvPr/>
        </p:nvSpPr>
        <p:spPr>
          <a:xfrm>
            <a:off x="10259568" y="2322576"/>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Restricted list, checked per…</a:t>
            </a:r>
            <a:endParaRPr lang="en-US" sz="1100" dirty="0"/>
          </a:p>
        </p:txBody>
      </p:sp>
      <p:sp>
        <p:nvSpPr>
          <p:cNvPr id="16" name="Shape 14"/>
          <p:cNvSpPr/>
          <p:nvPr/>
        </p:nvSpPr>
        <p:spPr>
          <a:xfrm>
            <a:off x="566928" y="2871216"/>
            <a:ext cx="10881360" cy="530352"/>
          </a:xfrm>
          <a:prstGeom prst="rect">
            <a:avLst/>
          </a:prstGeom>
          <a:solidFill>
            <a:srgbClr val="F6F8FB"/>
          </a:solidFill>
          <a:ln w="12700">
            <a:solidFill>
              <a:srgbClr val="F6F8FB"/>
            </a:solidFill>
            <a:prstDash val="solid"/>
          </a:ln>
        </p:spPr>
      </p:sp>
      <p:sp>
        <p:nvSpPr>
          <p:cNvPr id="17" name="Shape 15"/>
          <p:cNvSpPr/>
          <p:nvPr/>
        </p:nvSpPr>
        <p:spPr>
          <a:xfrm>
            <a:off x="676656" y="3026664"/>
            <a:ext cx="603504" cy="214884"/>
          </a:xfrm>
          <a:prstGeom prst="roundRect">
            <a:avLst>
              <a:gd name="adj" fmla="val 25532"/>
            </a:avLst>
          </a:prstGeom>
          <a:solidFill>
            <a:srgbClr val="C1121F"/>
          </a:solidFill>
          <a:ln w="12700">
            <a:solidFill>
              <a:srgbClr val="C1121F"/>
            </a:solidFill>
            <a:prstDash val="solid"/>
          </a:ln>
        </p:spPr>
      </p:sp>
      <p:sp>
        <p:nvSpPr>
          <p:cNvPr id="18" name="Text 16"/>
          <p:cNvSpPr/>
          <p:nvPr/>
        </p:nvSpPr>
        <p:spPr>
          <a:xfrm>
            <a:off x="676656" y="3026664"/>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TS-48</a:t>
            </a:r>
            <a:endParaRPr lang="en-US" sz="950" dirty="0"/>
          </a:p>
        </p:txBody>
      </p:sp>
      <p:sp>
        <p:nvSpPr>
          <p:cNvPr id="19" name="Text 17"/>
          <p:cNvSpPr/>
          <p:nvPr/>
        </p:nvSpPr>
        <p:spPr>
          <a:xfrm>
            <a:off x="1408176" y="2889504"/>
            <a:ext cx="3794760" cy="493776"/>
          </a:xfrm>
          <a:prstGeom prst="rect">
            <a:avLst/>
          </a:prstGeom>
          <a:noFill/>
          <a:ln/>
        </p:spPr>
        <p:txBody>
          <a:bodyPr wrap="square" lIns="0" tIns="0" rIns="0" bIns="0" rtlCol="0" anchor="ctr"/>
          <a:lstStyle/>
          <a:p>
            <a:pPr indent="0" marL="0">
              <a:buNone/>
            </a:pPr>
            <a:r>
              <a:rPr lang="en-US" sz="1360" b="1" dirty="0">
                <a:solidFill>
                  <a:srgbClr val="14213D"/>
                </a:solidFill>
                <a:latin typeface="Calibri" pitchFamily="34" charset="0"/>
                <a:ea typeface="Calibri" pitchFamily="34" charset="-122"/>
                <a:cs typeface="Calibri" pitchFamily="34" charset="-120"/>
              </a:rPr>
              <a:t>Exit ahead of an announcement</a:t>
            </a:r>
            <a:endParaRPr lang="en-US" sz="1360" dirty="0"/>
          </a:p>
        </p:txBody>
      </p:sp>
      <p:sp>
        <p:nvSpPr>
          <p:cNvPr id="20" name="Text 18"/>
          <p:cNvSpPr/>
          <p:nvPr/>
        </p:nvSpPr>
        <p:spPr>
          <a:xfrm>
            <a:off x="5276088" y="2889504"/>
            <a:ext cx="4892040" cy="493776"/>
          </a:xfrm>
          <a:prstGeom prst="rect">
            <a:avLst/>
          </a:prstGeom>
          <a:noFill/>
          <a:ln/>
        </p:spPr>
        <p:txBody>
          <a:bodyPr wrap="square" lIns="0" tIns="0" rIns="0" bIns="0" rtlCol="0" anchor="ctr"/>
          <a:lstStyle/>
          <a:p>
            <a:pPr indent="0" marL="0">
              <a:buNone/>
            </a:pPr>
            <a:r>
              <a:rPr lang="en-US" sz="1160" dirty="0">
                <a:solidFill>
                  <a:srgbClr val="1B2430"/>
                </a:solidFill>
                <a:latin typeface="Calibri" pitchFamily="34" charset="0"/>
                <a:ea typeface="Calibri" pitchFamily="34" charset="-122"/>
                <a:cs typeface="Calibri" pitchFamily="34" charset="-120"/>
              </a:rPr>
              <a:t>position held ≥20 business days closed 1–5 business days before a scheduled announcement, loss avoided &gt; $400k</a:t>
            </a:r>
            <a:endParaRPr lang="en-US" sz="1160" dirty="0"/>
          </a:p>
        </p:txBody>
      </p:sp>
      <p:sp>
        <p:nvSpPr>
          <p:cNvPr id="21" name="Text 19"/>
          <p:cNvSpPr/>
          <p:nvPr/>
        </p:nvSpPr>
        <p:spPr>
          <a:xfrm>
            <a:off x="10259568" y="2889504"/>
            <a:ext cx="1280160" cy="493776"/>
          </a:xfrm>
          <a:prstGeom prst="rect">
            <a:avLst/>
          </a:prstGeom>
          <a:noFill/>
          <a:ln/>
        </p:spPr>
        <p:txBody>
          <a:bodyPr wrap="square" lIns="0" tIns="0" rIns="0" bIns="0" rtlCol="0" anchor="ctr"/>
          <a:lstStyle/>
          <a:p>
            <a:pPr algn="r" indent="0" marL="0">
              <a:buNone/>
            </a:pPr>
            <a:r>
              <a:rPr lang="en-US" sz="1100" i="1" dirty="0">
                <a:solidFill>
                  <a:srgbClr val="8A94A6"/>
                </a:solidFill>
                <a:latin typeface="Calibri" pitchFamily="34" charset="0"/>
                <a:ea typeface="Calibri" pitchFamily="34" charset="-122"/>
                <a:cs typeface="Calibri" pitchFamily="34" charset="-120"/>
              </a:rPr>
              <a:t>The trader's own position history…</a:t>
            </a:r>
            <a:endParaRPr lang="en-US" sz="1100" dirty="0"/>
          </a:p>
        </p:txBody>
      </p:sp>
      <p:sp>
        <p:nvSpPr>
          <p:cNvPr id="22" name="Text 20"/>
          <p:cNvSpPr/>
          <p:nvPr/>
        </p:nvSpPr>
        <p:spPr>
          <a:xfrm>
            <a:off x="566928" y="6355080"/>
            <a:ext cx="11027664" cy="274320"/>
          </a:xfrm>
          <a:prstGeom prst="rect">
            <a:avLst/>
          </a:prstGeom>
          <a:noFill/>
          <a:ln/>
        </p:spPr>
        <p:txBody>
          <a:bodyPr wrap="square" lIns="0" tIns="0" rIns="0" bIns="0" rtlCol="0" anchor="ctr"/>
          <a:lstStyle/>
          <a:p>
            <a:pPr indent="0" marL="0">
              <a:buNone/>
            </a:pPr>
            <a:r>
              <a:rPr lang="en-US" sz="1000" i="1" dirty="0">
                <a:solidFill>
                  <a:srgbClr val="8A94A6"/>
                </a:solidFill>
                <a:latin typeface="Calibri" pitchFamily="34" charset="0"/>
                <a:ea typeface="Calibri" pitchFamily="34" charset="-122"/>
                <a:cs typeface="Calibri" pitchFamily="34" charset="-120"/>
              </a:rPr>
              <a:t>Chip colour is severity. Right-hand column is what the test is measured against. Full tests and data requirements are in the rule catalogue.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ANATOMY OF AN ALERT</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a finding actually looks like</a:t>
            </a:r>
            <a:endParaRPr lang="en-US" sz="3000" dirty="0"/>
          </a:p>
        </p:txBody>
      </p:sp>
      <p:sp>
        <p:nvSpPr>
          <p:cNvPr id="4" name="Text 2"/>
          <p:cNvSpPr/>
          <p:nvPr/>
        </p:nvSpPr>
        <p:spPr>
          <a:xfrm>
            <a:off x="566928" y="1280160"/>
            <a:ext cx="10881360" cy="329184"/>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Every alert arrives as a question with its working shown. The reviewer never has to reconstruct why it fired.</a:t>
            </a:r>
            <a:endParaRPr lang="en-US" sz="1350" dirty="0"/>
          </a:p>
        </p:txBody>
      </p:sp>
      <p:sp>
        <p:nvSpPr>
          <p:cNvPr id="5" name="Shape 3"/>
          <p:cNvSpPr/>
          <p:nvPr/>
        </p:nvSpPr>
        <p:spPr>
          <a:xfrm>
            <a:off x="566928" y="1773936"/>
            <a:ext cx="3553968" cy="1371600"/>
          </a:xfrm>
          <a:prstGeom prst="roundRect">
            <a:avLst>
              <a:gd name="adj" fmla="val 4667"/>
            </a:avLst>
          </a:prstGeom>
          <a:solidFill>
            <a:srgbClr val="E8ECF3"/>
          </a:solidFill>
          <a:ln w="12700">
            <a:solidFill>
              <a:srgbClr val="E8ECF3"/>
            </a:solidFill>
            <a:prstDash val="solid"/>
          </a:ln>
        </p:spPr>
      </p:sp>
      <p:sp>
        <p:nvSpPr>
          <p:cNvPr id="6" name="Shape 4"/>
          <p:cNvSpPr/>
          <p:nvPr/>
        </p:nvSpPr>
        <p:spPr>
          <a:xfrm>
            <a:off x="804672" y="2011680"/>
            <a:ext cx="384048" cy="384048"/>
          </a:xfrm>
          <a:prstGeom prst="ellipse">
            <a:avLst/>
          </a:prstGeom>
          <a:solidFill>
            <a:srgbClr val="E09F3E"/>
          </a:solidFill>
          <a:ln w="12700">
            <a:solidFill>
              <a:srgbClr val="E09F3E"/>
            </a:solidFill>
            <a:prstDash val="solid"/>
          </a:ln>
        </p:spPr>
      </p:sp>
      <p:sp>
        <p:nvSpPr>
          <p:cNvPr id="7" name="Text 5"/>
          <p:cNvSpPr/>
          <p:nvPr/>
        </p:nvSpPr>
        <p:spPr>
          <a:xfrm>
            <a:off x="804672" y="2011680"/>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16736" y="1993392"/>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pattern</a:t>
            </a:r>
            <a:endParaRPr lang="en-US" sz="1450" dirty="0"/>
          </a:p>
        </p:txBody>
      </p:sp>
      <p:sp>
        <p:nvSpPr>
          <p:cNvPr id="9" name="Text 7"/>
          <p:cNvSpPr/>
          <p:nvPr/>
        </p:nvSpPr>
        <p:spPr>
          <a:xfrm>
            <a:off x="822960" y="2432304"/>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In plain words: what the engine observed, in one sentence.</a:t>
            </a:r>
            <a:endParaRPr lang="en-US" sz="1150" dirty="0"/>
          </a:p>
        </p:txBody>
      </p:sp>
      <p:sp>
        <p:nvSpPr>
          <p:cNvPr id="10" name="Shape 8"/>
          <p:cNvSpPr/>
          <p:nvPr/>
        </p:nvSpPr>
        <p:spPr>
          <a:xfrm>
            <a:off x="4303776" y="1773936"/>
            <a:ext cx="3553968" cy="1371600"/>
          </a:xfrm>
          <a:prstGeom prst="roundRect">
            <a:avLst>
              <a:gd name="adj" fmla="val 4667"/>
            </a:avLst>
          </a:prstGeom>
          <a:solidFill>
            <a:srgbClr val="E8ECF3"/>
          </a:solidFill>
          <a:ln w="12700">
            <a:solidFill>
              <a:srgbClr val="E8ECF3"/>
            </a:solidFill>
            <a:prstDash val="solid"/>
          </a:ln>
        </p:spPr>
      </p:sp>
      <p:sp>
        <p:nvSpPr>
          <p:cNvPr id="11" name="Shape 9"/>
          <p:cNvSpPr/>
          <p:nvPr/>
        </p:nvSpPr>
        <p:spPr>
          <a:xfrm>
            <a:off x="4541520" y="2011680"/>
            <a:ext cx="384048" cy="384048"/>
          </a:xfrm>
          <a:prstGeom prst="ellipse">
            <a:avLst/>
          </a:prstGeom>
          <a:solidFill>
            <a:srgbClr val="E09F3E"/>
          </a:solidFill>
          <a:ln w="12700">
            <a:solidFill>
              <a:srgbClr val="E09F3E"/>
            </a:solidFill>
            <a:prstDash val="solid"/>
          </a:ln>
        </p:spPr>
      </p:sp>
      <p:sp>
        <p:nvSpPr>
          <p:cNvPr id="12" name="Text 10"/>
          <p:cNvSpPr/>
          <p:nvPr/>
        </p:nvSpPr>
        <p:spPr>
          <a:xfrm>
            <a:off x="4541520" y="2011680"/>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5053584" y="1993392"/>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test</a:t>
            </a:r>
            <a:endParaRPr lang="en-US" sz="1450" dirty="0"/>
          </a:p>
        </p:txBody>
      </p:sp>
      <p:sp>
        <p:nvSpPr>
          <p:cNvPr id="14" name="Text 12"/>
          <p:cNvSpPr/>
          <p:nvPr/>
        </p:nvSpPr>
        <p:spPr>
          <a:xfrm>
            <a:off x="4559808" y="2432304"/>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exact condition evaluated, and the production threshold used.</a:t>
            </a:r>
            <a:endParaRPr lang="en-US" sz="1150" dirty="0"/>
          </a:p>
        </p:txBody>
      </p:sp>
      <p:sp>
        <p:nvSpPr>
          <p:cNvPr id="15" name="Shape 13"/>
          <p:cNvSpPr/>
          <p:nvPr/>
        </p:nvSpPr>
        <p:spPr>
          <a:xfrm>
            <a:off x="8040624" y="1773936"/>
            <a:ext cx="3553968" cy="1371600"/>
          </a:xfrm>
          <a:prstGeom prst="roundRect">
            <a:avLst>
              <a:gd name="adj" fmla="val 4667"/>
            </a:avLst>
          </a:prstGeom>
          <a:solidFill>
            <a:srgbClr val="E8ECF3"/>
          </a:solidFill>
          <a:ln w="12700">
            <a:solidFill>
              <a:srgbClr val="E8ECF3"/>
            </a:solidFill>
            <a:prstDash val="solid"/>
          </a:ln>
        </p:spPr>
      </p:sp>
      <p:sp>
        <p:nvSpPr>
          <p:cNvPr id="16" name="Shape 14"/>
          <p:cNvSpPr/>
          <p:nvPr/>
        </p:nvSpPr>
        <p:spPr>
          <a:xfrm>
            <a:off x="8278368" y="2011680"/>
            <a:ext cx="384048" cy="384048"/>
          </a:xfrm>
          <a:prstGeom prst="ellipse">
            <a:avLst/>
          </a:prstGeom>
          <a:solidFill>
            <a:srgbClr val="E09F3E"/>
          </a:solidFill>
          <a:ln w="12700">
            <a:solidFill>
              <a:srgbClr val="E09F3E"/>
            </a:solidFill>
            <a:prstDash val="solid"/>
          </a:ln>
        </p:spPr>
      </p:sp>
      <p:sp>
        <p:nvSpPr>
          <p:cNvPr id="17" name="Text 15"/>
          <p:cNvSpPr/>
          <p:nvPr/>
        </p:nvSpPr>
        <p:spPr>
          <a:xfrm>
            <a:off x="8278368" y="2011680"/>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790432" y="1993392"/>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reference</a:t>
            </a:r>
            <a:endParaRPr lang="en-US" sz="1450" dirty="0"/>
          </a:p>
        </p:txBody>
      </p:sp>
      <p:sp>
        <p:nvSpPr>
          <p:cNvPr id="19" name="Text 17"/>
          <p:cNvSpPr/>
          <p:nvPr/>
        </p:nvSpPr>
        <p:spPr>
          <a:xfrm>
            <a:off x="8296656" y="2432304"/>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What it was measured against — this trader's own limit, baseline or cohort.</a:t>
            </a:r>
            <a:endParaRPr lang="en-US" sz="1150" dirty="0"/>
          </a:p>
        </p:txBody>
      </p:sp>
      <p:sp>
        <p:nvSpPr>
          <p:cNvPr id="20" name="Shape 18"/>
          <p:cNvSpPr/>
          <p:nvPr/>
        </p:nvSpPr>
        <p:spPr>
          <a:xfrm>
            <a:off x="566928" y="3364992"/>
            <a:ext cx="3553968" cy="1371600"/>
          </a:xfrm>
          <a:prstGeom prst="roundRect">
            <a:avLst>
              <a:gd name="adj" fmla="val 4667"/>
            </a:avLst>
          </a:prstGeom>
          <a:solidFill>
            <a:srgbClr val="E8ECF3"/>
          </a:solidFill>
          <a:ln w="12700">
            <a:solidFill>
              <a:srgbClr val="E8ECF3"/>
            </a:solidFill>
            <a:prstDash val="solid"/>
          </a:ln>
        </p:spPr>
      </p:sp>
      <p:sp>
        <p:nvSpPr>
          <p:cNvPr id="21" name="Shape 19"/>
          <p:cNvSpPr/>
          <p:nvPr/>
        </p:nvSpPr>
        <p:spPr>
          <a:xfrm>
            <a:off x="804672" y="3602736"/>
            <a:ext cx="384048" cy="384048"/>
          </a:xfrm>
          <a:prstGeom prst="ellipse">
            <a:avLst/>
          </a:prstGeom>
          <a:solidFill>
            <a:srgbClr val="E09F3E"/>
          </a:solidFill>
          <a:ln w="12700">
            <a:solidFill>
              <a:srgbClr val="E09F3E"/>
            </a:solidFill>
            <a:prstDash val="solid"/>
          </a:ln>
        </p:spPr>
      </p:sp>
      <p:sp>
        <p:nvSpPr>
          <p:cNvPr id="22" name="Text 20"/>
          <p:cNvSpPr/>
          <p:nvPr/>
        </p:nvSpPr>
        <p:spPr>
          <a:xfrm>
            <a:off x="804672" y="3602736"/>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316736" y="3584448"/>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market</a:t>
            </a:r>
            <a:endParaRPr lang="en-US" sz="1450" dirty="0"/>
          </a:p>
        </p:txBody>
      </p:sp>
      <p:sp>
        <p:nvSpPr>
          <p:cNvPr id="24" name="Text 22"/>
          <p:cNvSpPr/>
          <p:nvPr/>
        </p:nvSpPr>
        <p:spPr>
          <a:xfrm>
            <a:off x="822960" y="4023360"/>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The session the deals were struck into, with each fill marked against mid.</a:t>
            </a:r>
            <a:endParaRPr lang="en-US" sz="1150" dirty="0"/>
          </a:p>
        </p:txBody>
      </p:sp>
      <p:sp>
        <p:nvSpPr>
          <p:cNvPr id="25" name="Shape 23"/>
          <p:cNvSpPr/>
          <p:nvPr/>
        </p:nvSpPr>
        <p:spPr>
          <a:xfrm>
            <a:off x="4303776" y="3364992"/>
            <a:ext cx="3553968" cy="1371600"/>
          </a:xfrm>
          <a:prstGeom prst="roundRect">
            <a:avLst>
              <a:gd name="adj" fmla="val 4667"/>
            </a:avLst>
          </a:prstGeom>
          <a:solidFill>
            <a:srgbClr val="E8ECF3"/>
          </a:solidFill>
          <a:ln w="12700">
            <a:solidFill>
              <a:srgbClr val="E8ECF3"/>
            </a:solidFill>
            <a:prstDash val="solid"/>
          </a:ln>
        </p:spPr>
      </p:sp>
      <p:sp>
        <p:nvSpPr>
          <p:cNvPr id="26" name="Shape 24"/>
          <p:cNvSpPr/>
          <p:nvPr/>
        </p:nvSpPr>
        <p:spPr>
          <a:xfrm>
            <a:off x="4541520" y="3602736"/>
            <a:ext cx="384048" cy="384048"/>
          </a:xfrm>
          <a:prstGeom prst="ellipse">
            <a:avLst/>
          </a:prstGeom>
          <a:solidFill>
            <a:srgbClr val="E09F3E"/>
          </a:solidFill>
          <a:ln w="12700">
            <a:solidFill>
              <a:srgbClr val="E09F3E"/>
            </a:solidFill>
            <a:prstDash val="solid"/>
          </a:ln>
        </p:spPr>
      </p:sp>
      <p:sp>
        <p:nvSpPr>
          <p:cNvPr id="27" name="Text 25"/>
          <p:cNvSpPr/>
          <p:nvPr/>
        </p:nvSpPr>
        <p:spPr>
          <a:xfrm>
            <a:off x="4541520" y="3602736"/>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5053584" y="3584448"/>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deals</a:t>
            </a:r>
            <a:endParaRPr lang="en-US" sz="1450" dirty="0"/>
          </a:p>
        </p:txBody>
      </p:sp>
      <p:sp>
        <p:nvSpPr>
          <p:cNvPr id="29" name="Text 27"/>
          <p:cNvSpPr/>
          <p:nvPr/>
        </p:nvSpPr>
        <p:spPr>
          <a:xfrm>
            <a:off x="4559808" y="4023360"/>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Every ticket cited, with price, mid, deviation, counterparty and P&amp;L.</a:t>
            </a:r>
            <a:endParaRPr lang="en-US" sz="1150" dirty="0"/>
          </a:p>
        </p:txBody>
      </p:sp>
      <p:sp>
        <p:nvSpPr>
          <p:cNvPr id="30" name="Shape 28"/>
          <p:cNvSpPr/>
          <p:nvPr/>
        </p:nvSpPr>
        <p:spPr>
          <a:xfrm>
            <a:off x="8040624" y="3364992"/>
            <a:ext cx="3553968" cy="1371600"/>
          </a:xfrm>
          <a:prstGeom prst="roundRect">
            <a:avLst>
              <a:gd name="adj" fmla="val 4667"/>
            </a:avLst>
          </a:prstGeom>
          <a:solidFill>
            <a:srgbClr val="E8ECF3"/>
          </a:solidFill>
          <a:ln w="12700">
            <a:solidFill>
              <a:srgbClr val="E8ECF3"/>
            </a:solidFill>
            <a:prstDash val="solid"/>
          </a:ln>
        </p:spPr>
      </p:sp>
      <p:sp>
        <p:nvSpPr>
          <p:cNvPr id="31" name="Shape 29"/>
          <p:cNvSpPr/>
          <p:nvPr/>
        </p:nvSpPr>
        <p:spPr>
          <a:xfrm>
            <a:off x="8278368" y="3602736"/>
            <a:ext cx="384048" cy="384048"/>
          </a:xfrm>
          <a:prstGeom prst="ellipse">
            <a:avLst/>
          </a:prstGeom>
          <a:solidFill>
            <a:srgbClr val="E09F3E"/>
          </a:solidFill>
          <a:ln w="12700">
            <a:solidFill>
              <a:srgbClr val="E09F3E"/>
            </a:solidFill>
            <a:prstDash val="solid"/>
          </a:ln>
        </p:spPr>
      </p:sp>
      <p:sp>
        <p:nvSpPr>
          <p:cNvPr id="32" name="Text 30"/>
          <p:cNvSpPr/>
          <p:nvPr/>
        </p:nvSpPr>
        <p:spPr>
          <a:xfrm>
            <a:off x="8278368" y="3602736"/>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33" name="Text 31"/>
          <p:cNvSpPr/>
          <p:nvPr/>
        </p:nvSpPr>
        <p:spPr>
          <a:xfrm>
            <a:off x="8790432" y="3584448"/>
            <a:ext cx="2584704" cy="292608"/>
          </a:xfrm>
          <a:prstGeom prst="rect">
            <a:avLst/>
          </a:prstGeom>
          <a:noFill/>
          <a:ln/>
        </p:spPr>
        <p:txBody>
          <a:bodyPr wrap="square" lIns="0" tIns="0" rIns="0" bIns="0" rtlCol="0" anchor="ctr"/>
          <a:lstStyle/>
          <a:p>
            <a:pPr indent="0" marL="0">
              <a:buNone/>
            </a:pPr>
            <a:r>
              <a:rPr lang="en-US" sz="1450" b="1" dirty="0">
                <a:solidFill>
                  <a:srgbClr val="14213D"/>
                </a:solidFill>
                <a:latin typeface="Cambria" pitchFamily="34" charset="0"/>
                <a:ea typeface="Cambria" pitchFamily="34" charset="-122"/>
                <a:cs typeface="Cambria" pitchFamily="34" charset="-120"/>
              </a:rPr>
              <a:t>The disposition</a:t>
            </a:r>
            <a:endParaRPr lang="en-US" sz="1450" dirty="0"/>
          </a:p>
        </p:txBody>
      </p:sp>
      <p:sp>
        <p:nvSpPr>
          <p:cNvPr id="34" name="Text 32"/>
          <p:cNvSpPr/>
          <p:nvPr/>
        </p:nvSpPr>
        <p:spPr>
          <a:xfrm>
            <a:off x="8296656" y="4023360"/>
            <a:ext cx="3041904" cy="60350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Explained, suspicious or escalated — recorded with a reason and an author.</a:t>
            </a:r>
            <a:endParaRPr lang="en-US" sz="1150" dirty="0"/>
          </a:p>
        </p:txBody>
      </p:sp>
      <p:sp>
        <p:nvSpPr>
          <p:cNvPr id="35" name="Shape 33"/>
          <p:cNvSpPr/>
          <p:nvPr/>
        </p:nvSpPr>
        <p:spPr>
          <a:xfrm>
            <a:off x="566928" y="5029200"/>
            <a:ext cx="10881360" cy="914400"/>
          </a:xfrm>
          <a:prstGeom prst="roundRect">
            <a:avLst>
              <a:gd name="adj" fmla="val 7000"/>
            </a:avLst>
          </a:prstGeom>
          <a:solidFill>
            <a:srgbClr val="FDF6E9"/>
          </a:solidFill>
          <a:ln w="12700">
            <a:solidFill>
              <a:srgbClr val="FDF6E9"/>
            </a:solidFill>
            <a:prstDash val="solid"/>
          </a:ln>
        </p:spPr>
      </p:sp>
      <p:sp>
        <p:nvSpPr>
          <p:cNvPr id="36" name="Shape 34"/>
          <p:cNvSpPr/>
          <p:nvPr/>
        </p:nvSpPr>
        <p:spPr>
          <a:xfrm>
            <a:off x="822960" y="5230368"/>
            <a:ext cx="603504" cy="214884"/>
          </a:xfrm>
          <a:prstGeom prst="roundRect">
            <a:avLst>
              <a:gd name="adj" fmla="val 25532"/>
            </a:avLst>
          </a:prstGeom>
          <a:solidFill>
            <a:srgbClr val="E09F3E"/>
          </a:solidFill>
          <a:ln w="12700">
            <a:solidFill>
              <a:srgbClr val="E09F3E"/>
            </a:solidFill>
            <a:prstDash val="solid"/>
          </a:ln>
        </p:spPr>
      </p:sp>
      <p:sp>
        <p:nvSpPr>
          <p:cNvPr id="37" name="Text 35"/>
          <p:cNvSpPr/>
          <p:nvPr/>
        </p:nvSpPr>
        <p:spPr>
          <a:xfrm>
            <a:off x="822960" y="5230368"/>
            <a:ext cx="603504" cy="2148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TS-06</a:t>
            </a:r>
            <a:endParaRPr lang="en-US" sz="950" dirty="0"/>
          </a:p>
        </p:txBody>
      </p:sp>
      <p:sp>
        <p:nvSpPr>
          <p:cNvPr id="38" name="Text 36"/>
          <p:cNvSpPr/>
          <p:nvPr/>
        </p:nvSpPr>
        <p:spPr>
          <a:xfrm>
            <a:off x="1572768" y="5175504"/>
            <a:ext cx="960120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Worked example — Ticket splitting below the trader's authorisation</a:t>
            </a:r>
            <a:endParaRPr lang="en-US" sz="1200" dirty="0"/>
          </a:p>
        </p:txBody>
      </p:sp>
      <p:sp>
        <p:nvSpPr>
          <p:cNvPr id="39" name="Text 37"/>
          <p:cNvSpPr/>
          <p:nvPr/>
        </p:nvSpPr>
        <p:spPr>
          <a:xfrm>
            <a:off x="1572768" y="5449824"/>
            <a:ext cx="9601200" cy="384048"/>
          </a:xfrm>
          <a:prstGeom prst="rect">
            <a:avLst/>
          </a:prstGeom>
          <a:noFill/>
          <a:ln/>
        </p:spPr>
        <p:txBody>
          <a:bodyPr wrap="square" lIns="0" tIns="0" rIns="0" bIns="0" rtlCol="0" anchor="ctr"/>
          <a:lstStyle/>
          <a:p>
            <a:pPr indent="0" marL="0">
              <a:buNone/>
            </a:pPr>
            <a:r>
              <a:rPr lang="en-US" sz="1200" i="1" dirty="0">
                <a:solidFill>
                  <a:srgbClr val="1B2430"/>
                </a:solidFill>
                <a:latin typeface="Calibri" pitchFamily="34" charset="0"/>
                <a:ea typeface="Calibri" pitchFamily="34" charset="-122"/>
                <a:cs typeface="Calibri" pitchFamily="34" charset="-120"/>
              </a:rPr>
              <a:t>5 tickets of FX Forward each just under this trader's own $40m authorisation, $190m in 28 minutes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THE DATA FOUNDATION</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A typology is only as good as its feed</a:t>
            </a:r>
            <a:endParaRPr lang="en-US" sz="3000" dirty="0"/>
          </a:p>
        </p:txBody>
      </p:sp>
      <p:sp>
        <p:nvSpPr>
          <p:cNvPr id="4" name="Text 2"/>
          <p:cNvSpPr/>
          <p:nvPr/>
        </p:nvSpPr>
        <p:spPr>
          <a:xfrm>
            <a:off x="566928" y="1280160"/>
            <a:ext cx="10881360" cy="457200"/>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The fifty-eight rules read 62 distinct data elements from 32 source systems. A rule reads between five and ten fields, and almost every one needs four or more systems to agree with each other.</a:t>
            </a:r>
            <a:endParaRPr lang="en-US" sz="1350" dirty="0"/>
          </a:p>
        </p:txBody>
      </p:sp>
      <p:graphicFrame>
        <p:nvGraphicFramePr>
          <p:cNvPr id="5" name="Chart 0" descr=""/>
          <p:cNvGraphicFramePr/>
          <p:nvPr/>
        </p:nvGraphicFramePr>
        <p:xfrm>
          <a:off x="566928" y="1828800"/>
          <a:ext cx="6492240" cy="3977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351776" y="1828800"/>
            <a:ext cx="4096512" cy="310896"/>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Two dependencies gate everything</a:t>
            </a:r>
            <a:endParaRPr lang="en-US" sz="1600" dirty="0"/>
          </a:p>
        </p:txBody>
      </p:sp>
      <p:sp>
        <p:nvSpPr>
          <p:cNvPr id="7" name="Shape 4"/>
          <p:cNvSpPr/>
          <p:nvPr/>
        </p:nvSpPr>
        <p:spPr>
          <a:xfrm>
            <a:off x="7351776" y="2286000"/>
            <a:ext cx="4096512" cy="1591056"/>
          </a:xfrm>
          <a:prstGeom prst="roundRect">
            <a:avLst>
              <a:gd name="adj" fmla="val 4023"/>
            </a:avLst>
          </a:prstGeom>
          <a:solidFill>
            <a:srgbClr val="E8ECF3"/>
          </a:solidFill>
          <a:ln w="12700">
            <a:solidFill>
              <a:srgbClr val="E8ECF3"/>
            </a:solidFill>
            <a:prstDash val="solid"/>
          </a:ln>
        </p:spPr>
      </p:sp>
      <p:sp>
        <p:nvSpPr>
          <p:cNvPr id="8" name="Shape 5"/>
          <p:cNvSpPr/>
          <p:nvPr/>
        </p:nvSpPr>
        <p:spPr>
          <a:xfrm>
            <a:off x="7589520" y="2523744"/>
            <a:ext cx="274320" cy="274320"/>
          </a:xfrm>
          <a:prstGeom prst="ellipse">
            <a:avLst/>
          </a:prstGeom>
          <a:solidFill>
            <a:srgbClr val="C1121F"/>
          </a:solidFill>
          <a:ln w="12700">
            <a:solidFill>
              <a:srgbClr val="C1121F"/>
            </a:solidFill>
            <a:prstDash val="solid"/>
          </a:ln>
        </p:spPr>
      </p:sp>
      <p:sp>
        <p:nvSpPr>
          <p:cNvPr id="9" name="Text 6"/>
          <p:cNvSpPr/>
          <p:nvPr/>
        </p:nvSpPr>
        <p:spPr>
          <a:xfrm>
            <a:off x="7973568" y="2468880"/>
            <a:ext cx="3255264" cy="45720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Execution timestamp, to the second</a:t>
            </a:r>
            <a:endParaRPr lang="en-US" sz="1250" dirty="0"/>
          </a:p>
        </p:txBody>
      </p:sp>
      <p:sp>
        <p:nvSpPr>
          <p:cNvPr id="10" name="Text 7"/>
          <p:cNvSpPr/>
          <p:nvPr/>
        </p:nvSpPr>
        <p:spPr>
          <a:xfrm>
            <a:off x="7607808" y="2980944"/>
            <a:ext cx="3602736" cy="80467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Eighteen of the fifty-eight — every market-conduct test in the catalogue. Capture time will not substitute: the gap between the two is itself what several of them measure.</a:t>
            </a:r>
            <a:endParaRPr lang="en-US" sz="1100" dirty="0"/>
          </a:p>
        </p:txBody>
      </p:sp>
      <p:sp>
        <p:nvSpPr>
          <p:cNvPr id="11" name="Shape 8"/>
          <p:cNvSpPr/>
          <p:nvPr/>
        </p:nvSpPr>
        <p:spPr>
          <a:xfrm>
            <a:off x="7351776" y="4059936"/>
            <a:ext cx="4096512" cy="1591056"/>
          </a:xfrm>
          <a:prstGeom prst="roundRect">
            <a:avLst>
              <a:gd name="adj" fmla="val 4023"/>
            </a:avLst>
          </a:prstGeom>
          <a:solidFill>
            <a:srgbClr val="E8ECF3"/>
          </a:solidFill>
          <a:ln w="12700">
            <a:solidFill>
              <a:srgbClr val="E8ECF3"/>
            </a:solidFill>
            <a:prstDash val="solid"/>
          </a:ln>
        </p:spPr>
      </p:sp>
      <p:sp>
        <p:nvSpPr>
          <p:cNvPr id="12" name="Shape 9"/>
          <p:cNvSpPr/>
          <p:nvPr/>
        </p:nvSpPr>
        <p:spPr>
          <a:xfrm>
            <a:off x="7589520" y="4297680"/>
            <a:ext cx="274320" cy="274320"/>
          </a:xfrm>
          <a:prstGeom prst="ellipse">
            <a:avLst/>
          </a:prstGeom>
          <a:solidFill>
            <a:srgbClr val="E09F3E"/>
          </a:solidFill>
          <a:ln w="12700">
            <a:solidFill>
              <a:srgbClr val="E09F3E"/>
            </a:solidFill>
            <a:prstDash val="solid"/>
          </a:ln>
        </p:spPr>
      </p:sp>
      <p:sp>
        <p:nvSpPr>
          <p:cNvPr id="13" name="Text 10"/>
          <p:cNvSpPr/>
          <p:nvPr/>
        </p:nvSpPr>
        <p:spPr>
          <a:xfrm>
            <a:off x="7973568" y="4242816"/>
            <a:ext cx="3255264" cy="457200"/>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Reference data nobody owns end-to-end</a:t>
            </a:r>
            <a:endParaRPr lang="en-US" sz="1250" dirty="0"/>
          </a:p>
        </p:txBody>
      </p:sp>
      <p:sp>
        <p:nvSpPr>
          <p:cNvPr id="14" name="Text 11"/>
          <p:cNvSpPr/>
          <p:nvPr/>
        </p:nvSpPr>
        <p:spPr>
          <a:xfrm>
            <a:off x="7607808" y="4754880"/>
            <a:ext cx="3602736" cy="804672"/>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Ten rules, four of them Critical. The related-party register, wall-crossing approvals, the dated restricted list, product authorisations, the book ownership register, and concentration caps.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66928" y="566928"/>
            <a:ext cx="11027664" cy="274320"/>
          </a:xfrm>
          <a:prstGeom prst="rect">
            <a:avLst/>
          </a:prstGeom>
          <a:noFill/>
          <a:ln/>
        </p:spPr>
        <p:txBody>
          <a:bodyPr wrap="square" lIns="0" tIns="0" rIns="0" bIns="0" rtlCol="0" anchor="ctr"/>
          <a:lstStyle/>
          <a:p>
            <a:pPr indent="0" marL="0">
              <a:buNone/>
            </a:pPr>
            <a:r>
              <a:rPr lang="en-US" sz="1200" b="1" spc="250" kern="0" dirty="0">
                <a:solidFill>
                  <a:srgbClr val="E09F3E"/>
                </a:solidFill>
                <a:latin typeface="Calibri" pitchFamily="34" charset="0"/>
                <a:ea typeface="Calibri" pitchFamily="34" charset="-122"/>
                <a:cs typeface="Calibri" pitchFamily="34" charset="-120"/>
              </a:rPr>
              <a:t>STATING THE LIMITS</a:t>
            </a:r>
            <a:endParaRPr lang="en-US" sz="1200" dirty="0"/>
          </a:p>
        </p:txBody>
      </p:sp>
      <p:sp>
        <p:nvSpPr>
          <p:cNvPr id="3" name="Text 1"/>
          <p:cNvSpPr/>
          <p:nvPr/>
        </p:nvSpPr>
        <p:spPr>
          <a:xfrm>
            <a:off x="566928" y="914400"/>
            <a:ext cx="11027664"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this rule set cannot see</a:t>
            </a:r>
            <a:endParaRPr lang="en-US" sz="4000" dirty="0"/>
          </a:p>
        </p:txBody>
      </p:sp>
      <p:sp>
        <p:nvSpPr>
          <p:cNvPr id="4" name="Text 2"/>
          <p:cNvSpPr/>
          <p:nvPr/>
        </p:nvSpPr>
        <p:spPr>
          <a:xfrm>
            <a:off x="566928" y="2103120"/>
            <a:ext cx="10881360" cy="402336"/>
          </a:xfrm>
          <a:prstGeom prst="rect">
            <a:avLst/>
          </a:prstGeom>
          <a:noFill/>
          <a:ln/>
        </p:spPr>
        <p:txBody>
          <a:bodyPr wrap="square" lIns="0" tIns="0" rIns="0" bIns="0" rtlCol="0" anchor="ctr"/>
          <a:lstStyle/>
          <a:p>
            <a:pPr indent="0" marL="0">
              <a:buNone/>
            </a:pPr>
            <a:r>
              <a:rPr lang="en-US" sz="1450" dirty="0">
                <a:solidFill>
                  <a:srgbClr val="C7D0E0"/>
                </a:solidFill>
                <a:latin typeface="Calibri" pitchFamily="34" charset="0"/>
                <a:ea typeface="Calibri" pitchFamily="34" charset="-122"/>
                <a:cs typeface="Calibri" pitchFamily="34" charset="-120"/>
              </a:rPr>
              <a:t>Naming the boundary is part of the specification. A control described as broader than it is will be relied on for something it was never built to do.</a:t>
            </a:r>
            <a:endParaRPr lang="en-US" sz="1450" dirty="0"/>
          </a:p>
        </p:txBody>
      </p:sp>
      <p:sp>
        <p:nvSpPr>
          <p:cNvPr id="5" name="Shape 3"/>
          <p:cNvSpPr/>
          <p:nvPr/>
        </p:nvSpPr>
        <p:spPr>
          <a:xfrm>
            <a:off x="566928" y="2880360"/>
            <a:ext cx="3523488" cy="2011680"/>
          </a:xfrm>
          <a:prstGeom prst="roundRect">
            <a:avLst>
              <a:gd name="adj" fmla="val 3636"/>
            </a:avLst>
          </a:prstGeom>
          <a:solidFill>
            <a:srgbClr val="1D2B4D"/>
          </a:solidFill>
          <a:ln w="12700">
            <a:solidFill>
              <a:srgbClr val="2A3A60"/>
            </a:solidFill>
            <a:prstDash val="solid"/>
          </a:ln>
        </p:spPr>
      </p:sp>
      <p:sp>
        <p:nvSpPr>
          <p:cNvPr id="6" name="Text 4"/>
          <p:cNvSpPr/>
          <p:nvPr/>
        </p:nvSpPr>
        <p:spPr>
          <a:xfrm>
            <a:off x="859536" y="3127248"/>
            <a:ext cx="2938272" cy="365760"/>
          </a:xfrm>
          <a:prstGeom prst="rect">
            <a:avLst/>
          </a:prstGeom>
          <a:noFill/>
          <a:ln/>
        </p:spPr>
        <p:txBody>
          <a:bodyPr wrap="square" lIns="0" tIns="0" rIns="0" bIns="0" rtlCol="0" anchor="ctr"/>
          <a:lstStyle/>
          <a:p>
            <a:pPr indent="0" marL="0">
              <a:buNone/>
            </a:pPr>
            <a:r>
              <a:rPr lang="en-US" sz="1700" b="1" dirty="0">
                <a:solidFill>
                  <a:srgbClr val="E09F3E"/>
                </a:solidFill>
                <a:latin typeface="Cambria" pitchFamily="34" charset="0"/>
                <a:ea typeface="Cambria" pitchFamily="34" charset="-122"/>
                <a:cs typeface="Cambria" pitchFamily="34" charset="-120"/>
              </a:rPr>
              <a:t>No communications</a:t>
            </a:r>
            <a:endParaRPr lang="en-US" sz="1700" dirty="0"/>
          </a:p>
        </p:txBody>
      </p:sp>
      <p:sp>
        <p:nvSpPr>
          <p:cNvPr id="7" name="Text 5"/>
          <p:cNvSpPr/>
          <p:nvPr/>
        </p:nvSpPr>
        <p:spPr>
          <a:xfrm>
            <a:off x="859536" y="3566160"/>
            <a:ext cx="2938272" cy="1133856"/>
          </a:xfrm>
          <a:prstGeom prst="rect">
            <a:avLst/>
          </a:prstGeom>
          <a:noFill/>
          <a:ln/>
        </p:spPr>
        <p:txBody>
          <a:bodyPr wrap="square" lIns="0" tIns="0" rIns="0" bIns="0" rtlCol="0" anchor="ctr"/>
          <a:lstStyle/>
          <a:p>
            <a:pPr indent="0" marL="0">
              <a:buNone/>
            </a:pPr>
            <a:r>
              <a:rPr lang="en-US" sz="1250" dirty="0">
                <a:solidFill>
                  <a:srgbClr val="C7D0E0"/>
                </a:solidFill>
                <a:latin typeface="Calibri" pitchFamily="34" charset="0"/>
                <a:ea typeface="Calibri" pitchFamily="34" charset="-122"/>
                <a:cs typeface="Calibri" pitchFamily="34" charset="-120"/>
              </a:rPr>
              <a:t>These rules read bookings, prices, revenue, timing, limits and settlement. They do not read email, chat or voice, and they never establish intent.</a:t>
            </a:r>
            <a:endParaRPr lang="en-US" sz="1250" dirty="0"/>
          </a:p>
        </p:txBody>
      </p:sp>
      <p:sp>
        <p:nvSpPr>
          <p:cNvPr id="8" name="Shape 6"/>
          <p:cNvSpPr/>
          <p:nvPr/>
        </p:nvSpPr>
        <p:spPr>
          <a:xfrm>
            <a:off x="4319016" y="2880360"/>
            <a:ext cx="3523488" cy="2011680"/>
          </a:xfrm>
          <a:prstGeom prst="roundRect">
            <a:avLst>
              <a:gd name="adj" fmla="val 3636"/>
            </a:avLst>
          </a:prstGeom>
          <a:solidFill>
            <a:srgbClr val="1D2B4D"/>
          </a:solidFill>
          <a:ln w="12700">
            <a:solidFill>
              <a:srgbClr val="2A3A60"/>
            </a:solidFill>
            <a:prstDash val="solid"/>
          </a:ln>
        </p:spPr>
      </p:sp>
      <p:sp>
        <p:nvSpPr>
          <p:cNvPr id="9" name="Text 7"/>
          <p:cNvSpPr/>
          <p:nvPr/>
        </p:nvSpPr>
        <p:spPr>
          <a:xfrm>
            <a:off x="4611624" y="3127248"/>
            <a:ext cx="2938272" cy="365760"/>
          </a:xfrm>
          <a:prstGeom prst="rect">
            <a:avLst/>
          </a:prstGeom>
          <a:noFill/>
          <a:ln/>
        </p:spPr>
        <p:txBody>
          <a:bodyPr wrap="square" lIns="0" tIns="0" rIns="0" bIns="0" rtlCol="0" anchor="ctr"/>
          <a:lstStyle/>
          <a:p>
            <a:pPr indent="0" marL="0">
              <a:buNone/>
            </a:pPr>
            <a:r>
              <a:rPr lang="en-US" sz="1700" b="1" dirty="0">
                <a:solidFill>
                  <a:srgbClr val="E09F3E"/>
                </a:solidFill>
                <a:latin typeface="Cambria" pitchFamily="34" charset="0"/>
                <a:ea typeface="Cambria" pitchFamily="34" charset="-122"/>
                <a:cs typeface="Cambria" pitchFamily="34" charset="-120"/>
              </a:rPr>
              <a:t>No unbooked activity</a:t>
            </a:r>
            <a:endParaRPr lang="en-US" sz="1700" dirty="0"/>
          </a:p>
        </p:txBody>
      </p:sp>
      <p:sp>
        <p:nvSpPr>
          <p:cNvPr id="10" name="Text 8"/>
          <p:cNvSpPr/>
          <p:nvPr/>
        </p:nvSpPr>
        <p:spPr>
          <a:xfrm>
            <a:off x="4611624" y="3566160"/>
            <a:ext cx="2938272" cy="1133856"/>
          </a:xfrm>
          <a:prstGeom prst="rect">
            <a:avLst/>
          </a:prstGeom>
          <a:noFill/>
          <a:ln/>
        </p:spPr>
        <p:txBody>
          <a:bodyPr wrap="square" lIns="0" tIns="0" rIns="0" bIns="0" rtlCol="0" anchor="ctr"/>
          <a:lstStyle/>
          <a:p>
            <a:pPr indent="0" marL="0">
              <a:buNone/>
            </a:pPr>
            <a:r>
              <a:rPr lang="en-US" sz="1250" dirty="0">
                <a:solidFill>
                  <a:srgbClr val="C7D0E0"/>
                </a:solidFill>
                <a:latin typeface="Calibri" pitchFamily="34" charset="0"/>
                <a:ea typeface="Calibri" pitchFamily="34" charset="-122"/>
                <a:cs typeface="Calibri" pitchFamily="34" charset="-120"/>
              </a:rPr>
              <a:t>A pattern whose evidence never reaches a system leaves nothing for any of these rules to fire on.</a:t>
            </a:r>
            <a:endParaRPr lang="en-US" sz="1250" dirty="0"/>
          </a:p>
        </p:txBody>
      </p:sp>
      <p:sp>
        <p:nvSpPr>
          <p:cNvPr id="11" name="Shape 9"/>
          <p:cNvSpPr/>
          <p:nvPr/>
        </p:nvSpPr>
        <p:spPr>
          <a:xfrm>
            <a:off x="8071104" y="2880360"/>
            <a:ext cx="3523488" cy="2011680"/>
          </a:xfrm>
          <a:prstGeom prst="roundRect">
            <a:avLst>
              <a:gd name="adj" fmla="val 3636"/>
            </a:avLst>
          </a:prstGeom>
          <a:solidFill>
            <a:srgbClr val="1D2B4D"/>
          </a:solidFill>
          <a:ln w="12700">
            <a:solidFill>
              <a:srgbClr val="2A3A60"/>
            </a:solidFill>
            <a:prstDash val="solid"/>
          </a:ln>
        </p:spPr>
      </p:sp>
      <p:sp>
        <p:nvSpPr>
          <p:cNvPr id="12" name="Text 10"/>
          <p:cNvSpPr/>
          <p:nvPr/>
        </p:nvSpPr>
        <p:spPr>
          <a:xfrm>
            <a:off x="8363712" y="3127248"/>
            <a:ext cx="2938272" cy="365760"/>
          </a:xfrm>
          <a:prstGeom prst="rect">
            <a:avLst/>
          </a:prstGeom>
          <a:noFill/>
          <a:ln/>
        </p:spPr>
        <p:txBody>
          <a:bodyPr wrap="square" lIns="0" tIns="0" rIns="0" bIns="0" rtlCol="0" anchor="ctr"/>
          <a:lstStyle/>
          <a:p>
            <a:pPr indent="0" marL="0">
              <a:buNone/>
            </a:pPr>
            <a:r>
              <a:rPr lang="en-US" sz="1700" b="1" dirty="0">
                <a:solidFill>
                  <a:srgbClr val="E09F3E"/>
                </a:solidFill>
                <a:latin typeface="Cambria" pitchFamily="34" charset="0"/>
                <a:ea typeface="Cambria" pitchFamily="34" charset="-122"/>
                <a:cs typeface="Cambria" pitchFamily="34" charset="-120"/>
              </a:rPr>
              <a:t>Six typologies absent by design</a:t>
            </a:r>
            <a:endParaRPr lang="en-US" sz="1700" dirty="0"/>
          </a:p>
        </p:txBody>
      </p:sp>
      <p:sp>
        <p:nvSpPr>
          <p:cNvPr id="13" name="Text 11"/>
          <p:cNvSpPr/>
          <p:nvPr/>
        </p:nvSpPr>
        <p:spPr>
          <a:xfrm>
            <a:off x="8363712" y="3566160"/>
            <a:ext cx="2938272" cy="1133856"/>
          </a:xfrm>
          <a:prstGeom prst="rect">
            <a:avLst/>
          </a:prstGeom>
          <a:noFill/>
          <a:ln/>
        </p:spPr>
        <p:txBody>
          <a:bodyPr wrap="square" lIns="0" tIns="0" rIns="0" bIns="0" rtlCol="0" anchor="ctr"/>
          <a:lstStyle/>
          <a:p>
            <a:pPr indent="0" marL="0">
              <a:buNone/>
            </a:pPr>
            <a:r>
              <a:rPr lang="en-US" sz="1250" dirty="0">
                <a:solidFill>
                  <a:srgbClr val="C7D0E0"/>
                </a:solidFill>
                <a:latin typeface="Calibri" pitchFamily="34" charset="0"/>
                <a:ea typeface="Calibri" pitchFamily="34" charset="-122"/>
                <a:cs typeface="Calibri" pitchFamily="34" charset="-120"/>
              </a:rPr>
              <a:t>Spoofing as distinct from layering, quote stuffing, personal account dealing, cross-product manipulation, barrier gaming — each named in the catalogue with the reason.</a:t>
            </a:r>
            <a:endParaRPr lang="en-US" sz="1250" dirty="0"/>
          </a:p>
        </p:txBody>
      </p:sp>
      <p:sp>
        <p:nvSpPr>
          <p:cNvPr id="14" name="Text 12"/>
          <p:cNvSpPr/>
          <p:nvPr/>
        </p:nvSpPr>
        <p:spPr>
          <a:xfrm>
            <a:off x="566928" y="5230368"/>
            <a:ext cx="10881360" cy="402336"/>
          </a:xfrm>
          <a:prstGeom prst="rect">
            <a:avLst/>
          </a:prstGeom>
          <a:noFill/>
          <a:ln/>
        </p:spPr>
        <p:txBody>
          <a:bodyPr wrap="square" lIns="0" tIns="0" rIns="0" bIns="0" rtlCol="0" anchor="ctr"/>
          <a:lstStyle/>
          <a:p>
            <a:pPr indent="0" marL="0">
              <a:buNone/>
            </a:pPr>
            <a:r>
              <a:rPr lang="en-US" sz="2000" b="1" i="1" dirty="0">
                <a:solidFill>
                  <a:srgbClr val="FFFFFF"/>
                </a:solidFill>
                <a:latin typeface="Cambria" pitchFamily="34" charset="0"/>
                <a:ea typeface="Cambria" pitchFamily="34" charset="-122"/>
                <a:cs typeface="Cambria" pitchFamily="34" charset="-120"/>
              </a:rPr>
              <a:t>An alert is a question, not an accusation.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FOR THE TRADING FLOOR</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this means on the desk</a:t>
            </a:r>
            <a:endParaRPr lang="en-US" sz="3000" dirty="0"/>
          </a:p>
        </p:txBody>
      </p:sp>
      <p:sp>
        <p:nvSpPr>
          <p:cNvPr id="4" name="Shape 2"/>
          <p:cNvSpPr/>
          <p:nvPr/>
        </p:nvSpPr>
        <p:spPr>
          <a:xfrm>
            <a:off x="566928" y="1371600"/>
            <a:ext cx="5349240" cy="1975104"/>
          </a:xfrm>
          <a:prstGeom prst="roundRect">
            <a:avLst>
              <a:gd name="adj" fmla="val 3704"/>
            </a:avLst>
          </a:prstGeom>
          <a:solidFill>
            <a:srgbClr val="E8ECF3"/>
          </a:solidFill>
          <a:ln w="12700">
            <a:solidFill>
              <a:srgbClr val="E8ECF3"/>
            </a:solidFill>
            <a:prstDash val="solid"/>
          </a:ln>
        </p:spPr>
      </p:sp>
      <p:sp>
        <p:nvSpPr>
          <p:cNvPr id="5" name="Shape 3"/>
          <p:cNvSpPr/>
          <p:nvPr/>
        </p:nvSpPr>
        <p:spPr>
          <a:xfrm>
            <a:off x="859536" y="1664208"/>
            <a:ext cx="475488" cy="475488"/>
          </a:xfrm>
          <a:prstGeom prst="ellipse">
            <a:avLst/>
          </a:prstGeom>
          <a:solidFill>
            <a:srgbClr val="14213D"/>
          </a:solidFill>
          <a:ln w="12700">
            <a:solidFill>
              <a:srgbClr val="14213D"/>
            </a:solidFill>
            <a:prstDash val="solid"/>
          </a:ln>
        </p:spPr>
      </p:sp>
      <p:sp>
        <p:nvSpPr>
          <p:cNvPr id="6" name="Text 4"/>
          <p:cNvSpPr/>
          <p:nvPr/>
        </p:nvSpPr>
        <p:spPr>
          <a:xfrm>
            <a:off x="859536" y="1664208"/>
            <a:ext cx="475488" cy="475488"/>
          </a:xfrm>
          <a:prstGeom prst="rect">
            <a:avLst/>
          </a:prstGeom>
          <a:noFill/>
          <a:ln/>
        </p:spPr>
        <p:txBody>
          <a:bodyPr wrap="square" lIns="0" tIns="0" rIns="0" bIns="0" rtlCol="0" anchor="ctr"/>
          <a:lstStyle/>
          <a:p>
            <a:pPr algn="ctr" indent="0" marL="0">
              <a:buNone/>
            </a:pPr>
            <a:r>
              <a:rPr lang="en-US" sz="1600" b="1" dirty="0">
                <a:solidFill>
                  <a:srgbClr val="E09F3E"/>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81328" y="1664208"/>
            <a:ext cx="4142232" cy="512064"/>
          </a:xfrm>
          <a:prstGeom prst="rect">
            <a:avLst/>
          </a:prstGeom>
          <a:noFill/>
          <a:ln/>
        </p:spPr>
        <p:txBody>
          <a:bodyPr wrap="square" lIns="0" tIns="0" rIns="0" bIns="0" rtlCol="0" anchor="ctr"/>
          <a:lstStyle/>
          <a:p>
            <a:pPr indent="0" marL="0">
              <a:buNone/>
            </a:pPr>
            <a:r>
              <a:rPr lang="en-US" sz="1650" b="1" dirty="0">
                <a:solidFill>
                  <a:srgbClr val="14213D"/>
                </a:solidFill>
                <a:latin typeface="Cambria" pitchFamily="34" charset="0"/>
                <a:ea typeface="Cambria" pitchFamily="34" charset="-122"/>
                <a:cs typeface="Cambria" pitchFamily="34" charset="-120"/>
              </a:rPr>
              <a:t>You are measured against yourself</a:t>
            </a:r>
            <a:endParaRPr lang="en-US" sz="1650" dirty="0"/>
          </a:p>
        </p:txBody>
      </p:sp>
      <p:sp>
        <p:nvSpPr>
          <p:cNvPr id="8" name="Text 6"/>
          <p:cNvSpPr/>
          <p:nvPr/>
        </p:nvSpPr>
        <p:spPr>
          <a:xfrm>
            <a:off x="877824" y="2304288"/>
            <a:ext cx="4727448" cy="91440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Not against the desk, and not against the biggest book on it. Your own twelve months, your own authorisations, and colleagues of your grade trading your books.</a:t>
            </a:r>
            <a:endParaRPr lang="en-US" sz="1250" dirty="0"/>
          </a:p>
        </p:txBody>
      </p:sp>
      <p:sp>
        <p:nvSpPr>
          <p:cNvPr id="9" name="Shape 7"/>
          <p:cNvSpPr/>
          <p:nvPr/>
        </p:nvSpPr>
        <p:spPr>
          <a:xfrm>
            <a:off x="6245352" y="1371600"/>
            <a:ext cx="5349240" cy="1975104"/>
          </a:xfrm>
          <a:prstGeom prst="roundRect">
            <a:avLst>
              <a:gd name="adj" fmla="val 3704"/>
            </a:avLst>
          </a:prstGeom>
          <a:solidFill>
            <a:srgbClr val="E8ECF3"/>
          </a:solidFill>
          <a:ln w="12700">
            <a:solidFill>
              <a:srgbClr val="E8ECF3"/>
            </a:solidFill>
            <a:prstDash val="solid"/>
          </a:ln>
        </p:spPr>
      </p:sp>
      <p:sp>
        <p:nvSpPr>
          <p:cNvPr id="10" name="Shape 8"/>
          <p:cNvSpPr/>
          <p:nvPr/>
        </p:nvSpPr>
        <p:spPr>
          <a:xfrm>
            <a:off x="6537960" y="1664208"/>
            <a:ext cx="475488" cy="475488"/>
          </a:xfrm>
          <a:prstGeom prst="ellipse">
            <a:avLst/>
          </a:prstGeom>
          <a:solidFill>
            <a:srgbClr val="14213D"/>
          </a:solidFill>
          <a:ln w="12700">
            <a:solidFill>
              <a:srgbClr val="14213D"/>
            </a:solidFill>
            <a:prstDash val="solid"/>
          </a:ln>
        </p:spPr>
      </p:sp>
      <p:sp>
        <p:nvSpPr>
          <p:cNvPr id="11" name="Text 9"/>
          <p:cNvSpPr/>
          <p:nvPr/>
        </p:nvSpPr>
        <p:spPr>
          <a:xfrm>
            <a:off x="6537960" y="1664208"/>
            <a:ext cx="475488" cy="475488"/>
          </a:xfrm>
          <a:prstGeom prst="rect">
            <a:avLst/>
          </a:prstGeom>
          <a:noFill/>
          <a:ln/>
        </p:spPr>
        <p:txBody>
          <a:bodyPr wrap="square" lIns="0" tIns="0" rIns="0" bIns="0" rtlCol="0" anchor="ctr"/>
          <a:lstStyle/>
          <a:p>
            <a:pPr algn="ctr" indent="0" marL="0">
              <a:buNone/>
            </a:pPr>
            <a:r>
              <a:rPr lang="en-US" sz="1600" b="1" dirty="0">
                <a:solidFill>
                  <a:srgbClr val="E09F3E"/>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159752" y="1664208"/>
            <a:ext cx="4142232" cy="512064"/>
          </a:xfrm>
          <a:prstGeom prst="rect">
            <a:avLst/>
          </a:prstGeom>
          <a:noFill/>
          <a:ln/>
        </p:spPr>
        <p:txBody>
          <a:bodyPr wrap="square" lIns="0" tIns="0" rIns="0" bIns="0" rtlCol="0" anchor="ctr"/>
          <a:lstStyle/>
          <a:p>
            <a:pPr indent="0" marL="0">
              <a:buNone/>
            </a:pPr>
            <a:r>
              <a:rPr lang="en-US" sz="1650" b="1" dirty="0">
                <a:solidFill>
                  <a:srgbClr val="14213D"/>
                </a:solidFill>
                <a:latin typeface="Cambria" pitchFamily="34" charset="0"/>
                <a:ea typeface="Cambria" pitchFamily="34" charset="-122"/>
                <a:cs typeface="Cambria" pitchFamily="34" charset="-120"/>
              </a:rPr>
              <a:t>Most alerts are explained</a:t>
            </a:r>
            <a:endParaRPr lang="en-US" sz="1650" dirty="0"/>
          </a:p>
        </p:txBody>
      </p:sp>
      <p:sp>
        <p:nvSpPr>
          <p:cNvPr id="13" name="Text 11"/>
          <p:cNvSpPr/>
          <p:nvPr/>
        </p:nvSpPr>
        <p:spPr>
          <a:xfrm>
            <a:off x="6556248" y="2304288"/>
            <a:ext cx="4727448" cy="91440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Around half are closed as explained on first review. An alert on your name is a question about a booking, and the answer is usually in the booking.</a:t>
            </a:r>
            <a:endParaRPr lang="en-US" sz="1250" dirty="0"/>
          </a:p>
        </p:txBody>
      </p:sp>
      <p:sp>
        <p:nvSpPr>
          <p:cNvPr id="14" name="Shape 12"/>
          <p:cNvSpPr/>
          <p:nvPr/>
        </p:nvSpPr>
        <p:spPr>
          <a:xfrm>
            <a:off x="566928" y="3621024"/>
            <a:ext cx="5349240" cy="1975104"/>
          </a:xfrm>
          <a:prstGeom prst="roundRect">
            <a:avLst>
              <a:gd name="adj" fmla="val 3704"/>
            </a:avLst>
          </a:prstGeom>
          <a:solidFill>
            <a:srgbClr val="E8ECF3"/>
          </a:solidFill>
          <a:ln w="12700">
            <a:solidFill>
              <a:srgbClr val="E8ECF3"/>
            </a:solidFill>
            <a:prstDash val="solid"/>
          </a:ln>
        </p:spPr>
      </p:sp>
      <p:sp>
        <p:nvSpPr>
          <p:cNvPr id="15" name="Shape 13"/>
          <p:cNvSpPr/>
          <p:nvPr/>
        </p:nvSpPr>
        <p:spPr>
          <a:xfrm>
            <a:off x="859536" y="3913632"/>
            <a:ext cx="475488" cy="475488"/>
          </a:xfrm>
          <a:prstGeom prst="ellipse">
            <a:avLst/>
          </a:prstGeom>
          <a:solidFill>
            <a:srgbClr val="14213D"/>
          </a:solidFill>
          <a:ln w="12700">
            <a:solidFill>
              <a:srgbClr val="14213D"/>
            </a:solidFill>
            <a:prstDash val="solid"/>
          </a:ln>
        </p:spPr>
      </p:sp>
      <p:sp>
        <p:nvSpPr>
          <p:cNvPr id="16" name="Text 14"/>
          <p:cNvSpPr/>
          <p:nvPr/>
        </p:nvSpPr>
        <p:spPr>
          <a:xfrm>
            <a:off x="859536" y="3913632"/>
            <a:ext cx="475488" cy="475488"/>
          </a:xfrm>
          <a:prstGeom prst="rect">
            <a:avLst/>
          </a:prstGeom>
          <a:noFill/>
          <a:ln/>
        </p:spPr>
        <p:txBody>
          <a:bodyPr wrap="square" lIns="0" tIns="0" rIns="0" bIns="0" rtlCol="0" anchor="ctr"/>
          <a:lstStyle/>
          <a:p>
            <a:pPr algn="ctr" indent="0" marL="0">
              <a:buNone/>
            </a:pPr>
            <a:r>
              <a:rPr lang="en-US" sz="1600" b="1" dirty="0">
                <a:solidFill>
                  <a:srgbClr val="E09F3E"/>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481328" y="3913632"/>
            <a:ext cx="4142232" cy="512064"/>
          </a:xfrm>
          <a:prstGeom prst="rect">
            <a:avLst/>
          </a:prstGeom>
          <a:noFill/>
          <a:ln/>
        </p:spPr>
        <p:txBody>
          <a:bodyPr wrap="square" lIns="0" tIns="0" rIns="0" bIns="0" rtlCol="0" anchor="ctr"/>
          <a:lstStyle/>
          <a:p>
            <a:pPr indent="0" marL="0">
              <a:buNone/>
            </a:pPr>
            <a:r>
              <a:rPr lang="en-US" sz="1650" b="1" dirty="0">
                <a:solidFill>
                  <a:srgbClr val="14213D"/>
                </a:solidFill>
                <a:latin typeface="Cambria" pitchFamily="34" charset="0"/>
                <a:ea typeface="Cambria" pitchFamily="34" charset="-122"/>
                <a:cs typeface="Cambria" pitchFamily="34" charset="-120"/>
              </a:rPr>
              <a:t>The fastest close is a good record</a:t>
            </a:r>
            <a:endParaRPr lang="en-US" sz="1650" dirty="0"/>
          </a:p>
        </p:txBody>
      </p:sp>
      <p:sp>
        <p:nvSpPr>
          <p:cNvPr id="18" name="Text 16"/>
          <p:cNvSpPr/>
          <p:nvPr/>
        </p:nvSpPr>
        <p:spPr>
          <a:xfrm>
            <a:off x="877824" y="4553712"/>
            <a:ext cx="4727448" cy="91440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Every rule reads fields you already populate. A complete ticket — right timestamp, right counterparty, rationale where one is needed — closes an alert in minutes.</a:t>
            </a:r>
            <a:endParaRPr lang="en-US" sz="1250" dirty="0"/>
          </a:p>
        </p:txBody>
      </p:sp>
      <p:sp>
        <p:nvSpPr>
          <p:cNvPr id="19" name="Shape 17"/>
          <p:cNvSpPr/>
          <p:nvPr/>
        </p:nvSpPr>
        <p:spPr>
          <a:xfrm>
            <a:off x="6245352" y="3621024"/>
            <a:ext cx="5349240" cy="1975104"/>
          </a:xfrm>
          <a:prstGeom prst="roundRect">
            <a:avLst>
              <a:gd name="adj" fmla="val 3704"/>
            </a:avLst>
          </a:prstGeom>
          <a:solidFill>
            <a:srgbClr val="E8ECF3"/>
          </a:solidFill>
          <a:ln w="12700">
            <a:solidFill>
              <a:srgbClr val="E8ECF3"/>
            </a:solidFill>
            <a:prstDash val="solid"/>
          </a:ln>
        </p:spPr>
      </p:sp>
      <p:sp>
        <p:nvSpPr>
          <p:cNvPr id="20" name="Shape 18"/>
          <p:cNvSpPr/>
          <p:nvPr/>
        </p:nvSpPr>
        <p:spPr>
          <a:xfrm>
            <a:off x="6537960" y="3913632"/>
            <a:ext cx="475488" cy="475488"/>
          </a:xfrm>
          <a:prstGeom prst="ellipse">
            <a:avLst/>
          </a:prstGeom>
          <a:solidFill>
            <a:srgbClr val="14213D"/>
          </a:solidFill>
          <a:ln w="12700">
            <a:solidFill>
              <a:srgbClr val="14213D"/>
            </a:solidFill>
            <a:prstDash val="solid"/>
          </a:ln>
        </p:spPr>
      </p:sp>
      <p:sp>
        <p:nvSpPr>
          <p:cNvPr id="21" name="Text 19"/>
          <p:cNvSpPr/>
          <p:nvPr/>
        </p:nvSpPr>
        <p:spPr>
          <a:xfrm>
            <a:off x="6537960" y="3913632"/>
            <a:ext cx="475488" cy="475488"/>
          </a:xfrm>
          <a:prstGeom prst="rect">
            <a:avLst/>
          </a:prstGeom>
          <a:noFill/>
          <a:ln/>
        </p:spPr>
        <p:txBody>
          <a:bodyPr wrap="square" lIns="0" tIns="0" rIns="0" bIns="0" rtlCol="0" anchor="ctr"/>
          <a:lstStyle/>
          <a:p>
            <a:pPr algn="ctr" indent="0" marL="0">
              <a:buNone/>
            </a:pPr>
            <a:r>
              <a:rPr lang="en-US" sz="1600" b="1" dirty="0">
                <a:solidFill>
                  <a:srgbClr val="E09F3E"/>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159752" y="3913632"/>
            <a:ext cx="4142232" cy="512064"/>
          </a:xfrm>
          <a:prstGeom prst="rect">
            <a:avLst/>
          </a:prstGeom>
          <a:noFill/>
          <a:ln/>
        </p:spPr>
        <p:txBody>
          <a:bodyPr wrap="square" lIns="0" tIns="0" rIns="0" bIns="0" rtlCol="0" anchor="ctr"/>
          <a:lstStyle/>
          <a:p>
            <a:pPr indent="0" marL="0">
              <a:buNone/>
            </a:pPr>
            <a:r>
              <a:rPr lang="en-US" sz="1650" b="1" dirty="0">
                <a:solidFill>
                  <a:srgbClr val="14213D"/>
                </a:solidFill>
                <a:latin typeface="Cambria" pitchFamily="34" charset="0"/>
                <a:ea typeface="Cambria" pitchFamily="34" charset="-122"/>
                <a:cs typeface="Cambria" pitchFamily="34" charset="-120"/>
              </a:rPr>
              <a:t>Nothing here is a secret test</a:t>
            </a:r>
            <a:endParaRPr lang="en-US" sz="1650" dirty="0"/>
          </a:p>
        </p:txBody>
      </p:sp>
      <p:sp>
        <p:nvSpPr>
          <p:cNvPr id="23" name="Text 21"/>
          <p:cNvSpPr/>
          <p:nvPr/>
        </p:nvSpPr>
        <p:spPr>
          <a:xfrm>
            <a:off x="6556248" y="4553712"/>
            <a:ext cx="4727448" cy="91440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Every threshold in this deck is the production setting, and the full catalogue is published. If a rule is wrong for how your product trades, that is a conversation we want to have.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56032"/>
          </a:xfrm>
          <a:prstGeom prst="rect">
            <a:avLst/>
          </a:prstGeom>
          <a:noFill/>
          <a:ln/>
        </p:spPr>
        <p:txBody>
          <a:bodyPr wrap="square" lIns="0" tIns="0" rIns="0" bIns="0" rtlCol="0" anchor="ctr"/>
          <a:lstStyle/>
          <a:p>
            <a:pPr indent="0" marL="0">
              <a:buNone/>
            </a:pPr>
            <a:r>
              <a:rPr lang="en-US" sz="1100" b="1" spc="250" kern="0" dirty="0">
                <a:solidFill>
                  <a:srgbClr val="E09F3E"/>
                </a:solidFill>
                <a:latin typeface="Calibri" pitchFamily="34" charset="0"/>
                <a:ea typeface="Calibri" pitchFamily="34" charset="-122"/>
                <a:cs typeface="Calibri" pitchFamily="34" charset="-120"/>
              </a:rPr>
              <a:t>FOR THE OVERSIGHT COMMITTEE</a:t>
            </a:r>
            <a:endParaRPr lang="en-US" sz="1100" dirty="0"/>
          </a:p>
        </p:txBody>
      </p:sp>
      <p:sp>
        <p:nvSpPr>
          <p:cNvPr id="3" name="Text 1"/>
          <p:cNvSpPr/>
          <p:nvPr/>
        </p:nvSpPr>
        <p:spPr>
          <a:xfrm>
            <a:off x="566928" y="658368"/>
            <a:ext cx="11027664"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we are asking for</a:t>
            </a:r>
            <a:endParaRPr lang="en-US" sz="3000" dirty="0"/>
          </a:p>
        </p:txBody>
      </p:sp>
      <p:sp>
        <p:nvSpPr>
          <p:cNvPr id="4" name="Shape 2"/>
          <p:cNvSpPr/>
          <p:nvPr/>
        </p:nvSpPr>
        <p:spPr>
          <a:xfrm>
            <a:off x="566928" y="1316736"/>
            <a:ext cx="2578608" cy="1133856"/>
          </a:xfrm>
          <a:prstGeom prst="roundRect">
            <a:avLst>
              <a:gd name="adj" fmla="val 5645"/>
            </a:avLst>
          </a:prstGeom>
          <a:solidFill>
            <a:srgbClr val="14213D"/>
          </a:solidFill>
          <a:ln w="12700">
            <a:solidFill>
              <a:srgbClr val="14213D"/>
            </a:solidFill>
            <a:prstDash val="solid"/>
          </a:ln>
        </p:spPr>
      </p:sp>
      <p:sp>
        <p:nvSpPr>
          <p:cNvPr id="5" name="Text 3"/>
          <p:cNvSpPr/>
          <p:nvPr/>
        </p:nvSpPr>
        <p:spPr>
          <a:xfrm>
            <a:off x="749808" y="1426464"/>
            <a:ext cx="2212848" cy="566928"/>
          </a:xfrm>
          <a:prstGeom prst="rect">
            <a:avLst/>
          </a:prstGeom>
          <a:noFill/>
          <a:ln/>
        </p:spPr>
        <p:txBody>
          <a:bodyPr wrap="square" lIns="0" tIns="0" rIns="0" bIns="0" rtlCol="0" anchor="ctr"/>
          <a:lstStyle/>
          <a:p>
            <a:pPr indent="0" marL="0">
              <a:buNone/>
            </a:pPr>
            <a:r>
              <a:rPr lang="en-US" sz="3200" b="1" dirty="0">
                <a:solidFill>
                  <a:srgbClr val="E09F3E"/>
                </a:solidFill>
                <a:latin typeface="Cambria" pitchFamily="34" charset="0"/>
                <a:ea typeface="Cambria" pitchFamily="34" charset="-122"/>
                <a:cs typeface="Cambria" pitchFamily="34" charset="-120"/>
              </a:rPr>
              <a:t>58</a:t>
            </a:r>
            <a:endParaRPr lang="en-US" sz="3200" dirty="0"/>
          </a:p>
        </p:txBody>
      </p:sp>
      <p:sp>
        <p:nvSpPr>
          <p:cNvPr id="6" name="Text 4"/>
          <p:cNvSpPr/>
          <p:nvPr/>
        </p:nvSpPr>
        <p:spPr>
          <a:xfrm>
            <a:off x="749808" y="1993392"/>
            <a:ext cx="2212848" cy="274320"/>
          </a:xfrm>
          <a:prstGeom prst="rect">
            <a:avLst/>
          </a:prstGeom>
          <a:noFill/>
          <a:ln/>
        </p:spPr>
        <p:txBody>
          <a:bodyPr wrap="square" lIns="0" tIns="0" rIns="0" bIns="0" rtlCol="0" anchor="ctr"/>
          <a:lstStyle/>
          <a:p>
            <a:pPr indent="0" marL="0">
              <a:buNone/>
            </a:pPr>
            <a:r>
              <a:rPr lang="en-US" sz="950" spc="120" kern="0" dirty="0">
                <a:solidFill>
                  <a:srgbClr val="C7D0E0"/>
                </a:solidFill>
                <a:latin typeface="Calibri" pitchFamily="34" charset="0"/>
                <a:ea typeface="Calibri" pitchFamily="34" charset="-122"/>
                <a:cs typeface="Calibri" pitchFamily="34" charset="-120"/>
              </a:rPr>
              <a:t>TYPOLOGIES LIVE</a:t>
            </a:r>
            <a:endParaRPr lang="en-US" sz="950" dirty="0"/>
          </a:p>
        </p:txBody>
      </p:sp>
      <p:sp>
        <p:nvSpPr>
          <p:cNvPr id="7" name="Shape 5"/>
          <p:cNvSpPr/>
          <p:nvPr/>
        </p:nvSpPr>
        <p:spPr>
          <a:xfrm>
            <a:off x="3328416" y="1316736"/>
            <a:ext cx="2578608" cy="1133856"/>
          </a:xfrm>
          <a:prstGeom prst="roundRect">
            <a:avLst>
              <a:gd name="adj" fmla="val 5645"/>
            </a:avLst>
          </a:prstGeom>
          <a:solidFill>
            <a:srgbClr val="14213D"/>
          </a:solidFill>
          <a:ln w="12700">
            <a:solidFill>
              <a:srgbClr val="14213D"/>
            </a:solidFill>
            <a:prstDash val="solid"/>
          </a:ln>
        </p:spPr>
      </p:sp>
      <p:sp>
        <p:nvSpPr>
          <p:cNvPr id="8" name="Text 6"/>
          <p:cNvSpPr/>
          <p:nvPr/>
        </p:nvSpPr>
        <p:spPr>
          <a:xfrm>
            <a:off x="3511296" y="1426464"/>
            <a:ext cx="2212848" cy="566928"/>
          </a:xfrm>
          <a:prstGeom prst="rect">
            <a:avLst/>
          </a:prstGeom>
          <a:noFill/>
          <a:ln/>
        </p:spPr>
        <p:txBody>
          <a:bodyPr wrap="square" lIns="0" tIns="0" rIns="0" bIns="0" rtlCol="0" anchor="ctr"/>
          <a:lstStyle/>
          <a:p>
            <a:pPr indent="0" marL="0">
              <a:buNone/>
            </a:pPr>
            <a:r>
              <a:rPr lang="en-US" sz="3200" b="1" dirty="0">
                <a:solidFill>
                  <a:srgbClr val="E09F3E"/>
                </a:solidFill>
                <a:latin typeface="Cambria" pitchFamily="34" charset="0"/>
                <a:ea typeface="Cambria" pitchFamily="34" charset="-122"/>
                <a:cs typeface="Cambria" pitchFamily="34" charset="-120"/>
              </a:rPr>
              <a:t>32</a:t>
            </a:r>
            <a:endParaRPr lang="en-US" sz="3200" dirty="0"/>
          </a:p>
        </p:txBody>
      </p:sp>
      <p:sp>
        <p:nvSpPr>
          <p:cNvPr id="9" name="Text 7"/>
          <p:cNvSpPr/>
          <p:nvPr/>
        </p:nvSpPr>
        <p:spPr>
          <a:xfrm>
            <a:off x="3511296" y="1993392"/>
            <a:ext cx="2212848" cy="274320"/>
          </a:xfrm>
          <a:prstGeom prst="rect">
            <a:avLst/>
          </a:prstGeom>
          <a:noFill/>
          <a:ln/>
        </p:spPr>
        <p:txBody>
          <a:bodyPr wrap="square" lIns="0" tIns="0" rIns="0" bIns="0" rtlCol="0" anchor="ctr"/>
          <a:lstStyle/>
          <a:p>
            <a:pPr indent="0" marL="0">
              <a:buNone/>
            </a:pPr>
            <a:r>
              <a:rPr lang="en-US" sz="950" spc="120" kern="0" dirty="0">
                <a:solidFill>
                  <a:srgbClr val="C7D0E0"/>
                </a:solidFill>
                <a:latin typeface="Calibri" pitchFamily="34" charset="0"/>
                <a:ea typeface="Calibri" pitchFamily="34" charset="-122"/>
                <a:cs typeface="Calibri" pitchFamily="34" charset="-120"/>
              </a:rPr>
              <a:t>FEEDS REQUIRED</a:t>
            </a:r>
            <a:endParaRPr lang="en-US" sz="950" dirty="0"/>
          </a:p>
        </p:txBody>
      </p:sp>
      <p:sp>
        <p:nvSpPr>
          <p:cNvPr id="10" name="Shape 8"/>
          <p:cNvSpPr/>
          <p:nvPr/>
        </p:nvSpPr>
        <p:spPr>
          <a:xfrm>
            <a:off x="6089904" y="1316736"/>
            <a:ext cx="2578608" cy="1133856"/>
          </a:xfrm>
          <a:prstGeom prst="roundRect">
            <a:avLst>
              <a:gd name="adj" fmla="val 5645"/>
            </a:avLst>
          </a:prstGeom>
          <a:solidFill>
            <a:srgbClr val="14213D"/>
          </a:solidFill>
          <a:ln w="12700">
            <a:solidFill>
              <a:srgbClr val="14213D"/>
            </a:solidFill>
            <a:prstDash val="solid"/>
          </a:ln>
        </p:spPr>
      </p:sp>
      <p:sp>
        <p:nvSpPr>
          <p:cNvPr id="11" name="Text 9"/>
          <p:cNvSpPr/>
          <p:nvPr/>
        </p:nvSpPr>
        <p:spPr>
          <a:xfrm>
            <a:off x="6272784" y="1426464"/>
            <a:ext cx="2212848" cy="566928"/>
          </a:xfrm>
          <a:prstGeom prst="rect">
            <a:avLst/>
          </a:prstGeom>
          <a:noFill/>
          <a:ln/>
        </p:spPr>
        <p:txBody>
          <a:bodyPr wrap="square" lIns="0" tIns="0" rIns="0" bIns="0" rtlCol="0" anchor="ctr"/>
          <a:lstStyle/>
          <a:p>
            <a:pPr indent="0" marL="0">
              <a:buNone/>
            </a:pPr>
            <a:r>
              <a:rPr lang="en-US" sz="3200" b="1" dirty="0">
                <a:solidFill>
                  <a:srgbClr val="E09F3E"/>
                </a:solidFill>
                <a:latin typeface="Cambria" pitchFamily="34" charset="0"/>
                <a:ea typeface="Cambria" pitchFamily="34" charset="-122"/>
                <a:cs typeface="Cambria" pitchFamily="34" charset="-120"/>
              </a:rPr>
              <a:t>15</a:t>
            </a:r>
            <a:endParaRPr lang="en-US" sz="3200" dirty="0"/>
          </a:p>
        </p:txBody>
      </p:sp>
      <p:sp>
        <p:nvSpPr>
          <p:cNvPr id="12" name="Text 10"/>
          <p:cNvSpPr/>
          <p:nvPr/>
        </p:nvSpPr>
        <p:spPr>
          <a:xfrm>
            <a:off x="6272784" y="1993392"/>
            <a:ext cx="2212848" cy="274320"/>
          </a:xfrm>
          <a:prstGeom prst="rect">
            <a:avLst/>
          </a:prstGeom>
          <a:noFill/>
          <a:ln/>
        </p:spPr>
        <p:txBody>
          <a:bodyPr wrap="square" lIns="0" tIns="0" rIns="0" bIns="0" rtlCol="0" anchor="ctr"/>
          <a:lstStyle/>
          <a:p>
            <a:pPr indent="0" marL="0">
              <a:buNone/>
            </a:pPr>
            <a:r>
              <a:rPr lang="en-US" sz="950" spc="120" kern="0" dirty="0">
                <a:solidFill>
                  <a:srgbClr val="C7D0E0"/>
                </a:solidFill>
                <a:latin typeface="Calibri" pitchFamily="34" charset="0"/>
                <a:ea typeface="Calibri" pitchFamily="34" charset="-122"/>
                <a:cs typeface="Calibri" pitchFamily="34" charset="-120"/>
              </a:rPr>
              <a:t>RATED CRITICAL</a:t>
            </a:r>
            <a:endParaRPr lang="en-US" sz="950" dirty="0"/>
          </a:p>
        </p:txBody>
      </p:sp>
      <p:sp>
        <p:nvSpPr>
          <p:cNvPr id="13" name="Shape 11"/>
          <p:cNvSpPr/>
          <p:nvPr/>
        </p:nvSpPr>
        <p:spPr>
          <a:xfrm>
            <a:off x="8851392" y="1316736"/>
            <a:ext cx="2578608" cy="1133856"/>
          </a:xfrm>
          <a:prstGeom prst="roundRect">
            <a:avLst>
              <a:gd name="adj" fmla="val 5645"/>
            </a:avLst>
          </a:prstGeom>
          <a:solidFill>
            <a:srgbClr val="14213D"/>
          </a:solidFill>
          <a:ln w="12700">
            <a:solidFill>
              <a:srgbClr val="14213D"/>
            </a:solidFill>
            <a:prstDash val="solid"/>
          </a:ln>
        </p:spPr>
      </p:sp>
      <p:sp>
        <p:nvSpPr>
          <p:cNvPr id="14" name="Text 12"/>
          <p:cNvSpPr/>
          <p:nvPr/>
        </p:nvSpPr>
        <p:spPr>
          <a:xfrm>
            <a:off x="9034272" y="1426464"/>
            <a:ext cx="2212848" cy="566928"/>
          </a:xfrm>
          <a:prstGeom prst="rect">
            <a:avLst/>
          </a:prstGeom>
          <a:noFill/>
          <a:ln/>
        </p:spPr>
        <p:txBody>
          <a:bodyPr wrap="square" lIns="0" tIns="0" rIns="0" bIns="0" rtlCol="0" anchor="ctr"/>
          <a:lstStyle/>
          <a:p>
            <a:pPr indent="0" marL="0">
              <a:buNone/>
            </a:pPr>
            <a:r>
              <a:rPr lang="en-US" sz="3200" b="1" dirty="0">
                <a:solidFill>
                  <a:srgbClr val="E09F3E"/>
                </a:solidFill>
                <a:latin typeface="Cambria" pitchFamily="34" charset="0"/>
                <a:ea typeface="Cambria" pitchFamily="34" charset="-122"/>
                <a:cs typeface="Cambria" pitchFamily="34" charset="-120"/>
              </a:rPr>
              <a:t>7.6</a:t>
            </a:r>
            <a:endParaRPr lang="en-US" sz="3200" dirty="0"/>
          </a:p>
        </p:txBody>
      </p:sp>
      <p:sp>
        <p:nvSpPr>
          <p:cNvPr id="15" name="Text 13"/>
          <p:cNvSpPr/>
          <p:nvPr/>
        </p:nvSpPr>
        <p:spPr>
          <a:xfrm>
            <a:off x="9034272" y="1993392"/>
            <a:ext cx="2212848" cy="274320"/>
          </a:xfrm>
          <a:prstGeom prst="rect">
            <a:avLst/>
          </a:prstGeom>
          <a:noFill/>
          <a:ln/>
        </p:spPr>
        <p:txBody>
          <a:bodyPr wrap="square" lIns="0" tIns="0" rIns="0" bIns="0" rtlCol="0" anchor="ctr"/>
          <a:lstStyle/>
          <a:p>
            <a:pPr indent="0" marL="0">
              <a:buNone/>
            </a:pPr>
            <a:r>
              <a:rPr lang="en-US" sz="950" spc="120" kern="0" dirty="0">
                <a:solidFill>
                  <a:srgbClr val="C7D0E0"/>
                </a:solidFill>
                <a:latin typeface="Calibri" pitchFamily="34" charset="0"/>
                <a:ea typeface="Calibri" pitchFamily="34" charset="-122"/>
                <a:cs typeface="Calibri" pitchFamily="34" charset="-120"/>
              </a:rPr>
              <a:t>FIELDS PER RULE</a:t>
            </a:r>
            <a:endParaRPr lang="en-US" sz="950" dirty="0"/>
          </a:p>
        </p:txBody>
      </p:sp>
      <p:sp>
        <p:nvSpPr>
          <p:cNvPr id="16" name="Shape 14"/>
          <p:cNvSpPr/>
          <p:nvPr/>
        </p:nvSpPr>
        <p:spPr>
          <a:xfrm>
            <a:off x="566928" y="2724912"/>
            <a:ext cx="10881360" cy="786384"/>
          </a:xfrm>
          <a:prstGeom prst="rect">
            <a:avLst/>
          </a:prstGeom>
          <a:solidFill>
            <a:srgbClr val="E8ECF3"/>
          </a:solidFill>
          <a:ln w="12700">
            <a:solidFill>
              <a:srgbClr val="E8ECF3"/>
            </a:solidFill>
            <a:prstDash val="solid"/>
          </a:ln>
        </p:spPr>
      </p:sp>
      <p:sp>
        <p:nvSpPr>
          <p:cNvPr id="17" name="Shape 15"/>
          <p:cNvSpPr/>
          <p:nvPr/>
        </p:nvSpPr>
        <p:spPr>
          <a:xfrm>
            <a:off x="804672" y="2980944"/>
            <a:ext cx="274320" cy="274320"/>
          </a:xfrm>
          <a:prstGeom prst="ellipse">
            <a:avLst/>
          </a:prstGeom>
          <a:solidFill>
            <a:srgbClr val="C1121F"/>
          </a:solidFill>
          <a:ln w="12700">
            <a:solidFill>
              <a:srgbClr val="C1121F"/>
            </a:solidFill>
            <a:prstDash val="solid"/>
          </a:ln>
        </p:spPr>
      </p:sp>
      <p:sp>
        <p:nvSpPr>
          <p:cNvPr id="18" name="Text 16"/>
          <p:cNvSpPr/>
          <p:nvPr/>
        </p:nvSpPr>
        <p:spPr>
          <a:xfrm>
            <a:off x="1225296" y="2798064"/>
            <a:ext cx="4114800" cy="64008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Own the six reference data sets</a:t>
            </a:r>
            <a:endParaRPr lang="en-US" sz="1300" dirty="0"/>
          </a:p>
        </p:txBody>
      </p:sp>
      <p:sp>
        <p:nvSpPr>
          <p:cNvPr id="19" name="Text 17"/>
          <p:cNvSpPr/>
          <p:nvPr/>
        </p:nvSpPr>
        <p:spPr>
          <a:xfrm>
            <a:off x="5449824" y="2798064"/>
            <a:ext cx="5852160" cy="64008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Related-party register, wall-crossing approvals, the dated restricted list, product authorisations, book ownership, concentration caps. None has an owner today; ten rules depend on them, four of them Critical.</a:t>
            </a:r>
            <a:endParaRPr lang="en-US" sz="1150" dirty="0"/>
          </a:p>
        </p:txBody>
      </p:sp>
      <p:sp>
        <p:nvSpPr>
          <p:cNvPr id="20" name="Shape 18"/>
          <p:cNvSpPr/>
          <p:nvPr/>
        </p:nvSpPr>
        <p:spPr>
          <a:xfrm>
            <a:off x="566928" y="3621024"/>
            <a:ext cx="10881360" cy="786384"/>
          </a:xfrm>
          <a:prstGeom prst="rect">
            <a:avLst/>
          </a:prstGeom>
          <a:solidFill>
            <a:srgbClr val="F6F8FB"/>
          </a:solidFill>
          <a:ln w="12700">
            <a:solidFill>
              <a:srgbClr val="F6F8FB"/>
            </a:solidFill>
            <a:prstDash val="solid"/>
          </a:ln>
        </p:spPr>
      </p:sp>
      <p:sp>
        <p:nvSpPr>
          <p:cNvPr id="21" name="Shape 19"/>
          <p:cNvSpPr/>
          <p:nvPr/>
        </p:nvSpPr>
        <p:spPr>
          <a:xfrm>
            <a:off x="804672" y="3877056"/>
            <a:ext cx="274320" cy="274320"/>
          </a:xfrm>
          <a:prstGeom prst="ellipse">
            <a:avLst/>
          </a:prstGeom>
          <a:solidFill>
            <a:srgbClr val="C1121F"/>
          </a:solidFill>
          <a:ln w="12700">
            <a:solidFill>
              <a:srgbClr val="C1121F"/>
            </a:solidFill>
            <a:prstDash val="solid"/>
          </a:ln>
        </p:spPr>
      </p:sp>
      <p:sp>
        <p:nvSpPr>
          <p:cNvPr id="22" name="Text 20"/>
          <p:cNvSpPr/>
          <p:nvPr/>
        </p:nvSpPr>
        <p:spPr>
          <a:xfrm>
            <a:off x="1225296" y="3694176"/>
            <a:ext cx="4114800" cy="64008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Guarantee execution timestamps to the second</a:t>
            </a:r>
            <a:endParaRPr lang="en-US" sz="1300" dirty="0"/>
          </a:p>
        </p:txBody>
      </p:sp>
      <p:sp>
        <p:nvSpPr>
          <p:cNvPr id="23" name="Text 21"/>
          <p:cNvSpPr/>
          <p:nvPr/>
        </p:nvSpPr>
        <p:spPr>
          <a:xfrm>
            <a:off x="5449824" y="3694176"/>
            <a:ext cx="5852160" cy="64008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Eighteen rules cannot run on capture time, including every market-conduct typology. A trade-capture and venue-feed commitment, not a surveillance one.</a:t>
            </a:r>
            <a:endParaRPr lang="en-US" sz="1150" dirty="0"/>
          </a:p>
        </p:txBody>
      </p:sp>
      <p:sp>
        <p:nvSpPr>
          <p:cNvPr id="24" name="Shape 22"/>
          <p:cNvSpPr/>
          <p:nvPr/>
        </p:nvSpPr>
        <p:spPr>
          <a:xfrm>
            <a:off x="566928" y="4517136"/>
            <a:ext cx="10881360" cy="786384"/>
          </a:xfrm>
          <a:prstGeom prst="rect">
            <a:avLst/>
          </a:prstGeom>
          <a:solidFill>
            <a:srgbClr val="E8ECF3"/>
          </a:solidFill>
          <a:ln w="12700">
            <a:solidFill>
              <a:srgbClr val="E8ECF3"/>
            </a:solidFill>
            <a:prstDash val="solid"/>
          </a:ln>
        </p:spPr>
      </p:sp>
      <p:sp>
        <p:nvSpPr>
          <p:cNvPr id="25" name="Shape 23"/>
          <p:cNvSpPr/>
          <p:nvPr/>
        </p:nvSpPr>
        <p:spPr>
          <a:xfrm>
            <a:off x="804672" y="4773168"/>
            <a:ext cx="274320" cy="274320"/>
          </a:xfrm>
          <a:prstGeom prst="ellipse">
            <a:avLst/>
          </a:prstGeom>
          <a:solidFill>
            <a:srgbClr val="E09F3E"/>
          </a:solidFill>
          <a:ln w="12700">
            <a:solidFill>
              <a:srgbClr val="E09F3E"/>
            </a:solidFill>
            <a:prstDash val="solid"/>
          </a:ln>
        </p:spPr>
      </p:sp>
      <p:sp>
        <p:nvSpPr>
          <p:cNvPr id="26" name="Text 24"/>
          <p:cNvSpPr/>
          <p:nvPr/>
        </p:nvSpPr>
        <p:spPr>
          <a:xfrm>
            <a:off x="1225296" y="4590288"/>
            <a:ext cx="4114800" cy="64008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Accept the alert volume that per-trader detection produces</a:t>
            </a:r>
            <a:endParaRPr lang="en-US" sz="1300" dirty="0"/>
          </a:p>
        </p:txBody>
      </p:sp>
      <p:sp>
        <p:nvSpPr>
          <p:cNvPr id="27" name="Text 25"/>
          <p:cNvSpPr/>
          <p:nvPr/>
        </p:nvSpPr>
        <p:spPr>
          <a:xfrm>
            <a:off x="5449824" y="4590288"/>
            <a:ext cx="5852160" cy="64008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More alerts against named individuals is the intended consequence of the design, not a tuning failure.</a:t>
            </a:r>
            <a:endParaRPr lang="en-US" sz="1150" dirty="0"/>
          </a:p>
        </p:txBody>
      </p:sp>
      <p:sp>
        <p:nvSpPr>
          <p:cNvPr id="28" name="Shape 26"/>
          <p:cNvSpPr/>
          <p:nvPr/>
        </p:nvSpPr>
        <p:spPr>
          <a:xfrm>
            <a:off x="566928" y="5413248"/>
            <a:ext cx="10881360" cy="786384"/>
          </a:xfrm>
          <a:prstGeom prst="rect">
            <a:avLst/>
          </a:prstGeom>
          <a:solidFill>
            <a:srgbClr val="F6F8FB"/>
          </a:solidFill>
          <a:ln w="12700">
            <a:solidFill>
              <a:srgbClr val="F6F8FB"/>
            </a:solidFill>
            <a:prstDash val="solid"/>
          </a:ln>
        </p:spPr>
      </p:sp>
      <p:sp>
        <p:nvSpPr>
          <p:cNvPr id="29" name="Shape 27"/>
          <p:cNvSpPr/>
          <p:nvPr/>
        </p:nvSpPr>
        <p:spPr>
          <a:xfrm>
            <a:off x="804672" y="5669280"/>
            <a:ext cx="274320" cy="274320"/>
          </a:xfrm>
          <a:prstGeom prst="ellipse">
            <a:avLst/>
          </a:prstGeom>
          <a:solidFill>
            <a:srgbClr val="335C81"/>
          </a:solidFill>
          <a:ln w="12700">
            <a:solidFill>
              <a:srgbClr val="335C81"/>
            </a:solidFill>
            <a:prstDash val="solid"/>
          </a:ln>
        </p:spPr>
      </p:sp>
      <p:sp>
        <p:nvSpPr>
          <p:cNvPr id="30" name="Text 28"/>
          <p:cNvSpPr/>
          <p:nvPr/>
        </p:nvSpPr>
        <p:spPr>
          <a:xfrm>
            <a:off x="1225296" y="5486400"/>
            <a:ext cx="4114800" cy="64008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Review thresholds quarterly with the desks</a:t>
            </a:r>
            <a:endParaRPr lang="en-US" sz="1300" dirty="0"/>
          </a:p>
        </p:txBody>
      </p:sp>
      <p:sp>
        <p:nvSpPr>
          <p:cNvPr id="31" name="Text 29"/>
          <p:cNvSpPr/>
          <p:nvPr/>
        </p:nvSpPr>
        <p:spPr>
          <a:xfrm>
            <a:off x="5449824" y="5486400"/>
            <a:ext cx="5852160" cy="64008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Published settings, challenged in the open, changed on evidence — with every change recorded.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66928" y="566928"/>
            <a:ext cx="11027664" cy="274320"/>
          </a:xfrm>
          <a:prstGeom prst="rect">
            <a:avLst/>
          </a:prstGeom>
          <a:noFill/>
          <a:ln/>
        </p:spPr>
        <p:txBody>
          <a:bodyPr wrap="square" lIns="0" tIns="0" rIns="0" bIns="0" rtlCol="0" anchor="ctr"/>
          <a:lstStyle/>
          <a:p>
            <a:pPr indent="0" marL="0">
              <a:buNone/>
            </a:pPr>
            <a:r>
              <a:rPr lang="en-US" sz="1200" b="1" spc="250" kern="0" dirty="0">
                <a:solidFill>
                  <a:srgbClr val="E09F3E"/>
                </a:solidFill>
                <a:latin typeface="Calibri" pitchFamily="34" charset="0"/>
                <a:ea typeface="Calibri" pitchFamily="34" charset="-122"/>
                <a:cs typeface="Calibri" pitchFamily="34" charset="-120"/>
              </a:rPr>
              <a:t>IN CLOSING</a:t>
            </a:r>
            <a:endParaRPr lang="en-US" sz="1200" dirty="0"/>
          </a:p>
        </p:txBody>
      </p:sp>
      <p:sp>
        <p:nvSpPr>
          <p:cNvPr id="3" name="Text 1"/>
          <p:cNvSpPr/>
          <p:nvPr/>
        </p:nvSpPr>
        <p:spPr>
          <a:xfrm>
            <a:off x="566928" y="914400"/>
            <a:ext cx="11027664"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Fifty-eight rules, one principle</a:t>
            </a:r>
            <a:endParaRPr lang="en-US" sz="4000" dirty="0"/>
          </a:p>
        </p:txBody>
      </p:sp>
      <p:sp>
        <p:nvSpPr>
          <p:cNvPr id="4" name="Text 2"/>
          <p:cNvSpPr/>
          <p:nvPr/>
        </p:nvSpPr>
        <p:spPr>
          <a:xfrm>
            <a:off x="566928" y="2212848"/>
            <a:ext cx="10881360" cy="365760"/>
          </a:xfrm>
          <a:prstGeom prst="rect">
            <a:avLst/>
          </a:prstGeom>
          <a:noFill/>
          <a:ln/>
        </p:spPr>
        <p:txBody>
          <a:bodyPr wrap="square" lIns="0" tIns="0" rIns="0" bIns="0" rtlCol="0" anchor="ctr"/>
          <a:lstStyle/>
          <a:p>
            <a:pPr indent="0" marL="0">
              <a:buNone/>
            </a:pPr>
            <a:r>
              <a:rPr lang="en-US" sz="1600" dirty="0">
                <a:solidFill>
                  <a:srgbClr val="C7D0E0"/>
                </a:solidFill>
                <a:latin typeface="Calibri" pitchFamily="34" charset="0"/>
                <a:ea typeface="Calibri" pitchFamily="34" charset="-122"/>
                <a:cs typeface="Calibri" pitchFamily="34" charset="-120"/>
              </a:rPr>
              <a:t>Every test in this catalogue asks the same question in a different way:</a:t>
            </a:r>
            <a:endParaRPr lang="en-US" sz="1600" dirty="0"/>
          </a:p>
        </p:txBody>
      </p:sp>
      <p:sp>
        <p:nvSpPr>
          <p:cNvPr id="5" name="Text 3"/>
          <p:cNvSpPr/>
          <p:nvPr/>
        </p:nvSpPr>
        <p:spPr>
          <a:xfrm>
            <a:off x="566928" y="2697480"/>
            <a:ext cx="10881360" cy="914400"/>
          </a:xfrm>
          <a:prstGeom prst="rect">
            <a:avLst/>
          </a:prstGeom>
          <a:noFill/>
          <a:ln/>
        </p:spPr>
        <p:txBody>
          <a:bodyPr wrap="square" lIns="0" tIns="0" rIns="0" bIns="0" rtlCol="0" anchor="ctr"/>
          <a:lstStyle/>
          <a:p>
            <a:pPr indent="0" marL="0">
              <a:buNone/>
            </a:pPr>
            <a:r>
              <a:rPr lang="en-US" sz="3400" b="1" dirty="0">
                <a:solidFill>
                  <a:srgbClr val="E09F3E"/>
                </a:solidFill>
                <a:latin typeface="Cambria" pitchFamily="34" charset="0"/>
                <a:ea typeface="Cambria" pitchFamily="34" charset="-122"/>
                <a:cs typeface="Cambria" pitchFamily="34" charset="-120"/>
              </a:rPr>
              <a:t>Does this trade look like this trader's own ordinary business?</a:t>
            </a:r>
            <a:endParaRPr lang="en-US" sz="3400" dirty="0"/>
          </a:p>
        </p:txBody>
      </p:sp>
      <p:sp>
        <p:nvSpPr>
          <p:cNvPr id="6" name="Text 4"/>
          <p:cNvSpPr/>
          <p:nvPr/>
        </p:nvSpPr>
        <p:spPr>
          <a:xfrm>
            <a:off x="566928" y="3749040"/>
            <a:ext cx="9509760" cy="822960"/>
          </a:xfrm>
          <a:prstGeom prst="rect">
            <a:avLst/>
          </a:prstGeom>
          <a:noFill/>
          <a:ln/>
        </p:spPr>
        <p:txBody>
          <a:bodyPr wrap="square" lIns="0" tIns="0" rIns="0" bIns="0" rtlCol="0" anchor="ctr"/>
          <a:lstStyle/>
          <a:p>
            <a:pPr indent="0" marL="0">
              <a:buNone/>
            </a:pPr>
            <a:r>
              <a:rPr lang="en-US" sz="1500" dirty="0">
                <a:solidFill>
                  <a:srgbClr val="C7D0E0"/>
                </a:solidFill>
                <a:latin typeface="Calibri" pitchFamily="34" charset="0"/>
                <a:ea typeface="Calibri" pitchFamily="34" charset="-122"/>
                <a:cs typeface="Calibri" pitchFamily="34" charset="-120"/>
              </a:rPr>
              <a:t>Where the answer is no, the rule says so, shows the market it was struck into, cites the tickets, and hands a reviewer a question. It never hands anyone a conclusion.</a:t>
            </a:r>
            <a:endParaRPr lang="en-US" sz="1500" dirty="0"/>
          </a:p>
        </p:txBody>
      </p:sp>
      <p:sp>
        <p:nvSpPr>
          <p:cNvPr id="7" name="Shape 5"/>
          <p:cNvSpPr/>
          <p:nvPr/>
        </p:nvSpPr>
        <p:spPr>
          <a:xfrm>
            <a:off x="566928" y="4736592"/>
            <a:ext cx="10881360" cy="969264"/>
          </a:xfrm>
          <a:prstGeom prst="roundRect">
            <a:avLst>
              <a:gd name="adj" fmla="val 7547"/>
            </a:avLst>
          </a:prstGeom>
          <a:solidFill>
            <a:srgbClr val="1D2B4D"/>
          </a:solidFill>
          <a:ln w="12700">
            <a:solidFill>
              <a:srgbClr val="2A3A60"/>
            </a:solidFill>
            <a:prstDash val="solid"/>
          </a:ln>
        </p:spPr>
      </p:sp>
      <p:sp>
        <p:nvSpPr>
          <p:cNvPr id="8" name="Text 6"/>
          <p:cNvSpPr/>
          <p:nvPr/>
        </p:nvSpPr>
        <p:spPr>
          <a:xfrm>
            <a:off x="877824" y="4937760"/>
            <a:ext cx="10241280" cy="56692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Full specification — every test, threshold, and data element — is in the accompanying rule catalogue.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Trade Surveillance — The Fifty-Eight Detection Typologies</dc:title>
  <dc:subject>PptxGenJS Presentation</dc:subject>
  <dc:creator>Trade Surveillance</dc:creator>
  <cp:lastModifiedBy>Trade Surveillance</cp:lastModifiedBy>
  <cp:revision>1</cp:revision>
  <dcterms:created xsi:type="dcterms:W3CDTF">2026-08-04T16:52:22Z</dcterms:created>
  <dcterms:modified xsi:type="dcterms:W3CDTF">2026-08-04T16:52:22Z</dcterms:modified>
</cp:coreProperties>
</file>